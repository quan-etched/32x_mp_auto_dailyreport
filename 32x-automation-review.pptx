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148840"/>
            <a:ext cx="9326880" cy="365760"/>
          </a:xfrm>
          <a:prstGeom prst="rect">
            <a:avLst/>
          </a:prstGeom>
          <a:noFill/>
        </p:spPr>
        <p:txBody>
          <a:bodyPr wrap="square" lIns="0" rIns="0" tIns="0" bIns="0">
            <a:spAutoFit/>
          </a:bodyPr>
          <a:lstStyle/>
          <a:p>
            <a:pPr algn="l">
              <a:spcAft>
                <a:spcPts val="0"/>
              </a:spcAft>
            </a:pPr>
            <a:r>
              <a:rPr sz="1300" b="1">
                <a:solidFill>
                  <a:srgbClr val="9FB8D6"/>
                </a:solidFill>
                <a:latin typeface="Arial"/>
              </a:rPr>
              <a:t>32X MODULE LINE  ·  ANALYSIS PIPELINE</a:t>
            </a:r>
          </a:p>
        </p:txBody>
      </p:sp>
      <p:sp>
        <p:nvSpPr>
          <p:cNvPr id="4" name="TextBox 3"/>
          <p:cNvSpPr txBox="1"/>
          <p:nvPr/>
        </p:nvSpPr>
        <p:spPr>
          <a:xfrm>
            <a:off x="777240" y="2606040"/>
            <a:ext cx="9692640" cy="1005840"/>
          </a:xfrm>
          <a:prstGeom prst="rect">
            <a:avLst/>
          </a:prstGeom>
          <a:noFill/>
        </p:spPr>
        <p:txBody>
          <a:bodyPr wrap="square" lIns="0" rIns="0" tIns="0" bIns="0">
            <a:spAutoFit/>
          </a:bodyPr>
          <a:lstStyle/>
          <a:p>
            <a:pPr algn="l">
              <a:spcAft>
                <a:spcPts val="0"/>
              </a:spcAft>
            </a:pPr>
            <a:r>
              <a:rPr sz="5200" b="1">
                <a:solidFill>
                  <a:srgbClr val="FFFFFF"/>
                </a:solidFill>
                <a:latin typeface="Arial"/>
              </a:rPr>
              <a:t>The last manual step</a:t>
            </a:r>
          </a:p>
        </p:txBody>
      </p:sp>
      <p:sp>
        <p:nvSpPr>
          <p:cNvPr id="5" name="TextBox 4"/>
          <p:cNvSpPr txBox="1"/>
          <p:nvPr/>
        </p:nvSpPr>
        <p:spPr>
          <a:xfrm>
            <a:off x="777240" y="3794760"/>
            <a:ext cx="8595360" cy="1280160"/>
          </a:xfrm>
          <a:prstGeom prst="rect">
            <a:avLst/>
          </a:prstGeom>
          <a:noFill/>
        </p:spPr>
        <p:txBody>
          <a:bodyPr wrap="square" lIns="0" rIns="0" tIns="0" bIns="0">
            <a:spAutoFit/>
          </a:bodyPr>
          <a:lstStyle/>
          <a:p>
            <a:pPr algn="l">
              <a:lnSpc>
                <a:spcPct val="130000"/>
              </a:lnSpc>
              <a:spcAft>
                <a:spcPts val="0"/>
              </a:spcAft>
            </a:pPr>
            <a:r>
              <a:rPr sz="1700" b="0">
                <a:solidFill>
                  <a:srgbClr val="C8D6E6"/>
                </a:solidFill>
                <a:latin typeface="Arial"/>
              </a:rPr>
              <a:t>The dashboard collects, builds and publishes itself every hour with nobody involved. One thing still needs a person — and it is a network route.</a:t>
            </a:r>
          </a:p>
        </p:txBody>
      </p:sp>
      <p:sp>
        <p:nvSpPr>
          <p:cNvPr id="6" name="TextBox 5"/>
          <p:cNvSpPr txBox="1"/>
          <p:nvPr/>
        </p:nvSpPr>
        <p:spPr>
          <a:xfrm>
            <a:off x="777240" y="5897880"/>
            <a:ext cx="9144000" cy="365760"/>
          </a:xfrm>
          <a:prstGeom prst="rect">
            <a:avLst/>
          </a:prstGeom>
          <a:noFill/>
        </p:spPr>
        <p:txBody>
          <a:bodyPr wrap="square" lIns="0" rIns="0" tIns="0" bIns="0">
            <a:spAutoFit/>
          </a:bodyPr>
          <a:lstStyle/>
          <a:p>
            <a:pPr algn="l">
              <a:spcAft>
                <a:spcPts val="0"/>
              </a:spcAft>
            </a:pPr>
            <a:r>
              <a:rPr sz="1200" b="0">
                <a:solidFill>
                  <a:srgbClr val="8FA8C6"/>
                </a:solidFill>
                <a:latin typeface="Arial"/>
              </a:rPr>
              <a:t>Chuck Yin  ·  2026-08-13  ·  32x-production.i.etched.com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37215" cy="310896"/>
          </a:xfrm>
          <a:prstGeom prst="rect">
            <a:avLst/>
          </a:prstGeom>
          <a:noFill/>
        </p:spPr>
        <p:txBody>
          <a:bodyPr wrap="square" lIns="0" rIns="0" tIns="0" bIns="0">
            <a:spAutoFit/>
          </a:bodyPr>
          <a:lstStyle/>
          <a:p>
            <a:pPr algn="l">
              <a:spcAft>
                <a:spcPts val="0"/>
              </a:spcAft>
            </a:pPr>
            <a:r>
              <a:rPr sz="1100" b="1">
                <a:solidFill>
                  <a:srgbClr val="48607F"/>
                </a:solidFill>
                <a:latin typeface="Arial"/>
              </a:rPr>
              <a:t>WHERE IT STANDS</a:t>
            </a:r>
          </a:p>
        </p:txBody>
      </p:sp>
      <p:sp>
        <p:nvSpPr>
          <p:cNvPr id="3" name="TextBox 2"/>
          <p:cNvSpPr txBox="1"/>
          <p:nvPr/>
        </p:nvSpPr>
        <p:spPr>
          <a:xfrm>
            <a:off x="777240" y="841248"/>
            <a:ext cx="10637215" cy="566928"/>
          </a:xfrm>
          <a:prstGeom prst="rect">
            <a:avLst/>
          </a:prstGeom>
          <a:noFill/>
        </p:spPr>
        <p:txBody>
          <a:bodyPr wrap="square" lIns="0" rIns="0" tIns="0" bIns="0">
            <a:spAutoFit/>
          </a:bodyPr>
          <a:lstStyle/>
          <a:p>
            <a:pPr algn="l">
              <a:spcAft>
                <a:spcPts val="0"/>
              </a:spcAft>
            </a:pPr>
            <a:r>
              <a:rPr sz="3000" b="1">
                <a:solidFill>
                  <a:srgbClr val="151A21"/>
                </a:solidFill>
                <a:latin typeface="Arial"/>
              </a:rPr>
              <a:t>Almost everything already runs itself</a:t>
            </a:r>
          </a:p>
        </p:txBody>
      </p:sp>
      <p:sp>
        <p:nvSpPr>
          <p:cNvPr id="4" name="Rectangle 3"/>
          <p:cNvSpPr/>
          <p:nvPr/>
        </p:nvSpPr>
        <p:spPr>
          <a:xfrm>
            <a:off x="777240" y="1536192"/>
            <a:ext cx="1371600" cy="381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965960"/>
            <a:ext cx="3401568" cy="2148840"/>
          </a:xfrm>
          <a:prstGeom prst="roundRect">
            <a:avLst>
              <a:gd name="adj" fmla="val 4000"/>
            </a:avLst>
          </a:prstGeom>
          <a:solidFill>
            <a:srgbClr val="FFFFFF"/>
          </a:solidFill>
          <a:ln w="12700">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3271" y="2212848"/>
            <a:ext cx="2889504" cy="274320"/>
          </a:xfrm>
          <a:prstGeom prst="rect">
            <a:avLst/>
          </a:prstGeom>
          <a:noFill/>
        </p:spPr>
        <p:txBody>
          <a:bodyPr wrap="square" lIns="0" rIns="0" tIns="0" bIns="0">
            <a:spAutoFit/>
          </a:bodyPr>
          <a:lstStyle/>
          <a:p>
            <a:pPr algn="l">
              <a:spcAft>
                <a:spcPts val="0"/>
              </a:spcAft>
            </a:pPr>
            <a:r>
              <a:rPr sz="1000" b="1">
                <a:solidFill>
                  <a:srgbClr val="8A939F"/>
                </a:solidFill>
                <a:latin typeface="Arial"/>
              </a:rPr>
              <a:t>AUTOMATIC TODAY</a:t>
            </a:r>
          </a:p>
        </p:txBody>
      </p:sp>
      <p:sp>
        <p:nvSpPr>
          <p:cNvPr id="7" name="TextBox 6"/>
          <p:cNvSpPr txBox="1"/>
          <p:nvPr/>
        </p:nvSpPr>
        <p:spPr>
          <a:xfrm>
            <a:off x="1033271" y="2514600"/>
            <a:ext cx="2889504" cy="457200"/>
          </a:xfrm>
          <a:prstGeom prst="rect">
            <a:avLst/>
          </a:prstGeom>
          <a:noFill/>
        </p:spPr>
        <p:txBody>
          <a:bodyPr wrap="square" lIns="0" rIns="0" tIns="0" bIns="0">
            <a:spAutoFit/>
          </a:bodyPr>
          <a:lstStyle/>
          <a:p>
            <a:pPr algn="l">
              <a:spcAft>
                <a:spcPts val="0"/>
              </a:spcAft>
            </a:pPr>
            <a:r>
              <a:rPr sz="2300" b="1">
                <a:solidFill>
                  <a:srgbClr val="0F6B4F"/>
                </a:solidFill>
                <a:latin typeface="Arial"/>
              </a:rPr>
              <a:t>Hourly, at :05</a:t>
            </a:r>
          </a:p>
        </p:txBody>
      </p:sp>
      <p:sp>
        <p:nvSpPr>
          <p:cNvPr id="8" name="TextBox 7"/>
          <p:cNvSpPr txBox="1"/>
          <p:nvPr/>
        </p:nvSpPr>
        <p:spPr>
          <a:xfrm>
            <a:off x="1033271" y="3063240"/>
            <a:ext cx="2889504" cy="914400"/>
          </a:xfrm>
          <a:prstGeom prst="rect">
            <a:avLst/>
          </a:prstGeom>
          <a:noFill/>
        </p:spPr>
        <p:txBody>
          <a:bodyPr wrap="square" lIns="0" rIns="0" tIns="0" bIns="0">
            <a:spAutoFit/>
          </a:bodyPr>
          <a:lstStyle/>
          <a:p>
            <a:pPr algn="l">
              <a:lnSpc>
                <a:spcPct val="124000"/>
              </a:lnSpc>
              <a:spcAft>
                <a:spcPts val="0"/>
              </a:spcAft>
            </a:pPr>
            <a:r>
              <a:rPr sz="1200" b="0">
                <a:solidFill>
                  <a:srgbClr val="5C6673"/>
                </a:solidFill>
                <a:latin typeface="Arial"/>
              </a:rPr>
              <a:t>EOS collect → metrics → 5 dashboards → publish. Unattended on the EC2 host, survives logout, catches up after a reboot.</a:t>
            </a:r>
          </a:p>
        </p:txBody>
      </p:sp>
      <p:sp>
        <p:nvSpPr>
          <p:cNvPr id="9" name="Rounded Rectangle 8"/>
          <p:cNvSpPr/>
          <p:nvPr/>
        </p:nvSpPr>
        <p:spPr>
          <a:xfrm>
            <a:off x="4361688" y="1965960"/>
            <a:ext cx="3401568" cy="2148840"/>
          </a:xfrm>
          <a:prstGeom prst="roundRect">
            <a:avLst>
              <a:gd name="adj" fmla="val 4000"/>
            </a:avLst>
          </a:prstGeom>
          <a:solidFill>
            <a:srgbClr val="FFFFFF"/>
          </a:solidFill>
          <a:ln w="12700">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617720" y="2212848"/>
            <a:ext cx="2889504" cy="274320"/>
          </a:xfrm>
          <a:prstGeom prst="rect">
            <a:avLst/>
          </a:prstGeom>
          <a:noFill/>
        </p:spPr>
        <p:txBody>
          <a:bodyPr wrap="square" lIns="0" rIns="0" tIns="0" bIns="0">
            <a:spAutoFit/>
          </a:bodyPr>
          <a:lstStyle/>
          <a:p>
            <a:pPr algn="l">
              <a:spcAft>
                <a:spcPts val="0"/>
              </a:spcAft>
            </a:pPr>
            <a:r>
              <a:rPr sz="1000" b="1">
                <a:solidFill>
                  <a:srgbClr val="8A939F"/>
                </a:solidFill>
                <a:latin typeface="Arial"/>
              </a:rPr>
              <a:t>STILL NEEDS A PERSON</a:t>
            </a:r>
          </a:p>
        </p:txBody>
      </p:sp>
      <p:sp>
        <p:nvSpPr>
          <p:cNvPr id="11" name="TextBox 10"/>
          <p:cNvSpPr txBox="1"/>
          <p:nvPr/>
        </p:nvSpPr>
        <p:spPr>
          <a:xfrm>
            <a:off x="4617720" y="2514600"/>
            <a:ext cx="2889504" cy="457200"/>
          </a:xfrm>
          <a:prstGeom prst="rect">
            <a:avLst/>
          </a:prstGeom>
          <a:noFill/>
        </p:spPr>
        <p:txBody>
          <a:bodyPr wrap="square" lIns="0" rIns="0" tIns="0" bIns="0">
            <a:spAutoFit/>
          </a:bodyPr>
          <a:lstStyle/>
          <a:p>
            <a:pPr algn="l">
              <a:spcAft>
                <a:spcPts val="0"/>
              </a:spcAft>
            </a:pPr>
            <a:r>
              <a:rPr sz="2300" b="1">
                <a:solidFill>
                  <a:srgbClr val="98252A"/>
                </a:solidFill>
                <a:latin typeface="Arial"/>
              </a:rPr>
              <a:t>1 step</a:t>
            </a:r>
          </a:p>
        </p:txBody>
      </p:sp>
      <p:sp>
        <p:nvSpPr>
          <p:cNvPr id="12" name="TextBox 11"/>
          <p:cNvSpPr txBox="1"/>
          <p:nvPr/>
        </p:nvSpPr>
        <p:spPr>
          <a:xfrm>
            <a:off x="4617720" y="3063240"/>
            <a:ext cx="2889504" cy="914400"/>
          </a:xfrm>
          <a:prstGeom prst="rect">
            <a:avLst/>
          </a:prstGeom>
          <a:noFill/>
        </p:spPr>
        <p:txBody>
          <a:bodyPr wrap="square" lIns="0" rIns="0" tIns="0" bIns="0">
            <a:spAutoFit/>
          </a:bodyPr>
          <a:lstStyle/>
          <a:p>
            <a:pPr algn="l">
              <a:lnSpc>
                <a:spcPct val="124000"/>
              </a:lnSpc>
              <a:spcAft>
                <a:spcPts val="0"/>
              </a:spcAft>
            </a:pPr>
            <a:r>
              <a:rPr sz="1200" b="0">
                <a:solidFill>
                  <a:srgbClr val="5C6673"/>
                </a:solidFill>
                <a:latin typeface="Arial"/>
              </a:rPr>
              <a:t>DUT serials on the daily tracker. A laptop on the VPN warms the pega3 cache and copies it over — or the tracker names units “chip 3”.</a:t>
            </a:r>
          </a:p>
        </p:txBody>
      </p:sp>
      <p:sp>
        <p:nvSpPr>
          <p:cNvPr id="13" name="Rounded Rectangle 12"/>
          <p:cNvSpPr/>
          <p:nvPr/>
        </p:nvSpPr>
        <p:spPr>
          <a:xfrm>
            <a:off x="7946136" y="1965960"/>
            <a:ext cx="3401568" cy="2148840"/>
          </a:xfrm>
          <a:prstGeom prst="roundRect">
            <a:avLst>
              <a:gd name="adj" fmla="val 4000"/>
            </a:avLst>
          </a:prstGeom>
          <a:solidFill>
            <a:srgbClr val="FFFFFF"/>
          </a:solidFill>
          <a:ln w="12700">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02167" y="2212848"/>
            <a:ext cx="2889504" cy="274320"/>
          </a:xfrm>
          <a:prstGeom prst="rect">
            <a:avLst/>
          </a:prstGeom>
          <a:noFill/>
        </p:spPr>
        <p:txBody>
          <a:bodyPr wrap="square" lIns="0" rIns="0" tIns="0" bIns="0">
            <a:spAutoFit/>
          </a:bodyPr>
          <a:lstStyle/>
          <a:p>
            <a:pPr algn="l">
              <a:spcAft>
                <a:spcPts val="0"/>
              </a:spcAft>
            </a:pPr>
            <a:r>
              <a:rPr sz="1000" b="1">
                <a:solidFill>
                  <a:srgbClr val="8A939F"/>
                </a:solidFill>
                <a:latin typeface="Arial"/>
              </a:rPr>
              <a:t>WHY</a:t>
            </a:r>
          </a:p>
        </p:txBody>
      </p:sp>
      <p:sp>
        <p:nvSpPr>
          <p:cNvPr id="15" name="TextBox 14"/>
          <p:cNvSpPr txBox="1"/>
          <p:nvPr/>
        </p:nvSpPr>
        <p:spPr>
          <a:xfrm>
            <a:off x="8202167" y="2514600"/>
            <a:ext cx="2889504" cy="457200"/>
          </a:xfrm>
          <a:prstGeom prst="rect">
            <a:avLst/>
          </a:prstGeom>
          <a:noFill/>
        </p:spPr>
        <p:txBody>
          <a:bodyPr wrap="square" lIns="0" rIns="0" tIns="0" bIns="0">
            <a:spAutoFit/>
          </a:bodyPr>
          <a:lstStyle/>
          <a:p>
            <a:pPr algn="l">
              <a:spcAft>
                <a:spcPts val="0"/>
              </a:spcAft>
            </a:pPr>
            <a:r>
              <a:rPr sz="2300" b="1">
                <a:solidFill>
                  <a:srgbClr val="1E3A5F"/>
                </a:solidFill>
                <a:latin typeface="Arial"/>
              </a:rPr>
              <a:t>No route to pega3</a:t>
            </a:r>
          </a:p>
        </p:txBody>
      </p:sp>
      <p:sp>
        <p:nvSpPr>
          <p:cNvPr id="16" name="TextBox 15"/>
          <p:cNvSpPr txBox="1"/>
          <p:nvPr/>
        </p:nvSpPr>
        <p:spPr>
          <a:xfrm>
            <a:off x="8202167" y="3063240"/>
            <a:ext cx="2889504" cy="914400"/>
          </a:xfrm>
          <a:prstGeom prst="rect">
            <a:avLst/>
          </a:prstGeom>
          <a:noFill/>
        </p:spPr>
        <p:txBody>
          <a:bodyPr wrap="square" lIns="0" rIns="0" tIns="0" bIns="0">
            <a:spAutoFit/>
          </a:bodyPr>
          <a:lstStyle/>
          <a:p>
            <a:pPr algn="l">
              <a:lnSpc>
                <a:spcPct val="124000"/>
              </a:lnSpc>
              <a:spcAft>
                <a:spcPts val="0"/>
              </a:spcAft>
            </a:pPr>
            <a:r>
              <a:rPr sz="1200" b="0">
                <a:solidFill>
                  <a:srgbClr val="5C6673"/>
                </a:solidFill>
                <a:latin typeface="Arial"/>
              </a:rPr>
              <a:t>The EC2 host cannot resolve pega3. A laptop can. pega3 is the only system that knows which serial sat in which slot.</a:t>
            </a:r>
          </a:p>
        </p:txBody>
      </p:sp>
      <p:sp>
        <p:nvSpPr>
          <p:cNvPr id="17" name="Rounded Rectangle 16"/>
          <p:cNvSpPr/>
          <p:nvPr/>
        </p:nvSpPr>
        <p:spPr>
          <a:xfrm>
            <a:off x="777240" y="4526280"/>
            <a:ext cx="10637215" cy="141732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97280" y="4773168"/>
            <a:ext cx="9997135" cy="1005840"/>
          </a:xfrm>
          <a:prstGeom prst="rect">
            <a:avLst/>
          </a:prstGeom>
          <a:noFill/>
        </p:spPr>
        <p:txBody>
          <a:bodyPr wrap="square" lIns="0" rIns="0" tIns="0" bIns="0">
            <a:spAutoFit/>
          </a:bodyPr>
          <a:lstStyle/>
          <a:p>
            <a:pPr>
              <a:lnSpc>
                <a:spcPct val="130000"/>
              </a:lnSpc>
              <a:spcAft>
                <a:spcPts val="600"/>
              </a:spcAft>
            </a:pPr>
            <a:r>
              <a:rPr sz="1400" b="1">
                <a:solidFill>
                  <a:srgbClr val="151A21"/>
                </a:solidFill>
                <a:latin typeface="Arial"/>
              </a:rPr>
              <a:t>The pipeline is not the problem. </a:t>
            </a:r>
            <a:r>
              <a:rPr sz="1400" b="0">
                <a:solidFill>
                  <a:srgbClr val="5C6673"/>
                </a:solidFill>
                <a:latin typeface="Arial"/>
              </a:rPr>
              <a:t>Collection, metrics, the five dashboards, the hourly publish and the failure analysis all run without anyone touching them. What is missing is one piece of identity — which physical unit a result belongs to — and it lives on a host the automation cannot reach.</a:t>
            </a:r>
          </a:p>
        </p:txBody>
      </p:sp>
      <p:sp>
        <p:nvSpPr>
          <p:cNvPr id="19" name="TextBox 18"/>
          <p:cNvSpPr txBox="1"/>
          <p:nvPr/>
        </p:nvSpPr>
        <p:spPr>
          <a:xfrm>
            <a:off x="777240" y="6327648"/>
            <a:ext cx="10637215" cy="274320"/>
          </a:xfrm>
          <a:prstGeom prst="rect">
            <a:avLst/>
          </a:prstGeom>
          <a:noFill/>
        </p:spPr>
        <p:txBody>
          <a:bodyPr wrap="square" lIns="0" rIns="0" tIns="0" bIns="0">
            <a:spAutoFit/>
          </a:bodyPr>
          <a:lstStyle/>
          <a:p>
            <a:pPr algn="l">
              <a:spcAft>
                <a:spcPts val="0"/>
              </a:spcAft>
            </a:pPr>
            <a:r>
              <a:rPr sz="1000" b="0">
                <a:solidFill>
                  <a:srgbClr val="8A939F"/>
                </a:solidFill>
                <a:latin typeface="Arial"/>
              </a:rPr>
              <a:t>Everything from here is what it takes to close that gap, in the order it has to happen.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37215" cy="310896"/>
          </a:xfrm>
          <a:prstGeom prst="rect">
            <a:avLst/>
          </a:prstGeom>
          <a:noFill/>
        </p:spPr>
        <p:txBody>
          <a:bodyPr wrap="square" lIns="0" rIns="0" tIns="0" bIns="0">
            <a:spAutoFit/>
          </a:bodyPr>
          <a:lstStyle/>
          <a:p>
            <a:pPr algn="l">
              <a:spcAft>
                <a:spcPts val="0"/>
              </a:spcAft>
            </a:pPr>
            <a:r>
              <a:rPr sz="1100" b="1">
                <a:solidFill>
                  <a:srgbClr val="48607F"/>
                </a:solidFill>
                <a:latin typeface="Arial"/>
              </a:rPr>
              <a:t>P0 · INFRA</a:t>
            </a:r>
          </a:p>
        </p:txBody>
      </p:sp>
      <p:sp>
        <p:nvSpPr>
          <p:cNvPr id="3" name="TextBox 2"/>
          <p:cNvSpPr txBox="1"/>
          <p:nvPr/>
        </p:nvSpPr>
        <p:spPr>
          <a:xfrm>
            <a:off x="777240" y="841248"/>
            <a:ext cx="10637215" cy="566928"/>
          </a:xfrm>
          <a:prstGeom prst="rect">
            <a:avLst/>
          </a:prstGeom>
          <a:noFill/>
        </p:spPr>
        <p:txBody>
          <a:bodyPr wrap="square" lIns="0" rIns="0" tIns="0" bIns="0">
            <a:spAutoFit/>
          </a:bodyPr>
          <a:lstStyle/>
          <a:p>
            <a:pPr algn="l">
              <a:spcAft>
                <a:spcPts val="0"/>
              </a:spcAft>
            </a:pPr>
            <a:r>
              <a:rPr sz="3000" b="1">
                <a:solidFill>
                  <a:srgbClr val="151A21"/>
                </a:solidFill>
                <a:latin typeface="Arial"/>
              </a:rPr>
              <a:t>Give the dashboard host a route to pega3:3000</a:t>
            </a:r>
          </a:p>
        </p:txBody>
      </p:sp>
      <p:sp>
        <p:nvSpPr>
          <p:cNvPr id="4" name="Rectangle 3"/>
          <p:cNvSpPr/>
          <p:nvPr/>
        </p:nvSpPr>
        <p:spPr>
          <a:xfrm>
            <a:off x="777240" y="1536192"/>
            <a:ext cx="1371600" cy="381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965960"/>
            <a:ext cx="5257800" cy="1874519"/>
          </a:xfrm>
          <a:prstGeom prst="roundRect">
            <a:avLst>
              <a:gd name="adj" fmla="val 4000"/>
            </a:avLst>
          </a:prstGeom>
          <a:solidFill>
            <a:srgbClr val="FB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1560" y="2194560"/>
            <a:ext cx="4709160" cy="1463040"/>
          </a:xfrm>
          <a:prstGeom prst="rect">
            <a:avLst/>
          </a:prstGeom>
          <a:noFill/>
        </p:spPr>
        <p:txBody>
          <a:bodyPr wrap="square" lIns="0" rIns="0" tIns="0" bIns="0">
            <a:spAutoFit/>
          </a:bodyPr>
          <a:lstStyle/>
          <a:p>
            <a:pPr algn="l">
              <a:spcAft>
                <a:spcPts val="800"/>
              </a:spcAft>
            </a:pPr>
            <a:r>
              <a:rPr sz="1100" b="1">
                <a:solidFill>
                  <a:srgbClr val="98252A"/>
                </a:solidFill>
                <a:latin typeface="Arial"/>
              </a:rPr>
              <a:t>Today</a:t>
            </a:r>
          </a:p>
          <a:p>
            <a:pPr>
              <a:lnSpc>
                <a:spcPct val="125000"/>
              </a:lnSpc>
              <a:spcAft>
                <a:spcPts val="400"/>
              </a:spcAft>
            </a:pPr>
            <a:r>
              <a:rPr sz="1200" b="0">
                <a:solidFill>
                  <a:srgbClr val="151A21"/>
                </a:solidFill>
                <a:latin typeface="Courier New"/>
              </a:rPr>
              <a:t>chuck-dashboard</a:t>
            </a:r>
            <a:r>
              <a:rPr sz="1300" b="0">
                <a:solidFill>
                  <a:srgbClr val="151A21"/>
                </a:solidFill>
                <a:latin typeface="Arial"/>
              </a:rPr>
              <a:t> cannot resolve </a:t>
            </a:r>
            <a:r>
              <a:rPr sz="1200" b="0">
                <a:solidFill>
                  <a:srgbClr val="151A21"/>
                </a:solidFill>
                <a:latin typeface="Courier New"/>
              </a:rPr>
              <a:t>pega3</a:t>
            </a:r>
            <a:r>
              <a:rPr sz="1300" b="0">
                <a:solidFill>
                  <a:srgbClr val="151A21"/>
                </a:solidFill>
                <a:latin typeface="Arial"/>
              </a:rPr>
              <a:t>.</a:t>
            </a:r>
          </a:p>
          <a:p>
            <a:pPr>
              <a:lnSpc>
                <a:spcPct val="125000"/>
              </a:lnSpc>
              <a:spcAft>
                <a:spcPts val="400"/>
              </a:spcAft>
            </a:pPr>
            <a:r>
              <a:rPr sz="1200" b="0">
                <a:solidFill>
                  <a:srgbClr val="151A21"/>
                </a:solidFill>
                <a:latin typeface="Courier New"/>
              </a:rPr>
              <a:t>pega3.core.etched.com</a:t>
            </a:r>
            <a:r>
              <a:rPr sz="1300" b="0">
                <a:solidFill>
                  <a:srgbClr val="151A21"/>
                </a:solidFill>
                <a:latin typeface="Arial"/>
              </a:rPr>
              <a:t> resolves to the </a:t>
            </a:r>
            <a:r>
              <a:rPr sz="1200" b="0">
                <a:solidFill>
                  <a:srgbClr val="151A21"/>
                </a:solidFill>
                <a:latin typeface="Courier New"/>
              </a:rPr>
              <a:t>*.core.etched.com</a:t>
            </a:r>
            <a:r>
              <a:rPr sz="1300" b="0">
                <a:solidFill>
                  <a:srgbClr val="151A21"/>
                </a:solidFill>
                <a:latin typeface="Arial"/>
              </a:rPr>
              <a:t> wildcard at </a:t>
            </a:r>
            <a:r>
              <a:rPr sz="1200" b="0">
                <a:solidFill>
                  <a:srgbClr val="151A21"/>
                </a:solidFill>
                <a:latin typeface="Courier New"/>
              </a:rPr>
              <a:t>10.48.145.214</a:t>
            </a:r>
            <a:r>
              <a:rPr sz="1300" b="0">
                <a:solidFill>
                  <a:srgbClr val="151A21"/>
                </a:solidFill>
                <a:latin typeface="Arial"/>
              </a:rPr>
              <a:t> — which is not pega3.</a:t>
            </a:r>
          </a:p>
          <a:p>
            <a:pPr>
              <a:lnSpc>
                <a:spcPct val="125000"/>
              </a:lnSpc>
              <a:spcAft>
                <a:spcPts val="0"/>
              </a:spcAft>
            </a:pPr>
            <a:r>
              <a:rPr sz="1300" b="0">
                <a:solidFill>
                  <a:srgbClr val="151A21"/>
                </a:solidFill>
                <a:latin typeface="Arial"/>
              </a:rPr>
              <a:t>From a laptop pega3 is </a:t>
            </a:r>
            <a:r>
              <a:rPr sz="1200" b="0">
                <a:solidFill>
                  <a:srgbClr val="151A21"/>
                </a:solidFill>
                <a:latin typeface="Courier New"/>
              </a:rPr>
              <a:t>100.102.15.102</a:t>
            </a:r>
            <a:r>
              <a:rPr sz="1300" b="0">
                <a:solidFill>
                  <a:srgbClr val="151A21"/>
                </a:solidFill>
                <a:latin typeface="Arial"/>
              </a:rPr>
              <a:t>, a Tailscale address the EC2 host has no path to.</a:t>
            </a:r>
          </a:p>
        </p:txBody>
      </p:sp>
      <p:sp>
        <p:nvSpPr>
          <p:cNvPr id="7" name="Rounded Rectangle 6"/>
          <p:cNvSpPr/>
          <p:nvPr/>
        </p:nvSpPr>
        <p:spPr>
          <a:xfrm>
            <a:off x="6309359" y="1965960"/>
            <a:ext cx="5120640" cy="1874519"/>
          </a:xfrm>
          <a:prstGeom prst="roundRect">
            <a:avLst>
              <a:gd name="adj" fmla="val 4000"/>
            </a:avLst>
          </a:prstGeom>
          <a:solidFill>
            <a:srgbClr val="E3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583679" y="2194560"/>
            <a:ext cx="4572000" cy="1463040"/>
          </a:xfrm>
          <a:prstGeom prst="rect">
            <a:avLst/>
          </a:prstGeom>
          <a:noFill/>
        </p:spPr>
        <p:txBody>
          <a:bodyPr wrap="square" lIns="0" rIns="0" tIns="0" bIns="0">
            <a:spAutoFit/>
          </a:bodyPr>
          <a:lstStyle/>
          <a:p>
            <a:pPr algn="l">
              <a:spcAft>
                <a:spcPts val="800"/>
              </a:spcAft>
            </a:pPr>
            <a:r>
              <a:rPr sz="1100" b="1">
                <a:solidFill>
                  <a:srgbClr val="0F6B4F"/>
                </a:solidFill>
                <a:latin typeface="Arial"/>
              </a:rPr>
              <a:t>Done when</a:t>
            </a:r>
          </a:p>
          <a:p>
            <a:pPr>
              <a:lnSpc>
                <a:spcPct val="125000"/>
              </a:lnSpc>
              <a:spcAft>
                <a:spcPts val="0"/>
              </a:spcAft>
            </a:pPr>
            <a:r>
              <a:rPr sz="1100" b="0">
                <a:solidFill>
                  <a:srgbClr val="151A21"/>
                </a:solidFill>
                <a:latin typeface="Courier New"/>
              </a:rPr>
              <a:t>curl http://pega3:3000/api/history/</a:t>
            </a:r>
          </a:p>
          <a:p>
            <a:pPr>
              <a:lnSpc>
                <a:spcPct val="125000"/>
              </a:lnSpc>
              <a:spcAft>
                <a:spcPts val="600"/>
              </a:spcAft>
            </a:pPr>
            <a:r>
              <a:rPr sz="1100" b="0">
                <a:solidFill>
                  <a:srgbClr val="151A21"/>
                </a:solidFill>
                <a:latin typeface="Courier New"/>
              </a:rPr>
              <a:t>  data-analysis/suite-runs?per_page=1</a:t>
            </a:r>
          </a:p>
          <a:p>
            <a:pPr algn="l">
              <a:spcAft>
                <a:spcPts val="800"/>
              </a:spcAft>
            </a:pPr>
            <a:r>
              <a:rPr sz="1300" b="0">
                <a:solidFill>
                  <a:srgbClr val="151A21"/>
                </a:solidFill>
                <a:latin typeface="Arial"/>
              </a:rPr>
              <a:t>returns 200 from the box.</a:t>
            </a:r>
          </a:p>
          <a:p>
            <a:pPr algn="l">
              <a:spcAft>
                <a:spcPts val="0"/>
              </a:spcAft>
            </a:pPr>
            <a:r>
              <a:rPr sz="1200" b="0">
                <a:solidFill>
                  <a:srgbClr val="5C6673"/>
                </a:solidFill>
                <a:latin typeface="Arial"/>
              </a:rPr>
              <a:t>One environment variable disappears and the tracker builds itself hourly, serials included.</a:t>
            </a:r>
          </a:p>
        </p:txBody>
      </p:sp>
      <p:sp>
        <p:nvSpPr>
          <p:cNvPr id="9" name="TextBox 8"/>
          <p:cNvSpPr txBox="1"/>
          <p:nvPr/>
        </p:nvSpPr>
        <p:spPr>
          <a:xfrm>
            <a:off x="777240" y="4160520"/>
            <a:ext cx="10637215" cy="1737360"/>
          </a:xfrm>
          <a:prstGeom prst="rect">
            <a:avLst/>
          </a:prstGeom>
          <a:noFill/>
        </p:spPr>
        <p:txBody>
          <a:bodyPr wrap="square" lIns="0" rIns="0" tIns="0" bIns="0">
            <a:spAutoFit/>
          </a:bodyPr>
          <a:lstStyle/>
          <a:p>
            <a:pPr algn="l">
              <a:spcAft>
                <a:spcPts val="1000"/>
              </a:spcAft>
            </a:pPr>
            <a:r>
              <a:rPr sz="1100" b="1">
                <a:solidFill>
                  <a:srgbClr val="48607F"/>
                </a:solidFill>
                <a:latin typeface="Arial"/>
              </a:rPr>
              <a:t>Why this is P0</a:t>
            </a:r>
          </a:p>
          <a:p>
            <a:pPr>
              <a:lnSpc>
                <a:spcPct val="130000"/>
              </a:lnSpc>
              <a:spcAft>
                <a:spcPts val="1000"/>
              </a:spcAft>
            </a:pPr>
            <a:r>
              <a:rPr sz="1500" b="0">
                <a:solidFill>
                  <a:srgbClr val="151A21"/>
                </a:solidFill>
                <a:latin typeface="Arial"/>
              </a:rPr>
              <a:t>A fixture drives eight modules at once. pega3 assigns the slots, so pega3 is the only system that can say which DUT serial sat in slot 4. Without it we can report that a chip failed but not </a:t>
            </a:r>
            <a:r>
              <a:rPr sz="1500" b="1">
                <a:solidFill>
                  <a:srgbClr val="151A21"/>
                </a:solidFill>
                <a:latin typeface="Arial"/>
              </a:rPr>
              <a:t>which unit</a:t>
            </a:r>
            <a:r>
              <a:rPr sz="1500" b="0">
                <a:solidFill>
                  <a:srgbClr val="151A21"/>
                </a:solidFill>
                <a:latin typeface="Arial"/>
              </a:rPr>
              <a:t> — which is the one thing the line needs to act on.</a:t>
            </a:r>
          </a:p>
          <a:p>
            <a:pPr>
              <a:lnSpc>
                <a:spcPct val="130000"/>
              </a:lnSpc>
              <a:spcAft>
                <a:spcPts val="0"/>
              </a:spcAft>
            </a:pPr>
            <a:r>
              <a:rPr sz="1400" b="0">
                <a:solidFill>
                  <a:srgbClr val="5C6673"/>
                </a:solidFill>
                <a:latin typeface="Arial"/>
              </a:rPr>
              <a:t>It is also the only manual step left in the whole pipeline. Someone runs a command on a laptop, every day, or yesterday’s serials go stale.</a:t>
            </a:r>
          </a:p>
        </p:txBody>
      </p:sp>
      <p:sp>
        <p:nvSpPr>
          <p:cNvPr id="10" name="TextBox 9"/>
          <p:cNvSpPr txBox="1"/>
          <p:nvPr/>
        </p:nvSpPr>
        <p:spPr>
          <a:xfrm>
            <a:off x="777240" y="6327648"/>
            <a:ext cx="10637215" cy="274320"/>
          </a:xfrm>
          <a:prstGeom prst="rect">
            <a:avLst/>
          </a:prstGeom>
          <a:noFill/>
        </p:spPr>
        <p:txBody>
          <a:bodyPr wrap="square" lIns="0" rIns="0" tIns="0" bIns="0">
            <a:spAutoFit/>
          </a:bodyPr>
          <a:lstStyle/>
          <a:p>
            <a:pPr algn="l">
              <a:spcAft>
                <a:spcPts val="0"/>
              </a:spcAft>
            </a:pPr>
            <a:r>
              <a:rPr sz="1000" b="0">
                <a:solidFill>
                  <a:srgbClr val="8A939F"/>
                </a:solidFill>
                <a:latin typeface="Arial"/>
              </a:rPr>
              <a:t>Alternative if the route is genuinely hard: a corporate-network address for pega3 works just as well.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37215" cy="310896"/>
          </a:xfrm>
          <a:prstGeom prst="rect">
            <a:avLst/>
          </a:prstGeom>
          <a:noFill/>
        </p:spPr>
        <p:txBody>
          <a:bodyPr wrap="square" lIns="0" rIns="0" tIns="0" bIns="0">
            <a:spAutoFit/>
          </a:bodyPr>
          <a:lstStyle/>
          <a:p>
            <a:pPr algn="l">
              <a:spcAft>
                <a:spcPts val="0"/>
              </a:spcAft>
            </a:pPr>
            <a:r>
              <a:rPr sz="1100" b="1">
                <a:solidFill>
                  <a:srgbClr val="48607F"/>
                </a:solidFill>
                <a:latin typeface="Arial"/>
              </a:rPr>
              <a:t>P0 · INFRA</a:t>
            </a:r>
          </a:p>
        </p:txBody>
      </p:sp>
      <p:sp>
        <p:nvSpPr>
          <p:cNvPr id="3" name="TextBox 2"/>
          <p:cNvSpPr txBox="1"/>
          <p:nvPr/>
        </p:nvSpPr>
        <p:spPr>
          <a:xfrm>
            <a:off x="777240" y="841248"/>
            <a:ext cx="10637215" cy="566928"/>
          </a:xfrm>
          <a:prstGeom prst="rect">
            <a:avLst/>
          </a:prstGeom>
          <a:noFill/>
        </p:spPr>
        <p:txBody>
          <a:bodyPr wrap="square" lIns="0" rIns="0" tIns="0" bIns="0">
            <a:spAutoFit/>
          </a:bodyPr>
          <a:lstStyle/>
          <a:p>
            <a:pPr algn="l">
              <a:spcAft>
                <a:spcPts val="0"/>
              </a:spcAft>
            </a:pPr>
            <a:r>
              <a:rPr sz="3000" b="1">
                <a:solidFill>
                  <a:srgbClr val="151A21"/>
                </a:solidFill>
                <a:latin typeface="Arial"/>
              </a:rPr>
              <a:t>Serve the full certificate chain on 32x-production</a:t>
            </a:r>
          </a:p>
        </p:txBody>
      </p:sp>
      <p:sp>
        <p:nvSpPr>
          <p:cNvPr id="4" name="Rectangle 3"/>
          <p:cNvSpPr/>
          <p:nvPr/>
        </p:nvSpPr>
        <p:spPr>
          <a:xfrm>
            <a:off x="777240" y="1536192"/>
            <a:ext cx="1371600" cy="381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965960"/>
            <a:ext cx="6035040" cy="3108960"/>
          </a:xfrm>
          <a:prstGeom prst="rect">
            <a:avLst/>
          </a:prstGeom>
          <a:noFill/>
        </p:spPr>
        <p:txBody>
          <a:bodyPr wrap="square" lIns="0" rIns="0" tIns="0" bIns="0">
            <a:spAutoFit/>
          </a:bodyPr>
          <a:lstStyle/>
          <a:p>
            <a:pPr>
              <a:lnSpc>
                <a:spcPct val="125000"/>
              </a:lnSpc>
              <a:spcAft>
                <a:spcPts val="1200"/>
              </a:spcAft>
            </a:pPr>
            <a:r>
              <a:rPr sz="1700" b="1">
                <a:solidFill>
                  <a:srgbClr val="151A21"/>
                </a:solidFill>
                <a:latin typeface="Arial"/>
              </a:rPr>
              <a:t>Every reader gets a browser security warning today.</a:t>
            </a:r>
          </a:p>
          <a:p>
            <a:pPr>
              <a:lnSpc>
                <a:spcPct val="130000"/>
              </a:lnSpc>
              <a:spcAft>
                <a:spcPts val="1600"/>
              </a:spcAft>
            </a:pPr>
            <a:r>
              <a:rPr sz="1400" b="0">
                <a:solidFill>
                  <a:srgbClr val="5C6673"/>
                </a:solidFill>
                <a:latin typeface="Arial"/>
              </a:rPr>
              <a:t>A dashboard people have to click through a warning to reach is a dashboard people stop opening.</a:t>
            </a:r>
          </a:p>
          <a:p>
            <a:pPr>
              <a:lnSpc>
                <a:spcPct val="130000"/>
              </a:lnSpc>
              <a:spcAft>
                <a:spcPts val="1200"/>
              </a:spcAft>
            </a:pPr>
            <a:r>
              <a:rPr sz="1400" b="0">
                <a:solidFill>
                  <a:srgbClr val="151A21"/>
                </a:solidFill>
                <a:latin typeface="Arial"/>
              </a:rPr>
              <a:t>nginx serves the leaf certificate alone. Its issuer, </a:t>
            </a:r>
            <a:r>
              <a:rPr sz="1300" b="0">
                <a:solidFill>
                  <a:srgbClr val="151A21"/>
                </a:solidFill>
                <a:latin typeface="Courier New"/>
              </a:rPr>
              <a:t>O=IDM.ETCHED.COM, CN=Certificate Authority</a:t>
            </a:r>
            <a:r>
              <a:rPr sz="1400" b="0">
                <a:solidFill>
                  <a:srgbClr val="151A21"/>
                </a:solidFill>
                <a:latin typeface="Arial"/>
              </a:rPr>
              <a:t>, is signed by </a:t>
            </a:r>
            <a:r>
              <a:rPr sz="1300" b="0">
                <a:solidFill>
                  <a:srgbClr val="151A21"/>
                </a:solidFill>
                <a:latin typeface="Courier New"/>
              </a:rPr>
              <a:t>Etched RSA Corporate Root CA</a:t>
            </a:r>
            <a:r>
              <a:rPr sz="1400" b="0">
                <a:solidFill>
                  <a:srgbClr val="151A21"/>
                </a:solidFill>
                <a:latin typeface="Arial"/>
              </a:rPr>
              <a:t> — already installed on every managed Mac.</a:t>
            </a:r>
          </a:p>
          <a:p>
            <a:pPr>
              <a:lnSpc>
                <a:spcPct val="130000"/>
              </a:lnSpc>
              <a:spcAft>
                <a:spcPts val="0"/>
              </a:spcAft>
            </a:pPr>
            <a:r>
              <a:rPr sz="1400" b="0">
                <a:solidFill>
                  <a:srgbClr val="151A21"/>
                </a:solidFill>
                <a:latin typeface="Arial"/>
              </a:rPr>
              <a:t>Serving leaf + intermediate fixes it for everyone with </a:t>
            </a:r>
            <a:r>
              <a:rPr sz="1400" b="1">
                <a:solidFill>
                  <a:srgbClr val="151A21"/>
                </a:solidFill>
                <a:latin typeface="Arial"/>
              </a:rPr>
              <a:t>no client-side change at all</a:t>
            </a:r>
            <a:r>
              <a:rPr sz="1400" b="0">
                <a:solidFill>
                  <a:srgbClr val="151A21"/>
                </a:solidFill>
                <a:latin typeface="Arial"/>
              </a:rPr>
              <a:t>.</a:t>
            </a:r>
          </a:p>
        </p:txBody>
      </p:sp>
      <p:sp>
        <p:nvSpPr>
          <p:cNvPr id="6" name="Rounded Rectangle 5"/>
          <p:cNvSpPr/>
          <p:nvPr/>
        </p:nvSpPr>
        <p:spPr>
          <a:xfrm>
            <a:off x="7178040" y="1965960"/>
            <a:ext cx="4251960" cy="310896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452360" y="2240280"/>
            <a:ext cx="3703320" cy="2651760"/>
          </a:xfrm>
          <a:prstGeom prst="rect">
            <a:avLst/>
          </a:prstGeom>
          <a:noFill/>
        </p:spPr>
        <p:txBody>
          <a:bodyPr wrap="square" lIns="0" rIns="0" tIns="0" bIns="0">
            <a:spAutoFit/>
          </a:bodyPr>
          <a:lstStyle/>
          <a:p>
            <a:pPr algn="l">
              <a:spcAft>
                <a:spcPts val="1000"/>
              </a:spcAft>
            </a:pPr>
            <a:r>
              <a:rPr sz="1000" b="1">
                <a:solidFill>
                  <a:srgbClr val="8A939F"/>
                </a:solidFill>
                <a:latin typeface="Arial"/>
              </a:rPr>
              <a:t>EVIDENCE</a:t>
            </a:r>
          </a:p>
          <a:p>
            <a:pPr>
              <a:lnSpc>
                <a:spcPct val="125000"/>
              </a:lnSpc>
              <a:spcAft>
                <a:spcPts val="300"/>
              </a:spcAft>
            </a:pPr>
            <a:r>
              <a:rPr sz="1000" b="0">
                <a:solidFill>
                  <a:srgbClr val="151A21"/>
                </a:solidFill>
                <a:latin typeface="Courier New"/>
              </a:rPr>
              <a:t>openssl s_client -showcerts</a:t>
            </a:r>
          </a:p>
          <a:p>
            <a:pPr>
              <a:lnSpc>
                <a:spcPct val="125000"/>
              </a:lnSpc>
              <a:spcAft>
                <a:spcPts val="1200"/>
              </a:spcAft>
            </a:pPr>
            <a:r>
              <a:rPr sz="1300" b="0">
                <a:solidFill>
                  <a:srgbClr val="98252A"/>
                </a:solidFill>
                <a:latin typeface="Arial"/>
              </a:rPr>
              <a:t>→ returns 1 certificate</a:t>
            </a:r>
          </a:p>
          <a:p>
            <a:pPr>
              <a:lnSpc>
                <a:spcPct val="125000"/>
              </a:lnSpc>
              <a:spcAft>
                <a:spcPts val="300"/>
              </a:spcAft>
            </a:pPr>
            <a:r>
              <a:rPr sz="1000" b="0">
                <a:solidFill>
                  <a:srgbClr val="151A21"/>
                </a:solidFill>
                <a:latin typeface="Courier New"/>
              </a:rPr>
              <a:t>curl https://32x-production…</a:t>
            </a:r>
          </a:p>
          <a:p>
            <a:pPr>
              <a:lnSpc>
                <a:spcPct val="125000"/>
              </a:lnSpc>
              <a:spcAft>
                <a:spcPts val="1200"/>
              </a:spcAft>
            </a:pPr>
            <a:r>
              <a:rPr sz="1300" b="0">
                <a:solidFill>
                  <a:srgbClr val="98252A"/>
                </a:solidFill>
                <a:latin typeface="Arial"/>
              </a:rPr>
              <a:t>→ certificate verify failed</a:t>
            </a:r>
          </a:p>
          <a:p>
            <a:pPr>
              <a:lnSpc>
                <a:spcPct val="125000"/>
              </a:lnSpc>
              <a:spcAft>
                <a:spcPts val="300"/>
              </a:spcAft>
            </a:pPr>
            <a:r>
              <a:rPr sz="1000" b="0">
                <a:solidFill>
                  <a:srgbClr val="151A21"/>
                </a:solidFill>
                <a:latin typeface="Courier New"/>
              </a:rPr>
              <a:t>curl --cacert &lt;ipa-bundle&gt;</a:t>
            </a:r>
          </a:p>
          <a:p>
            <a:pPr>
              <a:lnSpc>
                <a:spcPct val="125000"/>
              </a:lnSpc>
              <a:spcAft>
                <a:spcPts val="1200"/>
              </a:spcAft>
            </a:pPr>
            <a:r>
              <a:rPr sz="1300" b="0">
                <a:solidFill>
                  <a:srgbClr val="0F6B4F"/>
                </a:solidFill>
                <a:latin typeface="Arial"/>
              </a:rPr>
              <a:t>→ 200 OK</a:t>
            </a:r>
          </a:p>
          <a:p>
            <a:pPr>
              <a:lnSpc>
                <a:spcPct val="125000"/>
              </a:lnSpc>
              <a:spcAft>
                <a:spcPts val="0"/>
              </a:spcAft>
            </a:pPr>
            <a:r>
              <a:rPr sz="1100" b="0">
                <a:solidFill>
                  <a:srgbClr val="5C6673"/>
                </a:solidFill>
                <a:latin typeface="Arial"/>
              </a:rPr>
              <a:t>Same omission as </a:t>
            </a:r>
            <a:r>
              <a:rPr sz="1000" b="0">
                <a:solidFill>
                  <a:srgbClr val="5C6673"/>
                </a:solidFill>
                <a:latin typeface="Courier New"/>
              </a:rPr>
              <a:t>eos.core.etched.com</a:t>
            </a:r>
            <a:r>
              <a:rPr sz="1100" b="0">
                <a:solidFill>
                  <a:srgbClr val="5C6673"/>
                </a:solidFill>
                <a:latin typeface="Arial"/>
              </a:rPr>
              <a:t>, which is why every client needs a manual trust step for the API too.</a:t>
            </a:r>
          </a:p>
        </p:txBody>
      </p:sp>
      <p:sp>
        <p:nvSpPr>
          <p:cNvPr id="8" name="TextBox 7"/>
          <p:cNvSpPr txBox="1"/>
          <p:nvPr/>
        </p:nvSpPr>
        <p:spPr>
          <a:xfrm>
            <a:off x="777240" y="6327648"/>
            <a:ext cx="10637215" cy="274320"/>
          </a:xfrm>
          <a:prstGeom prst="rect">
            <a:avLst/>
          </a:prstGeom>
          <a:noFill/>
        </p:spPr>
        <p:txBody>
          <a:bodyPr wrap="square" lIns="0" rIns="0" tIns="0" bIns="0">
            <a:spAutoFit/>
          </a:bodyPr>
          <a:lstStyle/>
          <a:p>
            <a:pPr algn="l">
              <a:spcAft>
                <a:spcPts val="0"/>
              </a:spcAft>
            </a:pPr>
            <a:r>
              <a:rPr sz="1000" b="0">
                <a:solidFill>
                  <a:srgbClr val="8A939F"/>
                </a:solidFill>
                <a:latin typeface="Arial"/>
              </a:rPr>
              <a:t>Done when: openssl returns two certificates and plain curl returns 200.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37215" cy="310896"/>
          </a:xfrm>
          <a:prstGeom prst="rect">
            <a:avLst/>
          </a:prstGeom>
          <a:noFill/>
        </p:spPr>
        <p:txBody>
          <a:bodyPr wrap="square" lIns="0" rIns="0" tIns="0" bIns="0">
            <a:spAutoFit/>
          </a:bodyPr>
          <a:lstStyle/>
          <a:p>
            <a:pPr algn="l">
              <a:spcAft>
                <a:spcPts val="0"/>
              </a:spcAft>
            </a:pPr>
            <a:r>
              <a:rPr sz="1100" b="1">
                <a:solidFill>
                  <a:srgbClr val="48607F"/>
                </a:solidFill>
                <a:latin typeface="Arial"/>
              </a:rPr>
              <a:t>P1 · EOS</a:t>
            </a:r>
          </a:p>
        </p:txBody>
      </p:sp>
      <p:sp>
        <p:nvSpPr>
          <p:cNvPr id="3" name="TextBox 2"/>
          <p:cNvSpPr txBox="1"/>
          <p:nvPr/>
        </p:nvSpPr>
        <p:spPr>
          <a:xfrm>
            <a:off x="777240" y="841248"/>
            <a:ext cx="10637215" cy="566928"/>
          </a:xfrm>
          <a:prstGeom prst="rect">
            <a:avLst/>
          </a:prstGeom>
          <a:noFill/>
        </p:spPr>
        <p:txBody>
          <a:bodyPr wrap="square" lIns="0" rIns="0" tIns="0" bIns="0">
            <a:spAutoFit/>
          </a:bodyPr>
          <a:lstStyle/>
          <a:p>
            <a:pPr algn="l">
              <a:spcAft>
                <a:spcPts val="0"/>
              </a:spcAft>
            </a:pPr>
            <a:r>
              <a:rPr sz="3000" b="1">
                <a:solidFill>
                  <a:srgbClr val="151A21"/>
                </a:solidFill>
                <a:latin typeface="Arial"/>
              </a:rPr>
              <a:t>Two changes that remove the need for pega3 entirely</a:t>
            </a:r>
          </a:p>
        </p:txBody>
      </p:sp>
      <p:sp>
        <p:nvSpPr>
          <p:cNvPr id="4" name="Rectangle 3"/>
          <p:cNvSpPr/>
          <p:nvPr/>
        </p:nvSpPr>
        <p:spPr>
          <a:xfrm>
            <a:off x="777240" y="1536192"/>
            <a:ext cx="1371600" cy="381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920240"/>
            <a:ext cx="5257800" cy="3611880"/>
          </a:xfrm>
          <a:prstGeom prst="roundRect">
            <a:avLst>
              <a:gd name="adj" fmla="val 4000"/>
            </a:avLst>
          </a:prstGeom>
          <a:solidFill>
            <a:srgbClr val="FFFFFF"/>
          </a:solidFill>
          <a:ln w="12700">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69848" y="2176272"/>
            <a:ext cx="4663440" cy="3108960"/>
          </a:xfrm>
          <a:prstGeom prst="rect">
            <a:avLst/>
          </a:prstGeom>
          <a:noFill/>
        </p:spPr>
        <p:txBody>
          <a:bodyPr wrap="square" lIns="0" rIns="0" tIns="0" bIns="0">
            <a:spAutoFit/>
          </a:bodyPr>
          <a:lstStyle/>
          <a:p>
            <a:pPr algn="l">
              <a:spcAft>
                <a:spcPts val="1200"/>
              </a:spcAft>
            </a:pPr>
            <a:r>
              <a:rPr sz="1100" b="1">
                <a:solidFill>
                  <a:srgbClr val="1E3A5F"/>
                </a:solidFill>
                <a:latin typeface="Arial"/>
              </a:rPr>
              <a:t>CARRY THE SLOT → DUT SERIAL MAP</a:t>
            </a:r>
          </a:p>
          <a:p>
            <a:pPr>
              <a:lnSpc>
                <a:spcPct val="128000"/>
              </a:lnSpc>
              <a:spcAft>
                <a:spcPts val="1000"/>
              </a:spcAft>
            </a:pPr>
            <a:r>
              <a:rPr sz="1300" b="0">
                <a:solidFill>
                  <a:srgbClr val="151A21"/>
                </a:solidFill>
                <a:latin typeface="Arial"/>
              </a:rPr>
              <a:t>A fixture drives eight modules. EOS records the run with </a:t>
            </a:r>
            <a:r>
              <a:rPr sz="1300" b="1">
                <a:solidFill>
                  <a:srgbClr val="151A21"/>
                </a:solidFill>
                <a:latin typeface="Arial"/>
              </a:rPr>
              <a:t>one</a:t>
            </a:r>
            <a:r>
              <a:rPr sz="1300" b="0">
                <a:solidFill>
                  <a:srgbClr val="151A21"/>
                </a:solidFill>
                <a:latin typeface="Arial"/>
              </a:rPr>
              <a:t> </a:t>
            </a:r>
            <a:r>
              <a:rPr sz="1200" b="0">
                <a:solidFill>
                  <a:srgbClr val="151A21"/>
                </a:solidFill>
                <a:latin typeface="Courier New"/>
              </a:rPr>
              <a:t>dutSerial</a:t>
            </a:r>
            <a:r>
              <a:rPr sz="1300" b="0">
                <a:solidFill>
                  <a:srgbClr val="151A21"/>
                </a:solidFill>
                <a:latin typeface="Arial"/>
              </a:rPr>
              <a:t> and no slot number — so seven of every eight units are anonymous.</a:t>
            </a:r>
          </a:p>
          <a:p>
            <a:pPr>
              <a:lnSpc>
                <a:spcPct val="126000"/>
              </a:lnSpc>
              <a:spcAft>
                <a:spcPts val="1000"/>
              </a:spcAft>
            </a:pPr>
            <a:r>
              <a:rPr sz="1200" b="0">
                <a:solidFill>
                  <a:srgbClr val="5C6673"/>
                </a:solidFill>
                <a:latin typeface="Arial"/>
              </a:rPr>
              <a:t>Checked and not present in: </a:t>
            </a:r>
            <a:r>
              <a:rPr sz="1100" b="0">
                <a:solidFill>
                  <a:srgbClr val="5C6673"/>
                </a:solidFill>
                <a:latin typeface="Courier New"/>
              </a:rPr>
              <a:t>suite_summary</a:t>
            </a:r>
            <a:r>
              <a:rPr sz="1200" b="0">
                <a:solidFill>
                  <a:srgbClr val="5C6673"/>
                </a:solidFill>
                <a:latin typeface="Arial"/>
              </a:rPr>
              <a:t>, </a:t>
            </a:r>
            <a:r>
              <a:rPr sz="1100" b="0">
                <a:solidFill>
                  <a:srgbClr val="5C6673"/>
                </a:solidFill>
                <a:latin typeface="Courier New"/>
              </a:rPr>
              <a:t>event_stream</a:t>
            </a:r>
            <a:r>
              <a:rPr sz="1200" b="0">
                <a:solidFill>
                  <a:srgbClr val="5C6673"/>
                </a:solidFill>
                <a:latin typeface="Arial"/>
              </a:rPr>
              <a:t>, </a:t>
            </a:r>
            <a:r>
              <a:rPr sz="1100" b="0">
                <a:solidFill>
                  <a:srgbClr val="5C6673"/>
                </a:solidFill>
                <a:latin typeface="Courier New"/>
              </a:rPr>
              <a:t>suite_config</a:t>
            </a:r>
            <a:r>
              <a:rPr sz="1200" b="0">
                <a:solidFill>
                  <a:srgbClr val="5C6673"/>
                </a:solidFill>
                <a:latin typeface="Arial"/>
              </a:rPr>
              <a:t>, </a:t>
            </a:r>
            <a:r>
              <a:rPr sz="1100" b="0">
                <a:solidFill>
                  <a:srgbClr val="5C6673"/>
                </a:solidFill>
                <a:latin typeface="Courier New"/>
              </a:rPr>
              <a:t>bom_config</a:t>
            </a:r>
            <a:r>
              <a:rPr sz="1200" b="0">
                <a:solidFill>
                  <a:srgbClr val="5C6673"/>
                </a:solidFill>
                <a:latin typeface="Arial"/>
              </a:rPr>
              <a:t>, or any of the 997 per-chip logs.</a:t>
            </a:r>
          </a:p>
          <a:p>
            <a:pPr>
              <a:lnSpc>
                <a:spcPct val="126000"/>
              </a:lnSpc>
              <a:spcAft>
                <a:spcPts val="0"/>
              </a:spcAft>
            </a:pPr>
            <a:r>
              <a:rPr sz="1200" b="0">
                <a:solidFill>
                  <a:srgbClr val="5C6673"/>
                </a:solidFill>
                <a:latin typeface="Arial"/>
              </a:rPr>
              <a:t>Run </a:t>
            </a:r>
            <a:r>
              <a:rPr sz="1200" b="1">
                <a:solidFill>
                  <a:srgbClr val="5C6673"/>
                </a:solidFill>
                <a:latin typeface="Arial"/>
              </a:rPr>
              <a:t>counts</a:t>
            </a:r>
            <a:r>
              <a:rPr sz="1200" b="0">
                <a:solidFill>
                  <a:srgbClr val="5C6673"/>
                </a:solidFill>
                <a:latin typeface="Arial"/>
              </a:rPr>
              <a:t> match between the two systems (30/30, 17/14, 10/8 over 08-11–08-13), so this is about identity, not missing data.</a:t>
            </a:r>
          </a:p>
        </p:txBody>
      </p:sp>
      <p:sp>
        <p:nvSpPr>
          <p:cNvPr id="7" name="Rounded Rectangle 6"/>
          <p:cNvSpPr/>
          <p:nvPr/>
        </p:nvSpPr>
        <p:spPr>
          <a:xfrm>
            <a:off x="6309359" y="1920240"/>
            <a:ext cx="5120640" cy="3611880"/>
          </a:xfrm>
          <a:prstGeom prst="roundRect">
            <a:avLst>
              <a:gd name="adj" fmla="val 4000"/>
            </a:avLst>
          </a:prstGeom>
          <a:solidFill>
            <a:srgbClr val="FFFFFF"/>
          </a:solidFill>
          <a:ln w="12700">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601968" y="2176272"/>
            <a:ext cx="4526280" cy="3108960"/>
          </a:xfrm>
          <a:prstGeom prst="rect">
            <a:avLst/>
          </a:prstGeom>
          <a:noFill/>
        </p:spPr>
        <p:txBody>
          <a:bodyPr wrap="square" lIns="0" rIns="0" tIns="0" bIns="0">
            <a:spAutoFit/>
          </a:bodyPr>
          <a:lstStyle/>
          <a:p>
            <a:pPr algn="l">
              <a:spcAft>
                <a:spcPts val="1200"/>
              </a:spcAft>
            </a:pPr>
            <a:r>
              <a:rPr sz="1100" b="1">
                <a:solidFill>
                  <a:srgbClr val="1E3A5F"/>
                </a:solidFill>
                <a:latin typeface="Arial"/>
              </a:rPr>
              <a:t>MAKE THE PER-UNIT VERDICT FIRST CLASS</a:t>
            </a:r>
          </a:p>
          <a:p>
            <a:pPr>
              <a:lnSpc>
                <a:spcPct val="128000"/>
              </a:lnSpc>
              <a:spcAft>
                <a:spcPts val="1000"/>
              </a:spcAft>
            </a:pPr>
            <a:r>
              <a:rPr sz="1300" b="0">
                <a:solidFill>
                  <a:srgbClr val="151A21"/>
                </a:solidFill>
                <a:latin typeface="Arial"/>
              </a:rPr>
              <a:t>Run status describes the fixture, not the unit. One bad chip fails the whole run.</a:t>
            </a:r>
          </a:p>
          <a:p>
            <a:pPr>
              <a:lnSpc>
                <a:spcPct val="128000"/>
              </a:lnSpc>
              <a:spcAft>
                <a:spcPts val="1000"/>
              </a:spcAft>
            </a:pPr>
            <a:r>
              <a:rPr sz="1300" b="0">
                <a:solidFill>
                  <a:srgbClr val="151A21"/>
                </a:solidFill>
                <a:latin typeface="Arial"/>
              </a:rPr>
              <a:t>MLT yield reads </a:t>
            </a:r>
            <a:r>
              <a:rPr sz="1300" b="1">
                <a:solidFill>
                  <a:srgbClr val="98252A"/>
                </a:solidFill>
                <a:latin typeface="Arial"/>
              </a:rPr>
              <a:t>28.5% by run</a:t>
            </a:r>
            <a:r>
              <a:rPr sz="1300" b="0">
                <a:solidFill>
                  <a:srgbClr val="151A21"/>
                </a:solidFill>
                <a:latin typeface="Arial"/>
              </a:rPr>
              <a:t> and </a:t>
            </a:r>
            <a:r>
              <a:rPr sz="1300" b="1">
                <a:solidFill>
                  <a:srgbClr val="0F6B4F"/>
                </a:solidFill>
                <a:latin typeface="Arial"/>
              </a:rPr>
              <a:t>57.4% by unit</a:t>
            </a:r>
            <a:r>
              <a:rPr sz="1300" b="0">
                <a:solidFill>
                  <a:srgbClr val="151A21"/>
                </a:solidFill>
                <a:latin typeface="Arial"/>
              </a:rPr>
              <a:t>. Anyone quoting the wrong one is off by 2×.</a:t>
            </a:r>
          </a:p>
          <a:p>
            <a:pPr>
              <a:lnSpc>
                <a:spcPct val="126000"/>
              </a:lnSpc>
              <a:spcAft>
                <a:spcPts val="0"/>
              </a:spcAft>
            </a:pPr>
            <a:r>
              <a:rPr sz="1200" b="0">
                <a:solidFill>
                  <a:srgbClr val="5C6673"/>
                </a:solidFill>
                <a:latin typeface="Arial"/>
              </a:rPr>
              <a:t>We recover it today by parsing the </a:t>
            </a:r>
            <a:r>
              <a:rPr sz="1100" b="0">
                <a:solidFill>
                  <a:srgbClr val="5C6673"/>
                </a:solidFill>
                <a:latin typeface="Courier New"/>
              </a:rPr>
              <a:t>chipN</a:t>
            </a:r>
            <a:r>
              <a:rPr sz="1200" b="0">
                <a:solidFill>
                  <a:srgbClr val="5C6673"/>
                </a:solidFill>
                <a:latin typeface="Arial"/>
              </a:rPr>
              <a:t> token out of test names. That is a convention, not a contract — and it already appears in two spellings inside a single run.</a:t>
            </a:r>
          </a:p>
        </p:txBody>
      </p:sp>
      <p:sp>
        <p:nvSpPr>
          <p:cNvPr id="9" name="TextBox 8"/>
          <p:cNvSpPr txBox="1"/>
          <p:nvPr/>
        </p:nvSpPr>
        <p:spPr>
          <a:xfrm>
            <a:off x="777240" y="6327648"/>
            <a:ext cx="10637215" cy="274320"/>
          </a:xfrm>
          <a:prstGeom prst="rect">
            <a:avLst/>
          </a:prstGeom>
          <a:noFill/>
        </p:spPr>
        <p:txBody>
          <a:bodyPr wrap="square" lIns="0" rIns="0" tIns="0" bIns="0">
            <a:spAutoFit/>
          </a:bodyPr>
          <a:lstStyle/>
          <a:p>
            <a:pPr algn="l">
              <a:spcAft>
                <a:spcPts val="0"/>
              </a:spcAft>
            </a:pPr>
            <a:r>
              <a:rPr sz="1000" b="0">
                <a:solidFill>
                  <a:srgbClr val="8A939F"/>
                </a:solidFill>
                <a:latin typeface="Arial"/>
              </a:rPr>
              <a:t>With both, the analysis needs one upstream system instead of two — and the P0 route stops mattering.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37215" cy="310896"/>
          </a:xfrm>
          <a:prstGeom prst="rect">
            <a:avLst/>
          </a:prstGeom>
          <a:noFill/>
        </p:spPr>
        <p:txBody>
          <a:bodyPr wrap="square" lIns="0" rIns="0" tIns="0" bIns="0">
            <a:spAutoFit/>
          </a:bodyPr>
          <a:lstStyle/>
          <a:p>
            <a:pPr algn="l">
              <a:spcAft>
                <a:spcPts val="0"/>
              </a:spcAft>
            </a:pPr>
            <a:r>
              <a:rPr sz="1100" b="1">
                <a:solidFill>
                  <a:srgbClr val="48607F"/>
                </a:solidFill>
                <a:latin typeface="Arial"/>
              </a:rPr>
              <a:t>FINDING</a:t>
            </a:r>
          </a:p>
        </p:txBody>
      </p:sp>
      <p:sp>
        <p:nvSpPr>
          <p:cNvPr id="3" name="TextBox 2"/>
          <p:cNvSpPr txBox="1"/>
          <p:nvPr/>
        </p:nvSpPr>
        <p:spPr>
          <a:xfrm>
            <a:off x="777240" y="841248"/>
            <a:ext cx="10637215" cy="566928"/>
          </a:xfrm>
          <a:prstGeom prst="rect">
            <a:avLst/>
          </a:prstGeom>
          <a:noFill/>
        </p:spPr>
        <p:txBody>
          <a:bodyPr wrap="square" lIns="0" rIns="0" tIns="0" bIns="0">
            <a:spAutoFit/>
          </a:bodyPr>
          <a:lstStyle/>
          <a:p>
            <a:pPr algn="l">
              <a:spcAft>
                <a:spcPts val="0"/>
              </a:spcAft>
            </a:pPr>
            <a:r>
              <a:rPr sz="3000" b="1">
                <a:solidFill>
                  <a:srgbClr val="151A21"/>
                </a:solidFill>
                <a:latin typeface="Arial"/>
              </a:rPr>
              <a:t>We have been reporting fixture yield, not unit yield</a:t>
            </a:r>
          </a:p>
        </p:txBody>
      </p:sp>
      <p:sp>
        <p:nvSpPr>
          <p:cNvPr id="4" name="Rectangle 3"/>
          <p:cNvSpPr/>
          <p:nvPr/>
        </p:nvSpPr>
        <p:spPr>
          <a:xfrm>
            <a:off x="777240" y="1536192"/>
            <a:ext cx="1371600" cy="381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2011680"/>
            <a:ext cx="5943600" cy="251460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43000" y="2240280"/>
            <a:ext cx="2194560" cy="274320"/>
          </a:xfrm>
          <a:prstGeom prst="rect">
            <a:avLst/>
          </a:prstGeom>
          <a:noFill/>
        </p:spPr>
        <p:txBody>
          <a:bodyPr wrap="square" lIns="0" rIns="0" tIns="0" bIns="0">
            <a:spAutoFit/>
          </a:bodyPr>
          <a:lstStyle/>
          <a:p>
            <a:pPr algn="l">
              <a:spcAft>
                <a:spcPts val="0"/>
              </a:spcAft>
            </a:pPr>
            <a:r>
              <a:rPr sz="1000" b="1">
                <a:solidFill>
                  <a:srgbClr val="8A939F"/>
                </a:solidFill>
                <a:latin typeface="Arial"/>
              </a:rPr>
              <a:t>STATION</a:t>
            </a:r>
          </a:p>
        </p:txBody>
      </p:sp>
      <p:sp>
        <p:nvSpPr>
          <p:cNvPr id="7" name="TextBox 6"/>
          <p:cNvSpPr txBox="1"/>
          <p:nvPr/>
        </p:nvSpPr>
        <p:spPr>
          <a:xfrm>
            <a:off x="3520440" y="2240280"/>
            <a:ext cx="1463040" cy="274320"/>
          </a:xfrm>
          <a:prstGeom prst="rect">
            <a:avLst/>
          </a:prstGeom>
          <a:noFill/>
        </p:spPr>
        <p:txBody>
          <a:bodyPr wrap="square" lIns="0" rIns="0" tIns="0" bIns="0">
            <a:spAutoFit/>
          </a:bodyPr>
          <a:lstStyle/>
          <a:p>
            <a:pPr algn="r">
              <a:spcAft>
                <a:spcPts val="0"/>
              </a:spcAft>
            </a:pPr>
            <a:r>
              <a:rPr sz="1000" b="1">
                <a:solidFill>
                  <a:srgbClr val="98252A"/>
                </a:solidFill>
                <a:latin typeface="Arial"/>
              </a:rPr>
              <a:t>BY RUN</a:t>
            </a:r>
          </a:p>
        </p:txBody>
      </p:sp>
      <p:sp>
        <p:nvSpPr>
          <p:cNvPr id="8" name="TextBox 7"/>
          <p:cNvSpPr txBox="1"/>
          <p:nvPr/>
        </p:nvSpPr>
        <p:spPr>
          <a:xfrm>
            <a:off x="5074920" y="2240280"/>
            <a:ext cx="1463040" cy="274320"/>
          </a:xfrm>
          <a:prstGeom prst="rect">
            <a:avLst/>
          </a:prstGeom>
          <a:noFill/>
        </p:spPr>
        <p:txBody>
          <a:bodyPr wrap="square" lIns="0" rIns="0" tIns="0" bIns="0">
            <a:spAutoFit/>
          </a:bodyPr>
          <a:lstStyle/>
          <a:p>
            <a:pPr algn="r">
              <a:spcAft>
                <a:spcPts val="0"/>
              </a:spcAft>
            </a:pPr>
            <a:r>
              <a:rPr sz="1000" b="1">
                <a:solidFill>
                  <a:srgbClr val="0F6B4F"/>
                </a:solidFill>
                <a:latin typeface="Arial"/>
              </a:rPr>
              <a:t>BY UNIT</a:t>
            </a:r>
          </a:p>
        </p:txBody>
      </p:sp>
      <p:sp>
        <p:nvSpPr>
          <p:cNvPr id="9" name="TextBox 8"/>
          <p:cNvSpPr txBox="1"/>
          <p:nvPr/>
        </p:nvSpPr>
        <p:spPr>
          <a:xfrm>
            <a:off x="1143000" y="2606040"/>
            <a:ext cx="2194560" cy="329184"/>
          </a:xfrm>
          <a:prstGeom prst="rect">
            <a:avLst/>
          </a:prstGeom>
          <a:noFill/>
        </p:spPr>
        <p:txBody>
          <a:bodyPr wrap="square" lIns="0" rIns="0" tIns="0" bIns="0">
            <a:spAutoFit/>
          </a:bodyPr>
          <a:lstStyle/>
          <a:p>
            <a:pPr algn="l">
              <a:spcAft>
                <a:spcPts val="0"/>
              </a:spcAft>
            </a:pPr>
            <a:r>
              <a:rPr sz="1500" b="0">
                <a:solidFill>
                  <a:srgbClr val="151A21"/>
                </a:solidFill>
                <a:latin typeface="Arial"/>
              </a:rPr>
              <a:t>MLT</a:t>
            </a:r>
          </a:p>
        </p:txBody>
      </p:sp>
      <p:sp>
        <p:nvSpPr>
          <p:cNvPr id="10" name="TextBox 9"/>
          <p:cNvSpPr txBox="1"/>
          <p:nvPr/>
        </p:nvSpPr>
        <p:spPr>
          <a:xfrm>
            <a:off x="3520440" y="2606040"/>
            <a:ext cx="1463040" cy="329184"/>
          </a:xfrm>
          <a:prstGeom prst="rect">
            <a:avLst/>
          </a:prstGeom>
          <a:noFill/>
        </p:spPr>
        <p:txBody>
          <a:bodyPr wrap="square" lIns="0" rIns="0" tIns="0" bIns="0">
            <a:spAutoFit/>
          </a:bodyPr>
          <a:lstStyle/>
          <a:p>
            <a:pPr algn="r">
              <a:spcAft>
                <a:spcPts val="0"/>
              </a:spcAft>
            </a:pPr>
            <a:r>
              <a:rPr sz="1700" b="1">
                <a:solidFill>
                  <a:srgbClr val="98252A"/>
                </a:solidFill>
                <a:latin typeface="Arial"/>
              </a:rPr>
              <a:t>28.5%</a:t>
            </a:r>
          </a:p>
        </p:txBody>
      </p:sp>
      <p:sp>
        <p:nvSpPr>
          <p:cNvPr id="11" name="TextBox 10"/>
          <p:cNvSpPr txBox="1"/>
          <p:nvPr/>
        </p:nvSpPr>
        <p:spPr>
          <a:xfrm>
            <a:off x="5074920" y="2606040"/>
            <a:ext cx="1463040" cy="329184"/>
          </a:xfrm>
          <a:prstGeom prst="rect">
            <a:avLst/>
          </a:prstGeom>
          <a:noFill/>
        </p:spPr>
        <p:txBody>
          <a:bodyPr wrap="square" lIns="0" rIns="0" tIns="0" bIns="0">
            <a:spAutoFit/>
          </a:bodyPr>
          <a:lstStyle/>
          <a:p>
            <a:pPr algn="r">
              <a:spcAft>
                <a:spcPts val="0"/>
              </a:spcAft>
            </a:pPr>
            <a:r>
              <a:rPr sz="1700" b="1">
                <a:solidFill>
                  <a:srgbClr val="0F6B4F"/>
                </a:solidFill>
                <a:latin typeface="Arial"/>
              </a:rPr>
              <a:t>57.4%</a:t>
            </a:r>
          </a:p>
        </p:txBody>
      </p:sp>
      <p:sp>
        <p:nvSpPr>
          <p:cNvPr id="12" name="TextBox 11"/>
          <p:cNvSpPr txBox="1"/>
          <p:nvPr/>
        </p:nvSpPr>
        <p:spPr>
          <a:xfrm>
            <a:off x="1143000" y="3154680"/>
            <a:ext cx="2194560" cy="329184"/>
          </a:xfrm>
          <a:prstGeom prst="rect">
            <a:avLst/>
          </a:prstGeom>
          <a:noFill/>
        </p:spPr>
        <p:txBody>
          <a:bodyPr wrap="square" lIns="0" rIns="0" tIns="0" bIns="0">
            <a:spAutoFit/>
          </a:bodyPr>
          <a:lstStyle/>
          <a:p>
            <a:pPr algn="l">
              <a:spcAft>
                <a:spcPts val="0"/>
              </a:spcAft>
            </a:pPr>
            <a:r>
              <a:rPr sz="1500" b="0">
                <a:solidFill>
                  <a:srgbClr val="151A21"/>
                </a:solidFill>
                <a:latin typeface="Arial"/>
              </a:rPr>
              <a:t>HTT</a:t>
            </a:r>
          </a:p>
        </p:txBody>
      </p:sp>
      <p:sp>
        <p:nvSpPr>
          <p:cNvPr id="13" name="TextBox 12"/>
          <p:cNvSpPr txBox="1"/>
          <p:nvPr/>
        </p:nvSpPr>
        <p:spPr>
          <a:xfrm>
            <a:off x="3520440" y="3154680"/>
            <a:ext cx="1463040" cy="329184"/>
          </a:xfrm>
          <a:prstGeom prst="rect">
            <a:avLst/>
          </a:prstGeom>
          <a:noFill/>
        </p:spPr>
        <p:txBody>
          <a:bodyPr wrap="square" lIns="0" rIns="0" tIns="0" bIns="0">
            <a:spAutoFit/>
          </a:bodyPr>
          <a:lstStyle/>
          <a:p>
            <a:pPr algn="r">
              <a:spcAft>
                <a:spcPts val="0"/>
              </a:spcAft>
            </a:pPr>
            <a:r>
              <a:rPr sz="1700" b="1">
                <a:solidFill>
                  <a:srgbClr val="98252A"/>
                </a:solidFill>
                <a:latin typeface="Arial"/>
              </a:rPr>
              <a:t>21.9%</a:t>
            </a:r>
          </a:p>
        </p:txBody>
      </p:sp>
      <p:sp>
        <p:nvSpPr>
          <p:cNvPr id="14" name="TextBox 13"/>
          <p:cNvSpPr txBox="1"/>
          <p:nvPr/>
        </p:nvSpPr>
        <p:spPr>
          <a:xfrm>
            <a:off x="5074920" y="3154680"/>
            <a:ext cx="1463040" cy="329184"/>
          </a:xfrm>
          <a:prstGeom prst="rect">
            <a:avLst/>
          </a:prstGeom>
          <a:noFill/>
        </p:spPr>
        <p:txBody>
          <a:bodyPr wrap="square" lIns="0" rIns="0" tIns="0" bIns="0">
            <a:spAutoFit/>
          </a:bodyPr>
          <a:lstStyle/>
          <a:p>
            <a:pPr algn="r">
              <a:spcAft>
                <a:spcPts val="0"/>
              </a:spcAft>
            </a:pPr>
            <a:r>
              <a:rPr sz="1700" b="1">
                <a:solidFill>
                  <a:srgbClr val="0F6B4F"/>
                </a:solidFill>
                <a:latin typeface="Arial"/>
              </a:rPr>
              <a:t>60.7%</a:t>
            </a:r>
          </a:p>
        </p:txBody>
      </p:sp>
      <p:sp>
        <p:nvSpPr>
          <p:cNvPr id="15" name="TextBox 14"/>
          <p:cNvSpPr txBox="1"/>
          <p:nvPr/>
        </p:nvSpPr>
        <p:spPr>
          <a:xfrm>
            <a:off x="1143000" y="3703320"/>
            <a:ext cx="2194560" cy="329184"/>
          </a:xfrm>
          <a:prstGeom prst="rect">
            <a:avLst/>
          </a:prstGeom>
          <a:noFill/>
        </p:spPr>
        <p:txBody>
          <a:bodyPr wrap="square" lIns="0" rIns="0" tIns="0" bIns="0">
            <a:spAutoFit/>
          </a:bodyPr>
          <a:lstStyle/>
          <a:p>
            <a:pPr algn="l">
              <a:spcAft>
                <a:spcPts val="0"/>
              </a:spcAft>
            </a:pPr>
            <a:r>
              <a:rPr sz="1500" b="0">
                <a:solidFill>
                  <a:srgbClr val="151A21"/>
                </a:solidFill>
                <a:latin typeface="Arial"/>
              </a:rPr>
              <a:t>All stations</a:t>
            </a:r>
          </a:p>
        </p:txBody>
      </p:sp>
      <p:sp>
        <p:nvSpPr>
          <p:cNvPr id="16" name="TextBox 15"/>
          <p:cNvSpPr txBox="1"/>
          <p:nvPr/>
        </p:nvSpPr>
        <p:spPr>
          <a:xfrm>
            <a:off x="3520440" y="3703320"/>
            <a:ext cx="1463040" cy="329184"/>
          </a:xfrm>
          <a:prstGeom prst="rect">
            <a:avLst/>
          </a:prstGeom>
          <a:noFill/>
        </p:spPr>
        <p:txBody>
          <a:bodyPr wrap="square" lIns="0" rIns="0" tIns="0" bIns="0">
            <a:spAutoFit/>
          </a:bodyPr>
          <a:lstStyle/>
          <a:p>
            <a:pPr algn="r">
              <a:spcAft>
                <a:spcPts val="0"/>
              </a:spcAft>
            </a:pPr>
            <a:r>
              <a:rPr sz="1700" b="1">
                <a:solidFill>
                  <a:srgbClr val="98252A"/>
                </a:solidFill>
                <a:latin typeface="Arial"/>
              </a:rPr>
              <a:t>35.5%</a:t>
            </a:r>
          </a:p>
        </p:txBody>
      </p:sp>
      <p:sp>
        <p:nvSpPr>
          <p:cNvPr id="17" name="TextBox 16"/>
          <p:cNvSpPr txBox="1"/>
          <p:nvPr/>
        </p:nvSpPr>
        <p:spPr>
          <a:xfrm>
            <a:off x="5074920" y="3703320"/>
            <a:ext cx="1463040" cy="329184"/>
          </a:xfrm>
          <a:prstGeom prst="rect">
            <a:avLst/>
          </a:prstGeom>
          <a:noFill/>
        </p:spPr>
        <p:txBody>
          <a:bodyPr wrap="square" lIns="0" rIns="0" tIns="0" bIns="0">
            <a:spAutoFit/>
          </a:bodyPr>
          <a:lstStyle/>
          <a:p>
            <a:pPr algn="r">
              <a:spcAft>
                <a:spcPts val="0"/>
              </a:spcAft>
            </a:pPr>
            <a:r>
              <a:rPr sz="1700" b="1">
                <a:solidFill>
                  <a:srgbClr val="0F6B4F"/>
                </a:solidFill>
                <a:latin typeface="Arial"/>
              </a:rPr>
              <a:t>57.2%</a:t>
            </a:r>
          </a:p>
        </p:txBody>
      </p:sp>
      <p:sp>
        <p:nvSpPr>
          <p:cNvPr id="18" name="TextBox 17"/>
          <p:cNvSpPr txBox="1"/>
          <p:nvPr/>
        </p:nvSpPr>
        <p:spPr>
          <a:xfrm>
            <a:off x="7178040" y="2011680"/>
            <a:ext cx="4251960" cy="2926080"/>
          </a:xfrm>
          <a:prstGeom prst="rect">
            <a:avLst/>
          </a:prstGeom>
          <a:noFill/>
        </p:spPr>
        <p:txBody>
          <a:bodyPr wrap="square" lIns="0" rIns="0" tIns="0" bIns="0">
            <a:spAutoFit/>
          </a:bodyPr>
          <a:lstStyle/>
          <a:p>
            <a:pPr>
              <a:lnSpc>
                <a:spcPct val="128000"/>
              </a:lnSpc>
              <a:spcAft>
                <a:spcPts val="1200"/>
              </a:spcAft>
            </a:pPr>
            <a:r>
              <a:rPr sz="1600" b="1">
                <a:solidFill>
                  <a:srgbClr val="151A21"/>
                </a:solidFill>
                <a:latin typeface="Arial"/>
              </a:rPr>
              <a:t>A run where one chip fails is one failed run — and seven good units.</a:t>
            </a:r>
          </a:p>
          <a:p>
            <a:pPr>
              <a:lnSpc>
                <a:spcPct val="128000"/>
              </a:lnSpc>
              <a:spcAft>
                <a:spcPts val="1200"/>
              </a:spcAft>
            </a:pPr>
            <a:r>
              <a:rPr sz="1300" b="0">
                <a:solidFill>
                  <a:srgbClr val="5C6673"/>
                </a:solidFill>
                <a:latin typeface="Arial"/>
              </a:rPr>
              <a:t>Measured on a real run: 492 tests, status </a:t>
            </a:r>
            <a:r>
              <a:rPr sz="1200" b="0">
                <a:solidFill>
                  <a:srgbClr val="5C6673"/>
                </a:solidFill>
                <a:latin typeface="Courier New"/>
              </a:rPr>
              <a:t>fail</a:t>
            </a:r>
            <a:r>
              <a:rPr sz="1300" b="0">
                <a:solidFill>
                  <a:srgbClr val="5C6673"/>
                </a:solidFill>
                <a:latin typeface="Arial"/>
              </a:rPr>
              <a:t>, four chips good and four bad. Read as one failure it understates yield eightfold; read as one pass it hides the escape entirely.</a:t>
            </a:r>
          </a:p>
          <a:p>
            <a:pPr>
              <a:lnSpc>
                <a:spcPct val="128000"/>
              </a:lnSpc>
              <a:spcAft>
                <a:spcPts val="0"/>
              </a:spcAft>
            </a:pPr>
            <a:r>
              <a:rPr sz="1300" b="0">
                <a:solidFill>
                  <a:srgbClr val="5C6673"/>
                </a:solidFill>
                <a:latin typeface="Arial"/>
              </a:rPr>
              <a:t>The station page now shows both numbers side by side, labelled. Neither replaces the other.</a:t>
            </a:r>
          </a:p>
        </p:txBody>
      </p:sp>
      <p:sp>
        <p:nvSpPr>
          <p:cNvPr id="19" name="TextBox 18"/>
          <p:cNvSpPr txBox="1"/>
          <p:nvPr/>
        </p:nvSpPr>
        <p:spPr>
          <a:xfrm>
            <a:off x="777240" y="6327648"/>
            <a:ext cx="10637215" cy="274320"/>
          </a:xfrm>
          <a:prstGeom prst="rect">
            <a:avLst/>
          </a:prstGeom>
          <a:noFill/>
        </p:spPr>
        <p:txBody>
          <a:bodyPr wrap="square" lIns="0" rIns="0" tIns="0" bIns="0">
            <a:spAutoFit/>
          </a:bodyPr>
          <a:lstStyle/>
          <a:p>
            <a:pPr algn="l">
              <a:spcAft>
                <a:spcPts val="0"/>
              </a:spcAft>
            </a:pPr>
            <a:r>
              <a:rPr sz="1000" b="0">
                <a:solidFill>
                  <a:srgbClr val="8A939F"/>
                </a:solidFill>
                <a:latin typeface="Arial"/>
              </a:rPr>
              <a:t>This is also why the dashboard and the line’s own tracker appeared to disagree — they were counting different things.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37215" cy="310896"/>
          </a:xfrm>
          <a:prstGeom prst="rect">
            <a:avLst/>
          </a:prstGeom>
          <a:noFill/>
        </p:spPr>
        <p:txBody>
          <a:bodyPr wrap="square" lIns="0" rIns="0" tIns="0" bIns="0">
            <a:spAutoFit/>
          </a:bodyPr>
          <a:lstStyle/>
          <a:p>
            <a:pPr algn="l">
              <a:spcAft>
                <a:spcPts val="0"/>
              </a:spcAft>
            </a:pPr>
            <a:r>
              <a:rPr sz="1100" b="1">
                <a:solidFill>
                  <a:srgbClr val="48607F"/>
                </a:solidFill>
                <a:latin typeface="Arial"/>
              </a:rPr>
              <a:t>WHY IT IS WORTH DOING</a:t>
            </a:r>
          </a:p>
        </p:txBody>
      </p:sp>
      <p:sp>
        <p:nvSpPr>
          <p:cNvPr id="3" name="TextBox 2"/>
          <p:cNvSpPr txBox="1"/>
          <p:nvPr/>
        </p:nvSpPr>
        <p:spPr>
          <a:xfrm>
            <a:off x="777240" y="841248"/>
            <a:ext cx="10637215" cy="566928"/>
          </a:xfrm>
          <a:prstGeom prst="rect">
            <a:avLst/>
          </a:prstGeom>
          <a:noFill/>
        </p:spPr>
        <p:txBody>
          <a:bodyPr wrap="square" lIns="0" rIns="0" tIns="0" bIns="0">
            <a:spAutoFit/>
          </a:bodyPr>
          <a:lstStyle/>
          <a:p>
            <a:pPr algn="l">
              <a:spcAft>
                <a:spcPts val="0"/>
              </a:spcAft>
            </a:pPr>
            <a:r>
              <a:rPr sz="3000" b="1">
                <a:solidFill>
                  <a:srgbClr val="151A21"/>
                </a:solidFill>
                <a:latin typeface="Arial"/>
              </a:rPr>
              <a:t>The tracker does not have to be kept by hand</a:t>
            </a:r>
          </a:p>
        </p:txBody>
      </p:sp>
      <p:sp>
        <p:nvSpPr>
          <p:cNvPr id="4" name="Rectangle 3"/>
          <p:cNvSpPr/>
          <p:nvPr/>
        </p:nvSpPr>
        <p:spPr>
          <a:xfrm>
            <a:off x="777240" y="1536192"/>
            <a:ext cx="1371600" cy="381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920240"/>
            <a:ext cx="10607040" cy="548640"/>
          </a:xfrm>
          <a:prstGeom prst="rect">
            <a:avLst/>
          </a:prstGeom>
          <a:noFill/>
        </p:spPr>
        <p:txBody>
          <a:bodyPr wrap="square" lIns="0" rIns="0" tIns="0" bIns="0">
            <a:spAutoFit/>
          </a:bodyPr>
          <a:lstStyle/>
          <a:p>
            <a:pPr>
              <a:lnSpc>
                <a:spcPct val="125000"/>
              </a:lnSpc>
              <a:spcAft>
                <a:spcPts val="0"/>
              </a:spcAft>
            </a:pPr>
            <a:r>
              <a:rPr sz="1700" b="0">
                <a:solidFill>
                  <a:srgbClr val="151A21"/>
                </a:solidFill>
                <a:latin typeface="Arial"/>
              </a:rPr>
              <a:t>We rebuilt 2026-08-12 — a day the line had already filled in by hand — entirely from the API, and compared it row by row.</a:t>
            </a:r>
          </a:p>
        </p:txBody>
      </p:sp>
      <p:sp>
        <p:nvSpPr>
          <p:cNvPr id="6" name="Rounded Rectangle 5"/>
          <p:cNvSpPr/>
          <p:nvPr/>
        </p:nvSpPr>
        <p:spPr>
          <a:xfrm>
            <a:off x="777240" y="2788920"/>
            <a:ext cx="2514600" cy="1600200"/>
          </a:xfrm>
          <a:prstGeom prst="roundRect">
            <a:avLst>
              <a:gd name="adj" fmla="val 4000"/>
            </a:avLst>
          </a:prstGeom>
          <a:solidFill>
            <a:srgbClr val="E3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5840" y="3063240"/>
            <a:ext cx="2057400" cy="548640"/>
          </a:xfrm>
          <a:prstGeom prst="rect">
            <a:avLst/>
          </a:prstGeom>
          <a:noFill/>
        </p:spPr>
        <p:txBody>
          <a:bodyPr wrap="square" lIns="0" rIns="0" tIns="0" bIns="0">
            <a:spAutoFit/>
          </a:bodyPr>
          <a:lstStyle/>
          <a:p>
            <a:pPr algn="l">
              <a:spcAft>
                <a:spcPts val="0"/>
              </a:spcAft>
            </a:pPr>
            <a:r>
              <a:rPr sz="3000" b="1">
                <a:solidFill>
                  <a:srgbClr val="0F6B4F"/>
                </a:solidFill>
                <a:latin typeface="Arial"/>
              </a:rPr>
              <a:t>51 / 51</a:t>
            </a:r>
          </a:p>
        </p:txBody>
      </p:sp>
      <p:sp>
        <p:nvSpPr>
          <p:cNvPr id="8" name="TextBox 7"/>
          <p:cNvSpPr txBox="1"/>
          <p:nvPr/>
        </p:nvSpPr>
        <p:spPr>
          <a:xfrm>
            <a:off x="1005840" y="3657600"/>
            <a:ext cx="2057400" cy="640080"/>
          </a:xfrm>
          <a:prstGeom prst="rect">
            <a:avLst/>
          </a:prstGeom>
          <a:noFill/>
        </p:spPr>
        <p:txBody>
          <a:bodyPr wrap="square" lIns="0" rIns="0" tIns="0" bIns="0">
            <a:spAutoFit/>
          </a:bodyPr>
          <a:lstStyle/>
          <a:p>
            <a:pPr algn="l">
              <a:lnSpc>
                <a:spcPct val="120000"/>
              </a:lnSpc>
              <a:spcAft>
                <a:spcPts val="0"/>
              </a:spcAft>
            </a:pPr>
            <a:r>
              <a:rPr sz="1150" b="0">
                <a:solidFill>
                  <a:srgbClr val="5C6673"/>
                </a:solidFill>
                <a:latin typeface="Arial"/>
              </a:rPr>
              <a:t>units matched
none missing either side</a:t>
            </a:r>
          </a:p>
        </p:txBody>
      </p:sp>
      <p:sp>
        <p:nvSpPr>
          <p:cNvPr id="9" name="Rounded Rectangle 8"/>
          <p:cNvSpPr/>
          <p:nvPr/>
        </p:nvSpPr>
        <p:spPr>
          <a:xfrm>
            <a:off x="3429000" y="2788920"/>
            <a:ext cx="2514600" cy="1600200"/>
          </a:xfrm>
          <a:prstGeom prst="roundRect">
            <a:avLst>
              <a:gd name="adj" fmla="val 4000"/>
            </a:avLst>
          </a:prstGeom>
          <a:solidFill>
            <a:srgbClr val="E3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657600" y="3063240"/>
            <a:ext cx="2057400" cy="548640"/>
          </a:xfrm>
          <a:prstGeom prst="rect">
            <a:avLst/>
          </a:prstGeom>
          <a:noFill/>
        </p:spPr>
        <p:txBody>
          <a:bodyPr wrap="square" lIns="0" rIns="0" tIns="0" bIns="0">
            <a:spAutoFit/>
          </a:bodyPr>
          <a:lstStyle/>
          <a:p>
            <a:pPr algn="l">
              <a:spcAft>
                <a:spcPts val="0"/>
              </a:spcAft>
            </a:pPr>
            <a:r>
              <a:rPr sz="3000" b="1">
                <a:solidFill>
                  <a:srgbClr val="0F6B4F"/>
                </a:solidFill>
                <a:latin typeface="Arial"/>
              </a:rPr>
              <a:t>92</a:t>
            </a:r>
          </a:p>
        </p:txBody>
      </p:sp>
      <p:sp>
        <p:nvSpPr>
          <p:cNvPr id="11" name="TextBox 10"/>
          <p:cNvSpPr txBox="1"/>
          <p:nvPr/>
        </p:nvSpPr>
        <p:spPr>
          <a:xfrm>
            <a:off x="3657600" y="3657600"/>
            <a:ext cx="2057400" cy="640080"/>
          </a:xfrm>
          <a:prstGeom prst="rect">
            <a:avLst/>
          </a:prstGeom>
          <a:noFill/>
        </p:spPr>
        <p:txBody>
          <a:bodyPr wrap="square" lIns="0" rIns="0" tIns="0" bIns="0">
            <a:spAutoFit/>
          </a:bodyPr>
          <a:lstStyle/>
          <a:p>
            <a:pPr algn="l">
              <a:lnSpc>
                <a:spcPct val="120000"/>
              </a:lnSpc>
              <a:spcAft>
                <a:spcPts val="0"/>
              </a:spcAft>
            </a:pPr>
            <a:r>
              <a:rPr sz="1150" b="0">
                <a:solidFill>
                  <a:srgbClr val="5C6673"/>
                </a:solidFill>
                <a:latin typeface="Arial"/>
              </a:rPr>
              <a:t>verdicts compared</a:t>
            </a:r>
          </a:p>
        </p:txBody>
      </p:sp>
      <p:sp>
        <p:nvSpPr>
          <p:cNvPr id="12" name="Rounded Rectangle 11"/>
          <p:cNvSpPr/>
          <p:nvPr/>
        </p:nvSpPr>
        <p:spPr>
          <a:xfrm>
            <a:off x="6080760" y="2788920"/>
            <a:ext cx="2514600" cy="1600200"/>
          </a:xfrm>
          <a:prstGeom prst="roundRect">
            <a:avLst>
              <a:gd name="adj" fmla="val 4000"/>
            </a:avLst>
          </a:prstGeom>
          <a:solidFill>
            <a:srgbClr val="E3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309360" y="3063240"/>
            <a:ext cx="2057400" cy="548640"/>
          </a:xfrm>
          <a:prstGeom prst="rect">
            <a:avLst/>
          </a:prstGeom>
          <a:noFill/>
        </p:spPr>
        <p:txBody>
          <a:bodyPr wrap="square" lIns="0" rIns="0" tIns="0" bIns="0">
            <a:spAutoFit/>
          </a:bodyPr>
          <a:lstStyle/>
          <a:p>
            <a:pPr algn="l">
              <a:spcAft>
                <a:spcPts val="0"/>
              </a:spcAft>
            </a:pPr>
            <a:r>
              <a:rPr sz="3000" b="1">
                <a:solidFill>
                  <a:srgbClr val="0F6B4F"/>
                </a:solidFill>
                <a:latin typeface="Arial"/>
              </a:rPr>
              <a:t>0</a:t>
            </a:r>
          </a:p>
        </p:txBody>
      </p:sp>
      <p:sp>
        <p:nvSpPr>
          <p:cNvPr id="14" name="TextBox 13"/>
          <p:cNvSpPr txBox="1"/>
          <p:nvPr/>
        </p:nvSpPr>
        <p:spPr>
          <a:xfrm>
            <a:off x="6309360" y="3657600"/>
            <a:ext cx="2057400" cy="640080"/>
          </a:xfrm>
          <a:prstGeom prst="rect">
            <a:avLst/>
          </a:prstGeom>
          <a:noFill/>
        </p:spPr>
        <p:txBody>
          <a:bodyPr wrap="square" lIns="0" rIns="0" tIns="0" bIns="0">
            <a:spAutoFit/>
          </a:bodyPr>
          <a:lstStyle/>
          <a:p>
            <a:pPr algn="l">
              <a:lnSpc>
                <a:spcPct val="120000"/>
              </a:lnSpc>
              <a:spcAft>
                <a:spcPts val="0"/>
              </a:spcAft>
            </a:pPr>
            <a:r>
              <a:rPr sz="1150" b="0">
                <a:solidFill>
                  <a:srgbClr val="5C6673"/>
                </a:solidFill>
                <a:latin typeface="Arial"/>
              </a:rPr>
              <a:t>disagreements</a:t>
            </a:r>
          </a:p>
        </p:txBody>
      </p:sp>
      <p:sp>
        <p:nvSpPr>
          <p:cNvPr id="15" name="Rounded Rectangle 14"/>
          <p:cNvSpPr/>
          <p:nvPr/>
        </p:nvSpPr>
        <p:spPr>
          <a:xfrm>
            <a:off x="8732520" y="2788920"/>
            <a:ext cx="2514600" cy="1600200"/>
          </a:xfrm>
          <a:prstGeom prst="roundRect">
            <a:avLst>
              <a:gd name="adj" fmla="val 4000"/>
            </a:avLst>
          </a:prstGeom>
          <a:solidFill>
            <a:srgbClr val="E3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961120" y="3063240"/>
            <a:ext cx="2057400" cy="548640"/>
          </a:xfrm>
          <a:prstGeom prst="rect">
            <a:avLst/>
          </a:prstGeom>
          <a:noFill/>
        </p:spPr>
        <p:txBody>
          <a:bodyPr wrap="square" lIns="0" rIns="0" tIns="0" bIns="0">
            <a:spAutoFit/>
          </a:bodyPr>
          <a:lstStyle/>
          <a:p>
            <a:pPr algn="l">
              <a:spcAft>
                <a:spcPts val="0"/>
              </a:spcAft>
            </a:pPr>
            <a:r>
              <a:rPr sz="3000" b="1">
                <a:solidFill>
                  <a:srgbClr val="0F6B4F"/>
                </a:solidFill>
                <a:latin typeface="Arial"/>
              </a:rPr>
              <a:t>14</a:t>
            </a:r>
          </a:p>
        </p:txBody>
      </p:sp>
      <p:sp>
        <p:nvSpPr>
          <p:cNvPr id="17" name="TextBox 16"/>
          <p:cNvSpPr txBox="1"/>
          <p:nvPr/>
        </p:nvSpPr>
        <p:spPr>
          <a:xfrm>
            <a:off x="8961120" y="3657600"/>
            <a:ext cx="2057400" cy="640080"/>
          </a:xfrm>
          <a:prstGeom prst="rect">
            <a:avLst/>
          </a:prstGeom>
          <a:noFill/>
        </p:spPr>
        <p:txBody>
          <a:bodyPr wrap="square" lIns="0" rIns="0" tIns="0" bIns="0">
            <a:spAutoFit/>
          </a:bodyPr>
          <a:lstStyle/>
          <a:p>
            <a:pPr algn="l">
              <a:lnSpc>
                <a:spcPct val="120000"/>
              </a:lnSpc>
              <a:spcAft>
                <a:spcPts val="0"/>
              </a:spcAft>
            </a:pPr>
            <a:r>
              <a:rPr sz="1150" b="0">
                <a:solidFill>
                  <a:srgbClr val="5C6673"/>
                </a:solidFill>
                <a:latin typeface="Arial"/>
              </a:rPr>
              <a:t>suite runs — the same
ones the sheet cites</a:t>
            </a:r>
          </a:p>
        </p:txBody>
      </p:sp>
      <p:sp>
        <p:nvSpPr>
          <p:cNvPr id="18" name="TextBox 17"/>
          <p:cNvSpPr txBox="1"/>
          <p:nvPr/>
        </p:nvSpPr>
        <p:spPr>
          <a:xfrm>
            <a:off x="777240" y="4754880"/>
            <a:ext cx="10607040" cy="1188720"/>
          </a:xfrm>
          <a:prstGeom prst="rect">
            <a:avLst/>
          </a:prstGeom>
          <a:noFill/>
        </p:spPr>
        <p:txBody>
          <a:bodyPr wrap="square" lIns="0" rIns="0" tIns="0" bIns="0">
            <a:spAutoFit/>
          </a:bodyPr>
          <a:lstStyle/>
          <a:p>
            <a:pPr>
              <a:lnSpc>
                <a:spcPct val="128000"/>
              </a:lnSpc>
              <a:spcAft>
                <a:spcPts val="800"/>
              </a:spcAft>
            </a:pPr>
            <a:r>
              <a:rPr sz="1500" b="1">
                <a:solidFill>
                  <a:srgbClr val="151A21"/>
                </a:solidFill>
                <a:latin typeface="Arial"/>
              </a:rPr>
              <a:t>Serial for serial, verdict for verdict — including the failing test-case names typed in by hand.</a:t>
            </a:r>
          </a:p>
          <a:p>
            <a:pPr>
              <a:lnSpc>
                <a:spcPct val="128000"/>
              </a:lnSpc>
              <a:spcAft>
                <a:spcPts val="0"/>
              </a:spcAft>
            </a:pPr>
            <a:r>
              <a:rPr sz="1400" b="0">
                <a:solidFill>
                  <a:srgbClr val="5C6673"/>
                </a:solidFill>
                <a:latin typeface="Arial"/>
              </a:rPr>
              <a:t>Once the P0 route exists, the daily tracker builds itself every hour and nobody transcribes anything. That is the whole case for the two infra asks.</a:t>
            </a:r>
          </a:p>
        </p:txBody>
      </p:sp>
      <p:sp>
        <p:nvSpPr>
          <p:cNvPr id="19" name="TextBox 18"/>
          <p:cNvSpPr txBox="1"/>
          <p:nvPr/>
        </p:nvSpPr>
        <p:spPr>
          <a:xfrm>
            <a:off x="777240" y="6327648"/>
            <a:ext cx="10637215" cy="274320"/>
          </a:xfrm>
          <a:prstGeom prst="rect">
            <a:avLst/>
          </a:prstGeom>
          <a:noFill/>
        </p:spPr>
        <p:txBody>
          <a:bodyPr wrap="square" lIns="0" rIns="0" tIns="0" bIns="0">
            <a:spAutoFit/>
          </a:bodyPr>
          <a:lstStyle/>
          <a:p>
            <a:pPr algn="l">
              <a:spcAft>
                <a:spcPts val="0"/>
              </a:spcAft>
            </a:pPr>
            <a:r>
              <a:rPr sz="1000" b="0">
                <a:solidFill>
                  <a:srgbClr val="8A939F"/>
                </a:solidFill>
                <a:latin typeface="Arial"/>
              </a:rPr>
              <a:t>The same method rebuilds any day, including today — 08-13 is already on the site.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37215" cy="310896"/>
          </a:xfrm>
          <a:prstGeom prst="rect">
            <a:avLst/>
          </a:prstGeom>
          <a:noFill/>
        </p:spPr>
        <p:txBody>
          <a:bodyPr wrap="square" lIns="0" rIns="0" tIns="0" bIns="0">
            <a:spAutoFit/>
          </a:bodyPr>
          <a:lstStyle/>
          <a:p>
            <a:pPr algn="l">
              <a:spcAft>
                <a:spcPts val="0"/>
              </a:spcAft>
            </a:pPr>
            <a:r>
              <a:rPr sz="1100" b="1">
                <a:solidFill>
                  <a:srgbClr val="48607F"/>
                </a:solidFill>
                <a:latin typeface="Arial"/>
              </a:rPr>
              <a:t>NOT ENGINEERING</a:t>
            </a:r>
          </a:p>
        </p:txBody>
      </p:sp>
      <p:sp>
        <p:nvSpPr>
          <p:cNvPr id="3" name="TextBox 2"/>
          <p:cNvSpPr txBox="1"/>
          <p:nvPr/>
        </p:nvSpPr>
        <p:spPr>
          <a:xfrm>
            <a:off x="777240" y="841248"/>
            <a:ext cx="10637215" cy="566928"/>
          </a:xfrm>
          <a:prstGeom prst="rect">
            <a:avLst/>
          </a:prstGeom>
          <a:noFill/>
        </p:spPr>
        <p:txBody>
          <a:bodyPr wrap="square" lIns="0" rIns="0" tIns="0" bIns="0">
            <a:spAutoFit/>
          </a:bodyPr>
          <a:lstStyle/>
          <a:p>
            <a:pPr algn="l">
              <a:spcAft>
                <a:spcPts val="0"/>
              </a:spcAft>
            </a:pPr>
            <a:r>
              <a:rPr sz="3000" b="1">
                <a:solidFill>
                  <a:srgbClr val="151A21"/>
                </a:solidFill>
                <a:latin typeface="Arial"/>
              </a:rPr>
              <a:t>Two decisions the team has to make</a:t>
            </a:r>
          </a:p>
        </p:txBody>
      </p:sp>
      <p:sp>
        <p:nvSpPr>
          <p:cNvPr id="4" name="Rectangle 3"/>
          <p:cNvSpPr/>
          <p:nvPr/>
        </p:nvSpPr>
        <p:spPr>
          <a:xfrm>
            <a:off x="777240" y="1536192"/>
            <a:ext cx="1371600" cy="381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965960"/>
            <a:ext cx="5257800" cy="3017520"/>
          </a:xfrm>
          <a:prstGeom prst="roundRect">
            <a:avLst>
              <a:gd name="adj" fmla="val 4000"/>
            </a:avLst>
          </a:prstGeom>
          <a:solidFill>
            <a:srgbClr val="FFFFFF"/>
          </a:solidFill>
          <a:ln w="12700">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69848" y="2240280"/>
            <a:ext cx="4663440" cy="2560320"/>
          </a:xfrm>
          <a:prstGeom prst="rect">
            <a:avLst/>
          </a:prstGeom>
          <a:noFill/>
        </p:spPr>
        <p:txBody>
          <a:bodyPr wrap="square" lIns="0" rIns="0" tIns="0" bIns="0">
            <a:spAutoFit/>
          </a:bodyPr>
          <a:lstStyle/>
          <a:p>
            <a:pPr algn="l">
              <a:spcAft>
                <a:spcPts val="1200"/>
              </a:spcAft>
            </a:pPr>
            <a:r>
              <a:rPr sz="1700" b="1">
                <a:solidFill>
                  <a:srgbClr val="151A21"/>
                </a:solidFill>
                <a:latin typeface="Arial"/>
              </a:rPr>
              <a:t>Does the dashboard replace the sheet?</a:t>
            </a:r>
          </a:p>
          <a:p>
            <a:pPr>
              <a:lnSpc>
                <a:spcPct val="128000"/>
              </a:lnSpc>
              <a:spcAft>
                <a:spcPts val="1000"/>
              </a:spcAft>
            </a:pPr>
            <a:r>
              <a:rPr sz="1300" b="0">
                <a:solidFill>
                  <a:srgbClr val="151A21"/>
                </a:solidFill>
                <a:latin typeface="Arial"/>
              </a:rPr>
              <a:t>We can reproduce it exactly. But the sheet covers </a:t>
            </a:r>
            <a:r>
              <a:rPr sz="1300" b="1">
                <a:solidFill>
                  <a:srgbClr val="151A21"/>
                </a:solidFill>
                <a:latin typeface="Arial"/>
              </a:rPr>
              <a:t>14 of 118</a:t>
            </a:r>
            <a:r>
              <a:rPr sz="1300" b="0">
                <a:solidFill>
                  <a:srgbClr val="151A21"/>
                </a:solidFill>
                <a:latin typeface="Arial"/>
              </a:rPr>
              <a:t> suite runs on a given day, and nothing in the data says which 14 — same suites, same stations, same serial family.</a:t>
            </a:r>
          </a:p>
          <a:p>
            <a:pPr>
              <a:lnSpc>
                <a:spcPct val="128000"/>
              </a:lnSpc>
              <a:spcAft>
                <a:spcPts val="0"/>
              </a:spcAft>
            </a:pPr>
            <a:r>
              <a:rPr sz="1300" b="0">
                <a:solidFill>
                  <a:srgbClr val="5C6673"/>
                </a:solidFill>
                <a:latin typeface="Arial"/>
              </a:rPr>
              <a:t>Either the line states the selection rule, or the dashboard shows every run and the sheet retires.</a:t>
            </a:r>
          </a:p>
        </p:txBody>
      </p:sp>
      <p:sp>
        <p:nvSpPr>
          <p:cNvPr id="7" name="Rounded Rectangle 6"/>
          <p:cNvSpPr/>
          <p:nvPr/>
        </p:nvSpPr>
        <p:spPr>
          <a:xfrm>
            <a:off x="6309359" y="1965960"/>
            <a:ext cx="5120640" cy="3017520"/>
          </a:xfrm>
          <a:prstGeom prst="roundRect">
            <a:avLst>
              <a:gd name="adj" fmla="val 4000"/>
            </a:avLst>
          </a:prstGeom>
          <a:solidFill>
            <a:srgbClr val="FFFFFF"/>
          </a:solidFill>
          <a:ln w="12700">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601968" y="2240280"/>
            <a:ext cx="4526280" cy="2560320"/>
          </a:xfrm>
          <a:prstGeom prst="rect">
            <a:avLst/>
          </a:prstGeom>
          <a:noFill/>
        </p:spPr>
        <p:txBody>
          <a:bodyPr wrap="square" lIns="0" rIns="0" tIns="0" bIns="0">
            <a:spAutoFit/>
          </a:bodyPr>
          <a:lstStyle/>
          <a:p>
            <a:pPr algn="l">
              <a:spcAft>
                <a:spcPts val="1200"/>
              </a:spcAft>
            </a:pPr>
            <a:r>
              <a:rPr sz="1700" b="1">
                <a:solidFill>
                  <a:srgbClr val="151A21"/>
                </a:solidFill>
                <a:latin typeface="Arial"/>
              </a:rPr>
              <a:t>Should the site require a login?</a:t>
            </a:r>
          </a:p>
          <a:p>
            <a:pPr>
              <a:lnSpc>
                <a:spcPct val="128000"/>
              </a:lnSpc>
              <a:spcAft>
                <a:spcPts val="1000"/>
              </a:spcAft>
            </a:pPr>
            <a:r>
              <a:rPr sz="1300" b="0">
                <a:solidFill>
                  <a:srgbClr val="151A21"/>
                </a:solidFill>
                <a:latin typeface="Arial"/>
              </a:rPr>
              <a:t>Anyone on the office network or VPN can read DUT serials, failure signatures and yield.</a:t>
            </a:r>
          </a:p>
          <a:p>
            <a:pPr>
              <a:lnSpc>
                <a:spcPct val="128000"/>
              </a:lnSpc>
              <a:spcAft>
                <a:spcPts val="0"/>
              </a:spcAft>
            </a:pPr>
            <a:r>
              <a:rPr sz="1300" b="0">
                <a:solidFill>
                  <a:srgbClr val="5C6673"/>
                </a:solidFill>
                <a:latin typeface="Arial"/>
              </a:rPr>
              <a:t>The GitHub Pages copy it replaced required an authenticated Etched org member. That loosening fell out of the move to an internal host — nobody actually chose it.</a:t>
            </a:r>
          </a:p>
        </p:txBody>
      </p:sp>
      <p:sp>
        <p:nvSpPr>
          <p:cNvPr id="9" name="TextBox 8"/>
          <p:cNvSpPr txBox="1"/>
          <p:nvPr/>
        </p:nvSpPr>
        <p:spPr>
          <a:xfrm>
            <a:off x="777240" y="6327648"/>
            <a:ext cx="10637215" cy="274320"/>
          </a:xfrm>
          <a:prstGeom prst="rect">
            <a:avLst/>
          </a:prstGeom>
          <a:noFill/>
        </p:spPr>
        <p:txBody>
          <a:bodyPr wrap="square" lIns="0" rIns="0" tIns="0" bIns="0">
            <a:spAutoFit/>
          </a:bodyPr>
          <a:lstStyle/>
          <a:p>
            <a:pPr algn="l">
              <a:spcAft>
                <a:spcPts val="0"/>
              </a:spcAft>
            </a:pPr>
            <a:r>
              <a:rPr sz="1000" b="0">
                <a:solidFill>
                  <a:srgbClr val="8A939F"/>
                </a:solidFill>
                <a:latin typeface="Arial"/>
              </a:rPr>
              <a:t>Both are quick to implement once decided; neither is blocked on us.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37215" cy="310896"/>
          </a:xfrm>
          <a:prstGeom prst="rect">
            <a:avLst/>
          </a:prstGeom>
          <a:noFill/>
        </p:spPr>
        <p:txBody>
          <a:bodyPr wrap="square" lIns="0" rIns="0" tIns="0" bIns="0">
            <a:spAutoFit/>
          </a:bodyPr>
          <a:lstStyle/>
          <a:p>
            <a:pPr algn="l">
              <a:spcAft>
                <a:spcPts val="0"/>
              </a:spcAft>
            </a:pPr>
            <a:r>
              <a:rPr sz="1100" b="1">
                <a:solidFill>
                  <a:srgbClr val="48607F"/>
                </a:solidFill>
                <a:latin typeface="Arial"/>
              </a:rPr>
              <a:t>WORTH FLAGGING</a:t>
            </a:r>
          </a:p>
        </p:txBody>
      </p:sp>
      <p:sp>
        <p:nvSpPr>
          <p:cNvPr id="3" name="TextBox 2"/>
          <p:cNvSpPr txBox="1"/>
          <p:nvPr/>
        </p:nvSpPr>
        <p:spPr>
          <a:xfrm>
            <a:off x="777240" y="841248"/>
            <a:ext cx="10637215" cy="566928"/>
          </a:xfrm>
          <a:prstGeom prst="rect">
            <a:avLst/>
          </a:prstGeom>
          <a:noFill/>
        </p:spPr>
        <p:txBody>
          <a:bodyPr wrap="square" lIns="0" rIns="0" tIns="0" bIns="0">
            <a:spAutoFit/>
          </a:bodyPr>
          <a:lstStyle/>
          <a:p>
            <a:pPr algn="l">
              <a:spcAft>
                <a:spcPts val="0"/>
              </a:spcAft>
            </a:pPr>
            <a:r>
              <a:rPr sz="3000" b="1">
                <a:solidFill>
                  <a:srgbClr val="151A21"/>
                </a:solidFill>
                <a:latin typeface="Arial"/>
              </a:rPr>
              <a:t>Three things found along the way</a:t>
            </a:r>
          </a:p>
        </p:txBody>
      </p:sp>
      <p:sp>
        <p:nvSpPr>
          <p:cNvPr id="4" name="Rectangle 3"/>
          <p:cNvSpPr/>
          <p:nvPr/>
        </p:nvSpPr>
        <p:spPr>
          <a:xfrm>
            <a:off x="777240" y="1536192"/>
            <a:ext cx="1371600" cy="381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011680"/>
            <a:ext cx="44450" cy="1051560"/>
          </a:xfrm>
          <a:prstGeom prst="rect">
            <a:avLst/>
          </a:prstGeom>
          <a:solidFill>
            <a:srgbClr val="9825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2029968"/>
            <a:ext cx="2148840" cy="365760"/>
          </a:xfrm>
          <a:prstGeom prst="rect">
            <a:avLst/>
          </a:prstGeom>
          <a:noFill/>
        </p:spPr>
        <p:txBody>
          <a:bodyPr wrap="square" lIns="0" rIns="0" tIns="0" bIns="0">
            <a:spAutoFit/>
          </a:bodyPr>
          <a:lstStyle/>
          <a:p>
            <a:pPr algn="l">
              <a:spcAft>
                <a:spcPts val="0"/>
              </a:spcAft>
            </a:pPr>
            <a:r>
              <a:rPr sz="1100" b="1">
                <a:solidFill>
                  <a:srgbClr val="98252A"/>
                </a:solidFill>
                <a:latin typeface="Arial"/>
              </a:rPr>
              <a:t>SECURITY</a:t>
            </a:r>
          </a:p>
        </p:txBody>
      </p:sp>
      <p:sp>
        <p:nvSpPr>
          <p:cNvPr id="7" name="TextBox 6"/>
          <p:cNvSpPr txBox="1"/>
          <p:nvPr/>
        </p:nvSpPr>
        <p:spPr>
          <a:xfrm>
            <a:off x="3291840" y="2011680"/>
            <a:ext cx="8092440" cy="1005840"/>
          </a:xfrm>
          <a:prstGeom prst="rect">
            <a:avLst/>
          </a:prstGeom>
          <a:noFill/>
        </p:spPr>
        <p:txBody>
          <a:bodyPr wrap="square" lIns="0" rIns="0" tIns="0" bIns="0">
            <a:spAutoFit/>
          </a:bodyPr>
          <a:lstStyle/>
          <a:p>
            <a:pPr algn="l">
              <a:lnSpc>
                <a:spcPct val="130000"/>
              </a:lnSpc>
              <a:spcAft>
                <a:spcPts val="0"/>
              </a:spcAft>
            </a:pPr>
            <a:r>
              <a:rPr sz="1350" b="0">
                <a:solidFill>
                  <a:srgbClr val="5C6673"/>
                </a:solidFill>
                <a:latin typeface="Arial"/>
              </a:rPr>
              <a:t>resource_config artifacts contain plaintext SSH and BMC credentials for the DUT. Anyone with an EOS API key can read them. This pipeline never fetches that role, but the exposure is real.</a:t>
            </a:r>
          </a:p>
        </p:txBody>
      </p:sp>
      <p:sp>
        <p:nvSpPr>
          <p:cNvPr id="8" name="Rectangle 7"/>
          <p:cNvSpPr/>
          <p:nvPr/>
        </p:nvSpPr>
        <p:spPr>
          <a:xfrm>
            <a:off x="777240" y="3337560"/>
            <a:ext cx="44450" cy="105156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3355848"/>
            <a:ext cx="2148840" cy="365760"/>
          </a:xfrm>
          <a:prstGeom prst="rect">
            <a:avLst/>
          </a:prstGeom>
          <a:noFill/>
        </p:spPr>
        <p:txBody>
          <a:bodyPr wrap="square" lIns="0" rIns="0" tIns="0" bIns="0">
            <a:spAutoFit/>
          </a:bodyPr>
          <a:lstStyle/>
          <a:p>
            <a:pPr algn="l">
              <a:spcAft>
                <a:spcPts val="0"/>
              </a:spcAft>
            </a:pPr>
            <a:r>
              <a:rPr sz="1100" b="1">
                <a:solidFill>
                  <a:srgbClr val="8A5A00"/>
                </a:solidFill>
                <a:latin typeface="Arial"/>
              </a:rPr>
              <a:t>HTT 2026.224</a:t>
            </a:r>
          </a:p>
        </p:txBody>
      </p:sp>
      <p:sp>
        <p:nvSpPr>
          <p:cNvPr id="10" name="TextBox 9"/>
          <p:cNvSpPr txBox="1"/>
          <p:nvPr/>
        </p:nvSpPr>
        <p:spPr>
          <a:xfrm>
            <a:off x="3291840" y="3337560"/>
            <a:ext cx="8092440" cy="1005840"/>
          </a:xfrm>
          <a:prstGeom prst="rect">
            <a:avLst/>
          </a:prstGeom>
          <a:noFill/>
        </p:spPr>
        <p:txBody>
          <a:bodyPr wrap="square" lIns="0" rIns="0" tIns="0" bIns="0">
            <a:spAutoFit/>
          </a:bodyPr>
          <a:lstStyle/>
          <a:p>
            <a:pPr algn="l">
              <a:lnSpc>
                <a:spcPct val="130000"/>
              </a:lnSpc>
              <a:spcAft>
                <a:spcPts val="0"/>
              </a:spcAft>
            </a:pPr>
            <a:r>
              <a:rPr sz="1350" b="0">
                <a:solidFill>
                  <a:srgbClr val="5C6673"/>
                </a:solidFill>
                <a:latin typeface="Arial"/>
              </a:rPr>
              <a:t>Shipped the evening of 08-12. The next day’s HTT unit yield is 0% — 0 passed, 13 failed. Matches ETCH-38925: “looks across board with the new release.”</a:t>
            </a:r>
          </a:p>
        </p:txBody>
      </p:sp>
      <p:sp>
        <p:nvSpPr>
          <p:cNvPr id="11" name="Rectangle 10"/>
          <p:cNvSpPr/>
          <p:nvPr/>
        </p:nvSpPr>
        <p:spPr>
          <a:xfrm>
            <a:off x="777240" y="4663440"/>
            <a:ext cx="44450" cy="10515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1" y="4681728"/>
            <a:ext cx="2148840" cy="365760"/>
          </a:xfrm>
          <a:prstGeom prst="rect">
            <a:avLst/>
          </a:prstGeom>
          <a:noFill/>
        </p:spPr>
        <p:txBody>
          <a:bodyPr wrap="square" lIns="0" rIns="0" tIns="0" bIns="0">
            <a:spAutoFit/>
          </a:bodyPr>
          <a:lstStyle/>
          <a:p>
            <a:pPr algn="l">
              <a:spcAft>
                <a:spcPts val="0"/>
              </a:spcAft>
            </a:pPr>
            <a:r>
              <a:rPr sz="1100" b="1">
                <a:solidFill>
                  <a:srgbClr val="1E3A5F"/>
                </a:solidFill>
                <a:latin typeface="Arial"/>
              </a:rPr>
              <a:t>VERSION MISMATCH</a:t>
            </a:r>
          </a:p>
        </p:txBody>
      </p:sp>
      <p:sp>
        <p:nvSpPr>
          <p:cNvPr id="13" name="TextBox 12"/>
          <p:cNvSpPr txBox="1"/>
          <p:nvPr/>
        </p:nvSpPr>
        <p:spPr>
          <a:xfrm>
            <a:off x="3291840" y="4663440"/>
            <a:ext cx="8092440" cy="1005840"/>
          </a:xfrm>
          <a:prstGeom prst="rect">
            <a:avLst/>
          </a:prstGeom>
          <a:noFill/>
        </p:spPr>
        <p:txBody>
          <a:bodyPr wrap="square" lIns="0" rIns="0" tIns="0" bIns="0">
            <a:spAutoFit/>
          </a:bodyPr>
          <a:lstStyle/>
          <a:p>
            <a:pPr algn="l">
              <a:lnSpc>
                <a:spcPct val="130000"/>
              </a:lnSpc>
              <a:spcAft>
                <a:spcPts val="0"/>
              </a:spcAft>
            </a:pPr>
            <a:r>
              <a:rPr sz="1350" b="0">
                <a:solidFill>
                  <a:srgbClr val="5C6673"/>
                </a:solidFill>
                <a:latin typeface="Arial"/>
              </a:rPr>
              <a:t>The tracker and pega3 record HTT as htt_2026.217 on 08-11/08-12. EOS records htt_2026.216 and has no 2026.217 run anywhere in 30 days. MLT agrees exactly.</a:t>
            </a:r>
          </a:p>
        </p:txBody>
      </p:sp>
      <p:sp>
        <p:nvSpPr>
          <p:cNvPr id="14" name="TextBox 13"/>
          <p:cNvSpPr txBox="1"/>
          <p:nvPr/>
        </p:nvSpPr>
        <p:spPr>
          <a:xfrm>
            <a:off x="777240" y="6327648"/>
            <a:ext cx="10637215" cy="274320"/>
          </a:xfrm>
          <a:prstGeom prst="rect">
            <a:avLst/>
          </a:prstGeom>
          <a:noFill/>
        </p:spPr>
        <p:txBody>
          <a:bodyPr wrap="square" lIns="0" rIns="0" tIns="0" bIns="0">
            <a:spAutoFit/>
          </a:bodyPr>
          <a:lstStyle/>
          <a:p>
            <a:pPr algn="l">
              <a:spcAft>
                <a:spcPts val="0"/>
              </a:spcAft>
            </a:pPr>
            <a:r>
              <a:rPr sz="1000" b="0">
                <a:solidFill>
                  <a:srgbClr val="8A939F"/>
                </a:solidFill>
                <a:latin typeface="Arial"/>
              </a:rPr>
              <a:t>None of these block automation; all three are worth an owner.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868680"/>
            <a:ext cx="10607040" cy="365760"/>
          </a:xfrm>
          <a:prstGeom prst="rect">
            <a:avLst/>
          </a:prstGeom>
          <a:noFill/>
        </p:spPr>
        <p:txBody>
          <a:bodyPr wrap="square" lIns="0" rIns="0" tIns="0" bIns="0">
            <a:spAutoFit/>
          </a:bodyPr>
          <a:lstStyle/>
          <a:p>
            <a:pPr algn="l">
              <a:spcAft>
                <a:spcPts val="0"/>
              </a:spcAft>
            </a:pPr>
            <a:r>
              <a:rPr sz="1300" b="1">
                <a:solidFill>
                  <a:srgbClr val="9FB8D6"/>
                </a:solidFill>
                <a:latin typeface="Arial"/>
              </a:rPr>
              <a:t>THE ASK</a:t>
            </a:r>
          </a:p>
        </p:txBody>
      </p:sp>
      <p:sp>
        <p:nvSpPr>
          <p:cNvPr id="4" name="TextBox 3"/>
          <p:cNvSpPr txBox="1"/>
          <p:nvPr/>
        </p:nvSpPr>
        <p:spPr>
          <a:xfrm>
            <a:off x="777240" y="1280160"/>
            <a:ext cx="10607040" cy="640080"/>
          </a:xfrm>
          <a:prstGeom prst="rect">
            <a:avLst/>
          </a:prstGeom>
          <a:noFill/>
        </p:spPr>
        <p:txBody>
          <a:bodyPr wrap="square" lIns="0" rIns="0" tIns="0" bIns="0">
            <a:spAutoFit/>
          </a:bodyPr>
          <a:lstStyle/>
          <a:p>
            <a:pPr algn="l">
              <a:spcAft>
                <a:spcPts val="0"/>
              </a:spcAft>
            </a:pPr>
            <a:r>
              <a:rPr sz="3600" b="1">
                <a:solidFill>
                  <a:srgbClr val="FFFFFF"/>
                </a:solidFill>
                <a:latin typeface="Arial"/>
              </a:rPr>
              <a:t>Two routes and two fields</a:t>
            </a:r>
          </a:p>
        </p:txBody>
      </p:sp>
      <p:sp>
        <p:nvSpPr>
          <p:cNvPr id="5" name="Rounded Rectangle 4"/>
          <p:cNvSpPr/>
          <p:nvPr/>
        </p:nvSpPr>
        <p:spPr>
          <a:xfrm>
            <a:off x="777240" y="2286000"/>
            <a:ext cx="566928" cy="402336"/>
          </a:xfrm>
          <a:prstGeom prst="roundRect">
            <a:avLst>
              <a:gd name="adj" fmla="val 4000"/>
            </a:avLst>
          </a:prstGeom>
          <a:solidFill>
            <a:srgbClr val="FB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95528" y="2368296"/>
            <a:ext cx="530352" cy="274320"/>
          </a:xfrm>
          <a:prstGeom prst="rect">
            <a:avLst/>
          </a:prstGeom>
          <a:noFill/>
        </p:spPr>
        <p:txBody>
          <a:bodyPr wrap="square" lIns="0" rIns="0" tIns="0" bIns="0">
            <a:spAutoFit/>
          </a:bodyPr>
          <a:lstStyle/>
          <a:p>
            <a:pPr algn="ctr">
              <a:spcAft>
                <a:spcPts val="0"/>
              </a:spcAft>
            </a:pPr>
            <a:r>
              <a:rPr sz="1200" b="1">
                <a:solidFill>
                  <a:srgbClr val="98252A"/>
                </a:solidFill>
                <a:latin typeface="Courier New"/>
              </a:rPr>
              <a:t>P0</a:t>
            </a:r>
          </a:p>
        </p:txBody>
      </p:sp>
      <p:sp>
        <p:nvSpPr>
          <p:cNvPr id="7" name="TextBox 6"/>
          <p:cNvSpPr txBox="1"/>
          <p:nvPr/>
        </p:nvSpPr>
        <p:spPr>
          <a:xfrm>
            <a:off x="1554480" y="2359152"/>
            <a:ext cx="1051560" cy="274320"/>
          </a:xfrm>
          <a:prstGeom prst="rect">
            <a:avLst/>
          </a:prstGeom>
          <a:noFill/>
        </p:spPr>
        <p:txBody>
          <a:bodyPr wrap="square" lIns="0" rIns="0" tIns="0" bIns="0">
            <a:spAutoFit/>
          </a:bodyPr>
          <a:lstStyle/>
          <a:p>
            <a:pPr algn="l">
              <a:spcAft>
                <a:spcPts val="0"/>
              </a:spcAft>
            </a:pPr>
            <a:r>
              <a:rPr sz="1050" b="1">
                <a:solidFill>
                  <a:srgbClr val="9FB8D6"/>
                </a:solidFill>
                <a:latin typeface="Arial"/>
              </a:rPr>
              <a:t>INFRA</a:t>
            </a:r>
          </a:p>
        </p:txBody>
      </p:sp>
      <p:sp>
        <p:nvSpPr>
          <p:cNvPr id="8" name="TextBox 7"/>
          <p:cNvSpPr txBox="1"/>
          <p:nvPr/>
        </p:nvSpPr>
        <p:spPr>
          <a:xfrm>
            <a:off x="2743200" y="2304288"/>
            <a:ext cx="8595360" cy="384048"/>
          </a:xfrm>
          <a:prstGeom prst="rect">
            <a:avLst/>
          </a:prstGeom>
          <a:noFill/>
        </p:spPr>
        <p:txBody>
          <a:bodyPr wrap="square" lIns="0" rIns="0" tIns="0" bIns="0">
            <a:spAutoFit/>
          </a:bodyPr>
          <a:lstStyle/>
          <a:p>
            <a:pPr algn="l">
              <a:spcAft>
                <a:spcPts val="0"/>
              </a:spcAft>
            </a:pPr>
            <a:r>
              <a:rPr sz="1500" b="0">
                <a:solidFill>
                  <a:srgbClr val="FFFFFF"/>
                </a:solidFill>
                <a:latin typeface="Arial"/>
              </a:rPr>
              <a:t>Route chuck-dashboard → pega3:3000</a:t>
            </a:r>
          </a:p>
        </p:txBody>
      </p:sp>
      <p:sp>
        <p:nvSpPr>
          <p:cNvPr id="9" name="Rounded Rectangle 8"/>
          <p:cNvSpPr/>
          <p:nvPr/>
        </p:nvSpPr>
        <p:spPr>
          <a:xfrm>
            <a:off x="777240" y="2852928"/>
            <a:ext cx="566928" cy="402336"/>
          </a:xfrm>
          <a:prstGeom prst="roundRect">
            <a:avLst>
              <a:gd name="adj" fmla="val 4000"/>
            </a:avLst>
          </a:prstGeom>
          <a:solidFill>
            <a:srgbClr val="FB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95528" y="2935224"/>
            <a:ext cx="530352" cy="274320"/>
          </a:xfrm>
          <a:prstGeom prst="rect">
            <a:avLst/>
          </a:prstGeom>
          <a:noFill/>
        </p:spPr>
        <p:txBody>
          <a:bodyPr wrap="square" lIns="0" rIns="0" tIns="0" bIns="0">
            <a:spAutoFit/>
          </a:bodyPr>
          <a:lstStyle/>
          <a:p>
            <a:pPr algn="ctr">
              <a:spcAft>
                <a:spcPts val="0"/>
              </a:spcAft>
            </a:pPr>
            <a:r>
              <a:rPr sz="1200" b="1">
                <a:solidFill>
                  <a:srgbClr val="98252A"/>
                </a:solidFill>
                <a:latin typeface="Courier New"/>
              </a:rPr>
              <a:t>P0</a:t>
            </a:r>
          </a:p>
        </p:txBody>
      </p:sp>
      <p:sp>
        <p:nvSpPr>
          <p:cNvPr id="11" name="TextBox 10"/>
          <p:cNvSpPr txBox="1"/>
          <p:nvPr/>
        </p:nvSpPr>
        <p:spPr>
          <a:xfrm>
            <a:off x="1554480" y="2926080"/>
            <a:ext cx="1051560" cy="274320"/>
          </a:xfrm>
          <a:prstGeom prst="rect">
            <a:avLst/>
          </a:prstGeom>
          <a:noFill/>
        </p:spPr>
        <p:txBody>
          <a:bodyPr wrap="square" lIns="0" rIns="0" tIns="0" bIns="0">
            <a:spAutoFit/>
          </a:bodyPr>
          <a:lstStyle/>
          <a:p>
            <a:pPr algn="l">
              <a:spcAft>
                <a:spcPts val="0"/>
              </a:spcAft>
            </a:pPr>
            <a:r>
              <a:rPr sz="1050" b="1">
                <a:solidFill>
                  <a:srgbClr val="9FB8D6"/>
                </a:solidFill>
                <a:latin typeface="Arial"/>
              </a:rPr>
              <a:t>INFRA</a:t>
            </a:r>
          </a:p>
        </p:txBody>
      </p:sp>
      <p:sp>
        <p:nvSpPr>
          <p:cNvPr id="12" name="TextBox 11"/>
          <p:cNvSpPr txBox="1"/>
          <p:nvPr/>
        </p:nvSpPr>
        <p:spPr>
          <a:xfrm>
            <a:off x="2743200" y="2871216"/>
            <a:ext cx="8595360" cy="384048"/>
          </a:xfrm>
          <a:prstGeom prst="rect">
            <a:avLst/>
          </a:prstGeom>
          <a:noFill/>
        </p:spPr>
        <p:txBody>
          <a:bodyPr wrap="square" lIns="0" rIns="0" tIns="0" bIns="0">
            <a:spAutoFit/>
          </a:bodyPr>
          <a:lstStyle/>
          <a:p>
            <a:pPr algn="l">
              <a:spcAft>
                <a:spcPts val="0"/>
              </a:spcAft>
            </a:pPr>
            <a:r>
              <a:rPr sz="1500" b="0">
                <a:solidFill>
                  <a:srgbClr val="FFFFFF"/>
                </a:solidFill>
                <a:latin typeface="Arial"/>
              </a:rPr>
              <a:t>Serve the full cert chain on 32x-production</a:t>
            </a:r>
          </a:p>
        </p:txBody>
      </p:sp>
      <p:sp>
        <p:nvSpPr>
          <p:cNvPr id="13" name="Rounded Rectangle 12"/>
          <p:cNvSpPr/>
          <p:nvPr/>
        </p:nvSpPr>
        <p:spPr>
          <a:xfrm>
            <a:off x="777240" y="3419856"/>
            <a:ext cx="566928" cy="402336"/>
          </a:xfrm>
          <a:prstGeom prst="roundRect">
            <a:avLst>
              <a:gd name="adj" fmla="val 4000"/>
            </a:avLst>
          </a:prstGeom>
          <a:solidFill>
            <a:srgbClr val="FAE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95528" y="3502152"/>
            <a:ext cx="530352" cy="274320"/>
          </a:xfrm>
          <a:prstGeom prst="rect">
            <a:avLst/>
          </a:prstGeom>
          <a:noFill/>
        </p:spPr>
        <p:txBody>
          <a:bodyPr wrap="square" lIns="0" rIns="0" tIns="0" bIns="0">
            <a:spAutoFit/>
          </a:bodyPr>
          <a:lstStyle/>
          <a:p>
            <a:pPr algn="ctr">
              <a:spcAft>
                <a:spcPts val="0"/>
              </a:spcAft>
            </a:pPr>
            <a:r>
              <a:rPr sz="1200" b="1">
                <a:solidFill>
                  <a:srgbClr val="8A5A00"/>
                </a:solidFill>
                <a:latin typeface="Courier New"/>
              </a:rPr>
              <a:t>P1</a:t>
            </a:r>
          </a:p>
        </p:txBody>
      </p:sp>
      <p:sp>
        <p:nvSpPr>
          <p:cNvPr id="15" name="TextBox 14"/>
          <p:cNvSpPr txBox="1"/>
          <p:nvPr/>
        </p:nvSpPr>
        <p:spPr>
          <a:xfrm>
            <a:off x="1554480" y="3493008"/>
            <a:ext cx="1051560" cy="274320"/>
          </a:xfrm>
          <a:prstGeom prst="rect">
            <a:avLst/>
          </a:prstGeom>
          <a:noFill/>
        </p:spPr>
        <p:txBody>
          <a:bodyPr wrap="square" lIns="0" rIns="0" tIns="0" bIns="0">
            <a:spAutoFit/>
          </a:bodyPr>
          <a:lstStyle/>
          <a:p>
            <a:pPr algn="l">
              <a:spcAft>
                <a:spcPts val="0"/>
              </a:spcAft>
            </a:pPr>
            <a:r>
              <a:rPr sz="1050" b="1">
                <a:solidFill>
                  <a:srgbClr val="9FB8D6"/>
                </a:solidFill>
                <a:latin typeface="Arial"/>
              </a:rPr>
              <a:t>EOS</a:t>
            </a:r>
          </a:p>
        </p:txBody>
      </p:sp>
      <p:sp>
        <p:nvSpPr>
          <p:cNvPr id="16" name="TextBox 15"/>
          <p:cNvSpPr txBox="1"/>
          <p:nvPr/>
        </p:nvSpPr>
        <p:spPr>
          <a:xfrm>
            <a:off x="2743200" y="3438144"/>
            <a:ext cx="8595360" cy="384048"/>
          </a:xfrm>
          <a:prstGeom prst="rect">
            <a:avLst/>
          </a:prstGeom>
          <a:noFill/>
        </p:spPr>
        <p:txBody>
          <a:bodyPr wrap="square" lIns="0" rIns="0" tIns="0" bIns="0">
            <a:spAutoFit/>
          </a:bodyPr>
          <a:lstStyle/>
          <a:p>
            <a:pPr algn="l">
              <a:spcAft>
                <a:spcPts val="0"/>
              </a:spcAft>
            </a:pPr>
            <a:r>
              <a:rPr sz="1500" b="0">
                <a:solidFill>
                  <a:srgbClr val="FFFFFF"/>
                </a:solidFill>
                <a:latin typeface="Arial"/>
              </a:rPr>
              <a:t>Carry the slot → DUT serial map</a:t>
            </a:r>
          </a:p>
        </p:txBody>
      </p:sp>
      <p:sp>
        <p:nvSpPr>
          <p:cNvPr id="17" name="Rounded Rectangle 16"/>
          <p:cNvSpPr/>
          <p:nvPr/>
        </p:nvSpPr>
        <p:spPr>
          <a:xfrm>
            <a:off x="777240" y="3986784"/>
            <a:ext cx="566928" cy="402336"/>
          </a:xfrm>
          <a:prstGeom prst="roundRect">
            <a:avLst>
              <a:gd name="adj" fmla="val 4000"/>
            </a:avLst>
          </a:prstGeom>
          <a:solidFill>
            <a:srgbClr val="FAE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95528" y="4069080"/>
            <a:ext cx="530352" cy="274320"/>
          </a:xfrm>
          <a:prstGeom prst="rect">
            <a:avLst/>
          </a:prstGeom>
          <a:noFill/>
        </p:spPr>
        <p:txBody>
          <a:bodyPr wrap="square" lIns="0" rIns="0" tIns="0" bIns="0">
            <a:spAutoFit/>
          </a:bodyPr>
          <a:lstStyle/>
          <a:p>
            <a:pPr algn="ctr">
              <a:spcAft>
                <a:spcPts val="0"/>
              </a:spcAft>
            </a:pPr>
            <a:r>
              <a:rPr sz="1200" b="1">
                <a:solidFill>
                  <a:srgbClr val="8A5A00"/>
                </a:solidFill>
                <a:latin typeface="Courier New"/>
              </a:rPr>
              <a:t>P1</a:t>
            </a:r>
          </a:p>
        </p:txBody>
      </p:sp>
      <p:sp>
        <p:nvSpPr>
          <p:cNvPr id="19" name="TextBox 18"/>
          <p:cNvSpPr txBox="1"/>
          <p:nvPr/>
        </p:nvSpPr>
        <p:spPr>
          <a:xfrm>
            <a:off x="1554480" y="4059936"/>
            <a:ext cx="1051560" cy="274320"/>
          </a:xfrm>
          <a:prstGeom prst="rect">
            <a:avLst/>
          </a:prstGeom>
          <a:noFill/>
        </p:spPr>
        <p:txBody>
          <a:bodyPr wrap="square" lIns="0" rIns="0" tIns="0" bIns="0">
            <a:spAutoFit/>
          </a:bodyPr>
          <a:lstStyle/>
          <a:p>
            <a:pPr algn="l">
              <a:spcAft>
                <a:spcPts val="0"/>
              </a:spcAft>
            </a:pPr>
            <a:r>
              <a:rPr sz="1050" b="1">
                <a:solidFill>
                  <a:srgbClr val="9FB8D6"/>
                </a:solidFill>
                <a:latin typeface="Arial"/>
              </a:rPr>
              <a:t>EOS</a:t>
            </a:r>
          </a:p>
        </p:txBody>
      </p:sp>
      <p:sp>
        <p:nvSpPr>
          <p:cNvPr id="20" name="TextBox 19"/>
          <p:cNvSpPr txBox="1"/>
          <p:nvPr/>
        </p:nvSpPr>
        <p:spPr>
          <a:xfrm>
            <a:off x="2743200" y="4005072"/>
            <a:ext cx="8595360" cy="384048"/>
          </a:xfrm>
          <a:prstGeom prst="rect">
            <a:avLst/>
          </a:prstGeom>
          <a:noFill/>
        </p:spPr>
        <p:txBody>
          <a:bodyPr wrap="square" lIns="0" rIns="0" tIns="0" bIns="0">
            <a:spAutoFit/>
          </a:bodyPr>
          <a:lstStyle/>
          <a:p>
            <a:pPr algn="l">
              <a:spcAft>
                <a:spcPts val="0"/>
              </a:spcAft>
            </a:pPr>
            <a:r>
              <a:rPr sz="1500" b="0">
                <a:solidFill>
                  <a:srgbClr val="FFFFFF"/>
                </a:solidFill>
                <a:latin typeface="Arial"/>
              </a:rPr>
              <a:t>Make the per-unit verdict a real field</a:t>
            </a:r>
          </a:p>
        </p:txBody>
      </p:sp>
      <p:sp>
        <p:nvSpPr>
          <p:cNvPr id="21" name="Rounded Rectangle 20"/>
          <p:cNvSpPr/>
          <p:nvPr/>
        </p:nvSpPr>
        <p:spPr>
          <a:xfrm>
            <a:off x="777240" y="4553712"/>
            <a:ext cx="566928" cy="402336"/>
          </a:xfrm>
          <a:prstGeom prst="roundRect">
            <a:avLst>
              <a:gd name="adj" fmla="val 4000"/>
            </a:avLst>
          </a:prstGeom>
          <a:solidFill>
            <a:srgbClr val="E8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95528" y="4636008"/>
            <a:ext cx="530352" cy="274320"/>
          </a:xfrm>
          <a:prstGeom prst="rect">
            <a:avLst/>
          </a:prstGeom>
          <a:noFill/>
        </p:spPr>
        <p:txBody>
          <a:bodyPr wrap="square" lIns="0" rIns="0" tIns="0" bIns="0">
            <a:spAutoFit/>
          </a:bodyPr>
          <a:lstStyle/>
          <a:p>
            <a:pPr algn="ctr">
              <a:spcAft>
                <a:spcPts val="0"/>
              </a:spcAft>
            </a:pPr>
            <a:r>
              <a:rPr sz="1200" b="1">
                <a:solidFill>
                  <a:srgbClr val="1E3A5F"/>
                </a:solidFill>
                <a:latin typeface="Courier New"/>
              </a:rPr>
              <a:t>P2</a:t>
            </a:r>
          </a:p>
        </p:txBody>
      </p:sp>
      <p:sp>
        <p:nvSpPr>
          <p:cNvPr id="23" name="TextBox 22"/>
          <p:cNvSpPr txBox="1"/>
          <p:nvPr/>
        </p:nvSpPr>
        <p:spPr>
          <a:xfrm>
            <a:off x="1554480" y="4626864"/>
            <a:ext cx="1051560" cy="274320"/>
          </a:xfrm>
          <a:prstGeom prst="rect">
            <a:avLst/>
          </a:prstGeom>
          <a:noFill/>
        </p:spPr>
        <p:txBody>
          <a:bodyPr wrap="square" lIns="0" rIns="0" tIns="0" bIns="0">
            <a:spAutoFit/>
          </a:bodyPr>
          <a:lstStyle/>
          <a:p>
            <a:pPr algn="l">
              <a:spcAft>
                <a:spcPts val="0"/>
              </a:spcAft>
            </a:pPr>
            <a:r>
              <a:rPr sz="1050" b="1">
                <a:solidFill>
                  <a:srgbClr val="9FB8D6"/>
                </a:solidFill>
                <a:latin typeface="Arial"/>
              </a:rPr>
              <a:t>INFRA</a:t>
            </a:r>
          </a:p>
        </p:txBody>
      </p:sp>
      <p:sp>
        <p:nvSpPr>
          <p:cNvPr id="24" name="TextBox 23"/>
          <p:cNvSpPr txBox="1"/>
          <p:nvPr/>
        </p:nvSpPr>
        <p:spPr>
          <a:xfrm>
            <a:off x="2743200" y="4572000"/>
            <a:ext cx="8595360" cy="384048"/>
          </a:xfrm>
          <a:prstGeom prst="rect">
            <a:avLst/>
          </a:prstGeom>
          <a:noFill/>
        </p:spPr>
        <p:txBody>
          <a:bodyPr wrap="square" lIns="0" rIns="0" tIns="0" bIns="0">
            <a:spAutoFit/>
          </a:bodyPr>
          <a:lstStyle/>
          <a:p>
            <a:pPr algn="l">
              <a:spcAft>
                <a:spcPts val="0"/>
              </a:spcAft>
            </a:pPr>
            <a:r>
              <a:rPr sz="1500" b="0">
                <a:solidFill>
                  <a:srgbClr val="FFFFFF"/>
                </a:solidFill>
                <a:latin typeface="Arial"/>
              </a:rPr>
              <a:t>s3:ListBucket on etched-mfg-prod-l11-raw — unblocks 2 of 10 stations</a:t>
            </a:r>
          </a:p>
        </p:txBody>
      </p:sp>
      <p:sp>
        <p:nvSpPr>
          <p:cNvPr id="25" name="Rounded Rectangle 24"/>
          <p:cNvSpPr/>
          <p:nvPr/>
        </p:nvSpPr>
        <p:spPr>
          <a:xfrm>
            <a:off x="777240" y="5120640"/>
            <a:ext cx="566928" cy="402336"/>
          </a:xfrm>
          <a:prstGeom prst="roundRect">
            <a:avLst>
              <a:gd name="adj" fmla="val 4000"/>
            </a:avLst>
          </a:prstGeom>
          <a:solidFill>
            <a:srgbClr val="E8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95528" y="5202936"/>
            <a:ext cx="530352" cy="274320"/>
          </a:xfrm>
          <a:prstGeom prst="rect">
            <a:avLst/>
          </a:prstGeom>
          <a:noFill/>
        </p:spPr>
        <p:txBody>
          <a:bodyPr wrap="square" lIns="0" rIns="0" tIns="0" bIns="0">
            <a:spAutoFit/>
          </a:bodyPr>
          <a:lstStyle/>
          <a:p>
            <a:pPr algn="ctr">
              <a:spcAft>
                <a:spcPts val="0"/>
              </a:spcAft>
            </a:pPr>
            <a:r>
              <a:rPr sz="1200" b="1">
                <a:solidFill>
                  <a:srgbClr val="1E3A5F"/>
                </a:solidFill>
                <a:latin typeface="Courier New"/>
              </a:rPr>
              <a:t>P2</a:t>
            </a:r>
          </a:p>
        </p:txBody>
      </p:sp>
      <p:sp>
        <p:nvSpPr>
          <p:cNvPr id="27" name="TextBox 26"/>
          <p:cNvSpPr txBox="1"/>
          <p:nvPr/>
        </p:nvSpPr>
        <p:spPr>
          <a:xfrm>
            <a:off x="1554480" y="5193792"/>
            <a:ext cx="1051560" cy="274320"/>
          </a:xfrm>
          <a:prstGeom prst="rect">
            <a:avLst/>
          </a:prstGeom>
          <a:noFill/>
        </p:spPr>
        <p:txBody>
          <a:bodyPr wrap="square" lIns="0" rIns="0" tIns="0" bIns="0">
            <a:spAutoFit/>
          </a:bodyPr>
          <a:lstStyle/>
          <a:p>
            <a:pPr algn="l">
              <a:spcAft>
                <a:spcPts val="0"/>
              </a:spcAft>
            </a:pPr>
            <a:r>
              <a:rPr sz="1050" b="1">
                <a:solidFill>
                  <a:srgbClr val="9FB8D6"/>
                </a:solidFill>
                <a:latin typeface="Arial"/>
              </a:rPr>
              <a:t>OCP</a:t>
            </a:r>
          </a:p>
        </p:txBody>
      </p:sp>
      <p:sp>
        <p:nvSpPr>
          <p:cNvPr id="28" name="TextBox 27"/>
          <p:cNvSpPr txBox="1"/>
          <p:nvPr/>
        </p:nvSpPr>
        <p:spPr>
          <a:xfrm>
            <a:off x="2743200" y="5138928"/>
            <a:ext cx="8595360" cy="384048"/>
          </a:xfrm>
          <a:prstGeom prst="rect">
            <a:avLst/>
          </a:prstGeom>
          <a:noFill/>
        </p:spPr>
        <p:txBody>
          <a:bodyPr wrap="square" lIns="0" rIns="0" tIns="0" bIns="0">
            <a:spAutoFit/>
          </a:bodyPr>
          <a:lstStyle/>
          <a:p>
            <a:pPr algn="l">
              <a:spcAft>
                <a:spcPts val="0"/>
              </a:spcAft>
            </a:pPr>
            <a:r>
              <a:rPr sz="1500" b="0">
                <a:solidFill>
                  <a:srgbClr val="FFFFFF"/>
                </a:solidFill>
                <a:latin typeface="Arial"/>
              </a:rPr>
              <a:t>Stable per-run URLs — lowest priority, we have our own</a:t>
            </a:r>
          </a:p>
        </p:txBody>
      </p:sp>
      <p:sp>
        <p:nvSpPr>
          <p:cNvPr id="29" name="TextBox 28"/>
          <p:cNvSpPr txBox="1"/>
          <p:nvPr/>
        </p:nvSpPr>
        <p:spPr>
          <a:xfrm>
            <a:off x="777240" y="5989320"/>
            <a:ext cx="10607040" cy="457200"/>
          </a:xfrm>
          <a:prstGeom prst="rect">
            <a:avLst/>
          </a:prstGeom>
          <a:noFill/>
        </p:spPr>
        <p:txBody>
          <a:bodyPr wrap="square" lIns="0" rIns="0" tIns="0" bIns="0">
            <a:spAutoFit/>
          </a:bodyPr>
          <a:lstStyle/>
          <a:p>
            <a:pPr>
              <a:lnSpc>
                <a:spcPct val="125000"/>
              </a:lnSpc>
              <a:spcAft>
                <a:spcPts val="0"/>
              </a:spcAft>
            </a:pPr>
            <a:r>
              <a:rPr sz="1400" b="0">
                <a:solidFill>
                  <a:srgbClr val="C8D6E6"/>
                </a:solidFill>
                <a:latin typeface="Arial"/>
              </a:rPr>
              <a:t>The two P0s remove the last manual step and make the site usable. The two P1s remove the need for a second system at all.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