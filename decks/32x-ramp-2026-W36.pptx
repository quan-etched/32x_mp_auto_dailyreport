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32x Ramp Status (2026-W36)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2026-08-31 to 2026-09-06, week still running · first-pass yield and units, in the box · UTC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@Sigurd   </a:t>
            </a:r>
            <a:r>
              <a:rPr sz="1250" b="1">
                <a:solidFill>
                  <a:srgbClr val="141414"/>
                </a:solidFill>
                <a:latin typeface="Arial"/>
              </a:rPr>
              <a:t>ASIC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12848" y="1133856"/>
            <a:ext cx="0" cy="4672584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481328"/>
            <a:ext cx="129844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545336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ASIC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22576"/>
            <a:ext cx="1298448" cy="640080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386584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WST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B3281E"/>
                </a:solidFill>
                <a:latin typeface="Arial"/>
              </a:rPr>
              <a:t>32.5%</a:t>
            </a:r>
            <a:r>
              <a:rPr sz="800" b="0">
                <a:solidFill>
                  <a:srgbClr val="6B6B6B"/>
                </a:solidFill>
                <a:latin typeface="Arial"/>
              </a:rPr>
              <a:t>  reported 15d ago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63824"/>
            <a:ext cx="1298448" cy="640080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3227832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FT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6B6B6B"/>
                </a:solidFill>
                <a:latin typeface="Arial"/>
              </a:rPr>
              <a:t>—</a:t>
            </a:r>
            <a:r>
              <a:rPr sz="800" b="0">
                <a:solidFill>
                  <a:srgbClr val="6B6B6B"/>
                </a:solidFill>
                <a:latin typeface="Arial"/>
              </a:rPr>
              <a:t>  reported 22d ago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05072"/>
            <a:ext cx="129844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4069080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SLT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at Sigurd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09728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@Pega   </a:t>
            </a:r>
            <a:r>
              <a:rPr sz="1250" b="1">
                <a:solidFill>
                  <a:srgbClr val="141414"/>
                </a:solidFill>
                <a:latin typeface="Arial"/>
              </a:rPr>
              <a:t>PCBA L6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85232" y="1133856"/>
            <a:ext cx="0" cy="4672584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1481328"/>
            <a:ext cx="129844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9736" y="1545336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SMT / ICT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HPB &amp; VBB &amp; PV1 &amp; PDB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4005072"/>
            <a:ext cx="1298448" cy="640080"/>
          </a:xfrm>
          <a:prstGeom prst="roundRect">
            <a:avLst/>
          </a:prstGeom>
          <a:solidFill>
            <a:srgbClr val="E6D0DE"/>
          </a:solidFill>
          <a:ln w="12700">
            <a:solidFill>
              <a:srgbClr val="C29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9736" y="4069080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Flash / BFT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VBB — not in the yield 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1481328"/>
            <a:ext cx="1298448" cy="640080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22776" y="1545336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HTT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B56B00"/>
                </a:solidFill>
                <a:latin typeface="Arial"/>
              </a:rPr>
              <a:t>78.9%</a:t>
            </a:r>
            <a:r>
              <a:rPr sz="900" b="0">
                <a:solidFill>
                  <a:srgbClr val="6B6B6B"/>
                </a:solidFill>
                <a:latin typeface="Arial"/>
              </a:rPr>
              <a:t>  67u*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2322576"/>
            <a:ext cx="1298448" cy="640080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22776" y="2386584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MLT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B3281E"/>
                </a:solidFill>
                <a:latin typeface="Arial"/>
              </a:rPr>
              <a:t>40.0%</a:t>
            </a:r>
            <a:r>
              <a:rPr sz="900" b="0">
                <a:solidFill>
                  <a:srgbClr val="6B6B6B"/>
                </a:solidFill>
                <a:latin typeface="Arial"/>
              </a:rPr>
              <a:t>  90u*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163824"/>
            <a:ext cx="129844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22776" y="3227832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384" y="109728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FATP L10 2U/4U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1133856"/>
            <a:ext cx="0" cy="4672584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358384" y="1481328"/>
            <a:ext cx="1078992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80" y="1545336"/>
            <a:ext cx="9144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1517904"/>
            <a:ext cx="384048" cy="228600"/>
          </a:xfrm>
          <a:prstGeom prst="rect">
            <a:avLst/>
          </a:prstGeom>
          <a:solidFill>
            <a:srgbClr val="CFE2F3"/>
          </a:solidFill>
          <a:ln w="7620">
            <a:solidFill>
              <a:srgbClr val="8A8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545336"/>
            <a:ext cx="3840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414"/>
                </a:solidFill>
                <a:latin typeface="Arial"/>
              </a:rPr>
              <a:t>4U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1801368"/>
            <a:ext cx="384048" cy="228600"/>
          </a:xfrm>
          <a:prstGeom prst="rect">
            <a:avLst/>
          </a:prstGeom>
          <a:solidFill>
            <a:srgbClr val="FFF2CC"/>
          </a:solidFill>
          <a:ln w="7620">
            <a:solidFill>
              <a:srgbClr val="8A8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82880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414"/>
                </a:solidFill>
                <a:latin typeface="Arial"/>
              </a:rPr>
              <a:t>2U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42048" y="109728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FATP L10 6U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204704" y="1133856"/>
            <a:ext cx="0" cy="4672584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242048" y="2322576"/>
            <a:ext cx="138988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24344" y="2386584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FAT / SFT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42048" y="3163824"/>
            <a:ext cx="138988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24344" y="3227832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2U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42048" y="4005072"/>
            <a:ext cx="138988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24344" y="4069080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41664" y="2322576"/>
            <a:ext cx="129844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3960" y="2386584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Runin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9296" y="1097280"/>
            <a:ext cx="16550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Rack L11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69296" y="2322576"/>
            <a:ext cx="138988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51592" y="2386584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369296" y="3163824"/>
            <a:ext cx="138988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51592" y="3227832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FAT / SFT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69296" y="4005072"/>
            <a:ext cx="138988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51592" y="4069080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Runin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counted with FAT / SFT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369296" y="4846320"/>
            <a:ext cx="1389888" cy="640080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7E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51592" y="4910328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Pack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307592" y="2121408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307592" y="2962656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07592" y="3803904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56815" y="3483864"/>
            <a:ext cx="1069849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6664" y="2121408"/>
            <a:ext cx="0" cy="1362456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752344" y="2121408"/>
            <a:ext cx="274320" cy="188366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072384" y="382219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VBB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337560" y="2121408"/>
            <a:ext cx="0" cy="1362456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337560" y="3483864"/>
            <a:ext cx="502920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383279" y="3300984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PV1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3026664" y="1389888"/>
            <a:ext cx="0" cy="9144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026664" y="1389888"/>
            <a:ext cx="2871216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897880" y="1389888"/>
            <a:ext cx="0" cy="9144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142232" y="121615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HPB &amp; PDB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675887" y="4325112"/>
            <a:ext cx="2221993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897880" y="2121408"/>
            <a:ext cx="0" cy="220370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489704" y="2962656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489704" y="2121408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138928" y="1801368"/>
            <a:ext cx="21945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437376" y="1801368"/>
            <a:ext cx="1499616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936992" y="1801368"/>
            <a:ext cx="0" cy="52120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897880" y="2121408"/>
            <a:ext cx="0" cy="2203704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897880" y="4325112"/>
            <a:ext cx="1344168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936992" y="3803904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936992" y="2962656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631936" y="2642616"/>
            <a:ext cx="109728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040112" y="2642616"/>
            <a:ext cx="329184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064240" y="2962656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064240" y="3803904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1064240" y="4645152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58368" y="598932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6B6B6B"/>
                </a:solidFill>
                <a:latin typeface="Arial"/>
              </a:rPr>
              <a:t>Green</a:t>
            </a:r>
            <a:r>
              <a:rPr sz="950" b="0">
                <a:solidFill>
                  <a:srgbClr val="6B6B6B"/>
                </a:solidFill>
                <a:latin typeface="Arial"/>
              </a:rPr>
              <a:t> = yields, and we measure it.   </a:t>
            </a:r>
            <a:r>
              <a:rPr sz="950" b="1">
                <a:solidFill>
                  <a:srgbClr val="6B6B6B"/>
                </a:solidFill>
                <a:latin typeface="Arial"/>
              </a:rPr>
              <a:t>Amber</a:t>
            </a:r>
            <a:r>
              <a:rPr sz="950" b="0">
                <a:solidFill>
                  <a:srgbClr val="6B6B6B"/>
                </a:solidFill>
                <a:latin typeface="Arial"/>
              </a:rPr>
              <a:t> = a yield over few units, marked *.   </a:t>
            </a:r>
            <a:r>
              <a:rPr sz="950" b="1">
                <a:solidFill>
                  <a:srgbClr val="6B6B6B"/>
                </a:solidFill>
                <a:latin typeface="Arial"/>
              </a:rPr>
              <a:t>Grey</a:t>
            </a:r>
            <a:r>
              <a:rPr sz="950" b="0">
                <a:solidFill>
                  <a:srgbClr val="6B6B6B"/>
                </a:solidFill>
                <a:latin typeface="Arial"/>
              </a:rPr>
              <a:t> = builds, moves, or measured elsewhere.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A * marks a yield over fewer than 20 units — published, because a blank read as “nothing was tested here”, but it moves a long way on one unit. Only MLT × HTT is rolled up.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Source: pega2, pega6, pega3, pega4, pega5 (ESVM), one row per unit. WST and FT reported by Sigurd. VBB provisioning drawn for the flow but left out of the yield view.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48495" y="4206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Link: </a:t>
            </a:r>
            <a:r>
              <a:rPr sz="1100" b="1">
                <a:solidFill>
                  <a:srgbClr val="141414"/>
                </a:solidFill>
                <a:latin typeface="Arial"/>
              </a:rPr>
              <a:t>go/32x-ramp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32x Rack 2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Pegatron · 2026-08-22 · assembled this week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41414"/>
                </a:solidFill>
                <a:latin typeface="Arial"/>
              </a:rPr>
              <a:t>Four Sohu servers, cabled and standing.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Rack serial 268708630001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87168"/>
            <a:ext cx="3840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6B6B"/>
                </a:solidFill>
                <a:latin typeface="Arial"/>
              </a:rPr>
              <a:t>Slot</a:t>
            </a:r>
            <a:r>
              <a:rPr sz="1100" b="1">
                <a:solidFill>
                  <a:srgbClr val="6B6B6B"/>
                </a:solidFill>
                <a:latin typeface="Arial"/>
              </a:rPr>
              <a:t>    Serial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SS1</a:t>
            </a:r>
            <a:r>
              <a:rPr sz="1300" b="0">
                <a:solidFill>
                  <a:srgbClr val="141414"/>
                </a:solidFill>
                <a:latin typeface="Arial"/>
              </a:rPr>
              <a:t>    268645410001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SS2</a:t>
            </a:r>
            <a:r>
              <a:rPr sz="1300" b="0">
                <a:solidFill>
                  <a:srgbClr val="141414"/>
                </a:solidFill>
                <a:latin typeface="Arial"/>
              </a:rPr>
              <a:t>    268645440007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SS3</a:t>
            </a:r>
            <a:r>
              <a:rPr sz="1300" b="0">
                <a:solidFill>
                  <a:srgbClr val="141414"/>
                </a:solidFill>
                <a:latin typeface="Arial"/>
              </a:rPr>
              <a:t>    268645430002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SS4</a:t>
            </a:r>
            <a:r>
              <a:rPr sz="1300" b="0">
                <a:solidFill>
                  <a:srgbClr val="141414"/>
                </a:solidFill>
                <a:latin typeface="Arial"/>
              </a:rPr>
              <a:t>    268645430004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487168"/>
            <a:ext cx="6687007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6B"/>
                </a:solidFill>
                <a:latin typeface="Arial"/>
              </a:rPr>
              <a:t>Where it stands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Arial"/>
              </a:rPr>
              <a:t>Assembled, not yet tested: no controller has an L11 run against this rack or its four servers. Provisioning and rack test are still ahead of it.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The all-hands page keeps this current from the controllers; this slide is a snapshot of 2026-W36.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End-to-end test flow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2026-W36 · every insertion, including the ones nothing reports · grey test boxes are not collected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@Sigurd   </a:t>
            </a:r>
            <a:r>
              <a:rPr sz="1250" b="1">
                <a:solidFill>
                  <a:srgbClr val="141414"/>
                </a:solidFill>
                <a:latin typeface="Arial"/>
              </a:rPr>
              <a:t>ASIC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10512" y="914400"/>
            <a:ext cx="0" cy="5029200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30352" y="1389888"/>
            <a:ext cx="1170432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5389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ASIC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965960"/>
            <a:ext cx="1170432" cy="475488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02996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WST</a:t>
            </a:r>
          </a:p>
          <a:p>
            <a:pPr algn="l">
              <a:spcAft>
                <a:spcPts val="100"/>
              </a:spcAft>
            </a:pPr>
            <a:r>
              <a:rPr sz="1114" b="1">
                <a:solidFill>
                  <a:srgbClr val="B3281E"/>
                </a:solidFill>
                <a:latin typeface="Arial"/>
              </a:rPr>
              <a:t>32.5%</a:t>
            </a:r>
            <a:r>
              <a:rPr sz="594" b="0">
                <a:solidFill>
                  <a:srgbClr val="6B6B6B"/>
                </a:solidFill>
                <a:latin typeface="Arial"/>
              </a:rPr>
              <a:t>  reported 15d ago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542032"/>
            <a:ext cx="1170432" cy="475488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60604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FT</a:t>
            </a:r>
          </a:p>
          <a:p>
            <a:pPr algn="l">
              <a:spcAft>
                <a:spcPts val="100"/>
              </a:spcAft>
            </a:pPr>
            <a:r>
              <a:rPr sz="1114" b="1">
                <a:solidFill>
                  <a:srgbClr val="6B6B6B"/>
                </a:solidFill>
                <a:latin typeface="Arial"/>
              </a:rPr>
              <a:t>—</a:t>
            </a:r>
            <a:r>
              <a:rPr sz="594" b="0">
                <a:solidFill>
                  <a:srgbClr val="6B6B6B"/>
                </a:solidFill>
                <a:latin typeface="Arial"/>
              </a:rPr>
              <a:t>  reported 22d ago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3118104"/>
            <a:ext cx="1170432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18211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SLT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at Sigurd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8778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@Pega   </a:t>
            </a:r>
            <a:r>
              <a:rPr sz="1250" b="1">
                <a:solidFill>
                  <a:srgbClr val="141414"/>
                </a:solidFill>
                <a:latin typeface="Arial"/>
              </a:rPr>
              <a:t>PCBA L6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66944" y="914400"/>
            <a:ext cx="0" cy="5029200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20240" y="1389888"/>
            <a:ext cx="1133856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02536" y="1453896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BB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SMT / 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1965960"/>
            <a:ext cx="1133856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2536" y="2029968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HPB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SMT / ICT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4270248"/>
            <a:ext cx="1133856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02536" y="4334256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PV1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SMT / ICT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4846320"/>
            <a:ext cx="1133856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02536" y="4910328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VBB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SMT / ICT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5422392"/>
            <a:ext cx="1133856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02536" y="5486400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PDB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SMT / ICT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82112" y="2542032"/>
            <a:ext cx="1188720" cy="475488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64408" y="2606040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HTT</a:t>
            </a:r>
          </a:p>
          <a:p>
            <a:pPr algn="l">
              <a:spcAft>
                <a:spcPts val="100"/>
              </a:spcAft>
            </a:pPr>
            <a:r>
              <a:rPr sz="1188" b="1">
                <a:solidFill>
                  <a:srgbClr val="B56B00"/>
                </a:solidFill>
                <a:latin typeface="Arial"/>
              </a:rPr>
              <a:t>78.9%</a:t>
            </a:r>
            <a:r>
              <a:rPr sz="668" b="0">
                <a:solidFill>
                  <a:srgbClr val="6B6B6B"/>
                </a:solidFill>
                <a:latin typeface="Arial"/>
              </a:rPr>
              <a:t>  67u*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82112" y="3118104"/>
            <a:ext cx="1188720" cy="475488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64408" y="3182112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MLT</a:t>
            </a:r>
          </a:p>
          <a:p>
            <a:pPr algn="l">
              <a:spcAft>
                <a:spcPts val="100"/>
              </a:spcAft>
            </a:pPr>
            <a:r>
              <a:rPr sz="1188" b="1">
                <a:solidFill>
                  <a:srgbClr val="B3281E"/>
                </a:solidFill>
                <a:latin typeface="Arial"/>
              </a:rPr>
              <a:t>40.0%</a:t>
            </a:r>
            <a:r>
              <a:rPr sz="668" b="0">
                <a:solidFill>
                  <a:srgbClr val="6B6B6B"/>
                </a:solidFill>
                <a:latin typeface="Arial"/>
              </a:rPr>
              <a:t>  90u*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82112" y="3694176"/>
            <a:ext cx="1188720" cy="475488"/>
          </a:xfrm>
          <a:prstGeom prst="roundRect">
            <a:avLst/>
          </a:prstGeom>
          <a:solidFill>
            <a:srgbClr val="DFE7EF"/>
          </a:solidFill>
          <a:ln w="12700">
            <a:solidFill>
              <a:srgbClr val="8F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4408" y="3758184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TIM</a:t>
            </a:r>
          </a:p>
          <a:p>
            <a:pPr algn="l">
              <a:spcAft>
                <a:spcPts val="100"/>
              </a:spcAft>
            </a:pPr>
            <a:r>
              <a:rPr sz="1188" b="1">
                <a:solidFill>
                  <a:srgbClr val="1B7F3B"/>
                </a:solidFill>
                <a:latin typeface="Arial"/>
              </a:rPr>
              <a:t>90.9%</a:t>
            </a:r>
            <a:r>
              <a:rPr sz="668" b="0">
                <a:solidFill>
                  <a:srgbClr val="6B6B6B"/>
                </a:solidFill>
                <a:latin typeface="Arial"/>
              </a:rPr>
              <a:t>  11u*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82112" y="4270248"/>
            <a:ext cx="1188720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64408" y="4334256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PV1 ASSY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82112" y="4846320"/>
            <a:ext cx="1188720" cy="475488"/>
          </a:xfrm>
          <a:prstGeom prst="roundRect">
            <a:avLst/>
          </a:prstGeom>
          <a:solidFill>
            <a:srgbClr val="DFE7EF"/>
          </a:solidFill>
          <a:ln w="12700">
            <a:solidFill>
              <a:srgbClr val="8F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64408" y="4910328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Flash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OTP · cert · lock BL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98848" y="4270248"/>
            <a:ext cx="530352" cy="475488"/>
          </a:xfrm>
          <a:prstGeom prst="roundRect">
            <a:avLst/>
          </a:prstGeom>
          <a:solidFill>
            <a:srgbClr val="DFE7EF"/>
          </a:solidFill>
          <a:ln w="12700">
            <a:solidFill>
              <a:srgbClr val="8F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81144" y="433425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BFT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not collected · ETCH-39584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98848" y="5422392"/>
            <a:ext cx="530352" cy="475488"/>
          </a:xfrm>
          <a:prstGeom prst="roundRect">
            <a:avLst/>
          </a:prstGeom>
          <a:solidFill>
            <a:srgbClr val="DFE7EF"/>
          </a:solidFill>
          <a:ln w="12700">
            <a:solidFill>
              <a:srgbClr val="8F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81144" y="5486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PDB CK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not collected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8778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FATP L10 2U/4U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29984" y="914400"/>
            <a:ext cx="0" cy="5029200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376672" y="1389888"/>
            <a:ext cx="1298448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58968" y="1453896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4U ASSY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76672" y="1965960"/>
            <a:ext cx="1298448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58968" y="2029968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2U ASSY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76672" y="2542032"/>
            <a:ext cx="1298448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58968" y="2606040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2U Component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counted with 2U 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8778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FATP L10 6U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491472" y="914400"/>
            <a:ext cx="0" cy="5029200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839712" y="1389888"/>
            <a:ext cx="1298448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22008" y="1453896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SFT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39712" y="1965960"/>
            <a:ext cx="1298448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22008" y="2029968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FAT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39712" y="2542032"/>
            <a:ext cx="1298448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2008" y="2606040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2U System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39712" y="3118104"/>
            <a:ext cx="1298448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22008" y="3182112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66175" y="1389888"/>
            <a:ext cx="1133856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48471" y="1453896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Runin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877824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Rack L11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01200" y="1389888"/>
            <a:ext cx="1417320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83496" y="1453896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01200" y="1965960"/>
            <a:ext cx="1417320" cy="475488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83496" y="2029968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Provision</a:t>
            </a:r>
          </a:p>
          <a:p>
            <a:pPr algn="l">
              <a:spcAft>
                <a:spcPts val="100"/>
              </a:spcAft>
            </a:pPr>
            <a:r>
              <a:rPr sz="1188" b="1">
                <a:solidFill>
                  <a:srgbClr val="B3281E"/>
                </a:solidFill>
                <a:latin typeface="Arial"/>
              </a:rPr>
              <a:t>0.0%</a:t>
            </a:r>
            <a:r>
              <a:rPr sz="668" b="0">
                <a:solidFill>
                  <a:srgbClr val="6B6B6B"/>
                </a:solidFill>
                <a:latin typeface="Arial"/>
              </a:rPr>
              <a:t>  3u*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01200" y="2542032"/>
            <a:ext cx="1417320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83496" y="2606040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FAT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01200" y="3118104"/>
            <a:ext cx="1417320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83496" y="3182112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SFT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counted with FAT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01200" y="3694176"/>
            <a:ext cx="1417320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83496" y="3758184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Runin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counted with FAT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01200" y="4270248"/>
            <a:ext cx="1417320" cy="475488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7E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83496" y="4334256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Pack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115568" y="1865376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115568" y="2441448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115568" y="3017520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700784" y="2779776"/>
            <a:ext cx="786384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487168" y="2779776"/>
            <a:ext cx="0" cy="1490472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054096" y="4507992"/>
            <a:ext cx="12801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776472" y="4169664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776472" y="3593592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776472" y="3017520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776472" y="1627632"/>
            <a:ext cx="0" cy="91440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776472" y="1627632"/>
            <a:ext cx="1600200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054096" y="1627632"/>
            <a:ext cx="232257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487168" y="1298448"/>
            <a:ext cx="0" cy="667512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487168" y="1298448"/>
            <a:ext cx="3538728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025896" y="1298448"/>
            <a:ext cx="0" cy="9144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054096" y="5084064"/>
            <a:ext cx="12801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370832" y="5084064"/>
            <a:ext cx="393192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4764024" y="4745736"/>
            <a:ext cx="0" cy="33832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5102352" y="1627632"/>
            <a:ext cx="0" cy="2642616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102352" y="1627632"/>
            <a:ext cx="274320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054096" y="5660136"/>
            <a:ext cx="1444752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5193792" y="2203704"/>
            <a:ext cx="0" cy="3218688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193792" y="2203704"/>
            <a:ext cx="182880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025896" y="2441448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784848" y="1865376"/>
            <a:ext cx="0" cy="1490472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784848" y="3355848"/>
            <a:ext cx="54864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025896" y="3017520"/>
            <a:ext cx="0" cy="338328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025896" y="3355848"/>
            <a:ext cx="81381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488936" y="3017520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488936" y="2441448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488936" y="1865376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138160" y="1627632"/>
            <a:ext cx="128015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00032" y="1627632"/>
            <a:ext cx="201168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309860" y="1865376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309860" y="2441448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309860" y="3017520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309860" y="3593592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309860" y="4169664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530352" y="6053328"/>
            <a:ext cx="111309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6B6B6B"/>
                </a:solidFill>
                <a:latin typeface="Arial"/>
              </a:rPr>
              <a:t>Flash and BFT are two boxes, not one. </a:t>
            </a:r>
            <a:r>
              <a:rPr sz="850" b="0">
                <a:solidFill>
                  <a:srgbClr val="6B6B6B"/>
                </a:solidFill>
                <a:latin typeface="Arial"/>
              </a:rPr>
              <a:t>Flash is the VBB provisioning we collect — ROT OTP, production certificate, bootloader lock. BFT is I2C, UART, GPIO, power-on and PRBS (ETCH-39584) and reports to no controller; drawn as one box it borrowed the provisioning yield.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2U Component and 2U System are one station key at two insertions, and FAT / SFT / Runin at L11 are one key at three — the number is printed once so the boxes cannot disagree. Source: pega2, pega6, pega3, pega4, pega5 (ESVM).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