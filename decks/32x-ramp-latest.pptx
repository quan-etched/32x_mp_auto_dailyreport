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32x Ramp Status (2026-W34)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2026-08-17 to 2026-08-23 · first-pass yield and units, in the box · UTC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1284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3281E"/>
                </a:solidFill>
                <a:latin typeface="Arial"/>
              </a:rPr>
              <a:t>32.5%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63824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 9d ago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05072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85232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973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SMT / ICT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VBB &amp; PV1 &amp; PDB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005072"/>
            <a:ext cx="1298448" cy="640080"/>
          </a:xfrm>
          <a:prstGeom prst="roundRect">
            <a:avLst/>
          </a:prstGeom>
          <a:solidFill>
            <a:srgbClr val="E6D0DE"/>
          </a:solidFill>
          <a:ln w="12700">
            <a:solidFill>
              <a:srgbClr val="C2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9736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Flash / BFT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 — not in the yield 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1481328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77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77.1%</a:t>
            </a:r>
            <a:r>
              <a:rPr sz="900" b="0">
                <a:solidFill>
                  <a:srgbClr val="6B6B6B"/>
                </a:solidFill>
                <a:latin typeface="Arial"/>
              </a:rPr>
              <a:t>  265u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2776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71.2%</a:t>
            </a:r>
            <a:r>
              <a:rPr sz="900" b="0">
                <a:solidFill>
                  <a:srgbClr val="6B6B6B"/>
                </a:solidFill>
                <a:latin typeface="Arial"/>
              </a:rPr>
              <a:t>  350u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3163824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58384" y="1481328"/>
            <a:ext cx="1078992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1545336"/>
            <a:ext cx="914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517904"/>
            <a:ext cx="384048" cy="228600"/>
          </a:xfrm>
          <a:prstGeom prst="rect">
            <a:avLst/>
          </a:prstGeom>
          <a:solidFill>
            <a:srgbClr val="CFE2F3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545336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4U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801368"/>
            <a:ext cx="384048" cy="228600"/>
          </a:xfrm>
          <a:prstGeom prst="rect">
            <a:avLst/>
          </a:prstGeom>
          <a:solidFill>
            <a:srgbClr val="FFF2CC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8288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2U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204704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42048" y="2322576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4344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Arial"/>
              </a:rPr>
              <a:t>FAT 0.0% · SFT 14.3%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* over 16 and 15 units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42048" y="3163824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24344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2U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3281E"/>
                </a:solidFill>
                <a:latin typeface="Arial"/>
              </a:rPr>
              <a:t>0.0%</a:t>
            </a:r>
            <a:r>
              <a:rPr sz="900" b="0">
                <a:solidFill>
                  <a:srgbClr val="6B6B6B"/>
                </a:solidFill>
                <a:latin typeface="Arial"/>
              </a:rPr>
              <a:t>  2u*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42048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24344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41664" y="2322576"/>
            <a:ext cx="129844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23960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3281E"/>
                </a:solidFill>
                <a:latin typeface="Arial"/>
              </a:rPr>
              <a:t>25.0%</a:t>
            </a:r>
            <a:r>
              <a:rPr sz="900" b="0">
                <a:solidFill>
                  <a:srgbClr val="6B6B6B"/>
                </a:solidFill>
                <a:latin typeface="Arial"/>
              </a:rPr>
              <a:t>  5u*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9296" y="1097280"/>
            <a:ext cx="16550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69296" y="2322576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69296" y="3163824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51592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9296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51592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69296" y="4846320"/>
            <a:ext cx="1389888" cy="640080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51592" y="4910328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07592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075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75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956815" y="3483864"/>
            <a:ext cx="1069849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6664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52344" y="2121408"/>
            <a:ext cx="274320" cy="188366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072384" y="38221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37560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37560" y="3483864"/>
            <a:ext cx="50292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383279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PV1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3026664" y="1389888"/>
            <a:ext cx="0" cy="9144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026664" y="1389888"/>
            <a:ext cx="28712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897880" y="1389888"/>
            <a:ext cx="0" cy="9144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42232" y="12161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PDB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675887" y="4325112"/>
            <a:ext cx="2221993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489704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489704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138928" y="1801368"/>
            <a:ext cx="21945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37376" y="1801368"/>
            <a:ext cx="14996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936992" y="1801368"/>
            <a:ext cx="0" cy="52120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897880" y="4325112"/>
            <a:ext cx="1344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9369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79369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631936" y="2642616"/>
            <a:ext cx="10972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040112" y="2642616"/>
            <a:ext cx="32918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064240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1064240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1064240" y="4645152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58368" y="598932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6B6B6B"/>
                </a:solidFill>
                <a:latin typeface="Arial"/>
              </a:rPr>
              <a:t>Green</a:t>
            </a:r>
            <a:r>
              <a:rPr sz="950" b="0">
                <a:solidFill>
                  <a:srgbClr val="6B6B6B"/>
                </a:solidFill>
                <a:latin typeface="Arial"/>
              </a:rPr>
              <a:t> = yields, and we measure it.   </a:t>
            </a:r>
            <a:r>
              <a:rPr sz="950" b="1">
                <a:solidFill>
                  <a:srgbClr val="6B6B6B"/>
                </a:solidFill>
                <a:latin typeface="Arial"/>
              </a:rPr>
              <a:t>Amber</a:t>
            </a:r>
            <a:r>
              <a:rPr sz="950" b="0">
                <a:solidFill>
                  <a:srgbClr val="6B6B6B"/>
                </a:solidFill>
                <a:latin typeface="Arial"/>
              </a:rPr>
              <a:t> = a yield over few units, marked *.   </a:t>
            </a:r>
            <a:r>
              <a:rPr sz="950" b="1">
                <a:solidFill>
                  <a:srgbClr val="6B6B6B"/>
                </a:solidFill>
                <a:latin typeface="Arial"/>
              </a:rPr>
              <a:t>Grey</a:t>
            </a:r>
            <a:r>
              <a:rPr sz="950" b="0">
                <a:solidFill>
                  <a:srgbClr val="6B6B6B"/>
                </a:solidFill>
                <a:latin typeface="Arial"/>
              </a:rPr>
              <a:t> = builds, moves, or measured elsewhere.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A * marks a yield over fewer than 20 units — published, because a blank read as “nothing was tested here”, but it moves a long way on one unit. Only MLT × HTT is rolled up.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Source: pega2, pega6, pega3, pega4, pega5 (ESVM), one row per unit. WST and FT reported by Sigurd. VBB provisioning drawn for the flow but left out of the yield view.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448495" y="4206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Link: </a:t>
            </a:r>
            <a:r>
              <a:rPr sz="1100" b="1">
                <a:solidFill>
                  <a:srgbClr val="141414"/>
                </a:solidFill>
                <a:latin typeface="Arial"/>
              </a:rPr>
              <a:t>go/32x-ramp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32x Rack 2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Pegatron · 2026-08-22 · assembled this week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Four Sohu servers, cabled and standing.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Rack serial 268708630001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87168"/>
            <a:ext cx="3840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6B6B"/>
                </a:solidFill>
                <a:latin typeface="Arial"/>
              </a:rPr>
              <a:t>Slot</a:t>
            </a:r>
            <a:r>
              <a:rPr sz="1100" b="1">
                <a:solidFill>
                  <a:srgbClr val="6B6B6B"/>
                </a:solidFill>
                <a:latin typeface="Arial"/>
              </a:rPr>
              <a:t>    Serial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SS1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268645410001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SS2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268645440007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SS3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268645430002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SS4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268645430004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487168"/>
            <a:ext cx="668700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B6B"/>
                </a:solidFill>
                <a:latin typeface="Arial"/>
              </a:rPr>
              <a:t>Where it stands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Assembled, not yet tested: no controller has an L11 run against this rack or its four servers. Provisioning and rack test are still ahead of it.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The all-hands page keeps this current from the controllers; this slide is a snapshot of 2026-W34.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End-to-end test flow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every insertion, including the ones nothing reports · grey test boxes are not collected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10512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30352" y="1389888"/>
            <a:ext cx="117043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45389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965960"/>
            <a:ext cx="1170432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02996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114" b="1">
                <a:solidFill>
                  <a:srgbClr val="B3281E"/>
                </a:solidFill>
                <a:latin typeface="Arial"/>
              </a:rPr>
              <a:t>32.5%</a:t>
            </a:r>
            <a:r>
              <a:rPr sz="594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542032"/>
            <a:ext cx="1170432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60604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114" b="1">
                <a:solidFill>
                  <a:srgbClr val="B56B00"/>
                </a:solidFill>
                <a:latin typeface="Arial"/>
              </a:rPr>
              <a:t>84.3%</a:t>
            </a:r>
            <a:r>
              <a:rPr sz="594" b="0">
                <a:solidFill>
                  <a:srgbClr val="6B6B6B"/>
                </a:solidFill>
                <a:latin typeface="Arial"/>
              </a:rPr>
              <a:t>  reported 9d ago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18104"/>
            <a:ext cx="117043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1821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66944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20240" y="1389888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2536" y="145389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BB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1965960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2029968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HPB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270248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2536" y="433425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PV1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4846320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02536" y="4910328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VBB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5422392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2536" y="5486400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PDB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82112" y="2542032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64408" y="2606040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56B00"/>
                </a:solidFill>
                <a:latin typeface="Arial"/>
              </a:rPr>
              <a:t>77.1%</a:t>
            </a:r>
            <a:r>
              <a:rPr sz="668" b="0">
                <a:solidFill>
                  <a:srgbClr val="6B6B6B"/>
                </a:solidFill>
                <a:latin typeface="Arial"/>
              </a:rPr>
              <a:t>  265u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82112" y="3118104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4408" y="3182112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56B00"/>
                </a:solidFill>
                <a:latin typeface="Arial"/>
              </a:rPr>
              <a:t>71.2%</a:t>
            </a:r>
            <a:r>
              <a:rPr sz="668" b="0">
                <a:solidFill>
                  <a:srgbClr val="6B6B6B"/>
                </a:solidFill>
                <a:latin typeface="Arial"/>
              </a:rPr>
              <a:t>  350u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82112" y="3694176"/>
            <a:ext cx="1188720" cy="475488"/>
          </a:xfrm>
          <a:prstGeom prst="roundRect">
            <a:avLst/>
          </a:prstGeom>
          <a:solidFill>
            <a:srgbClr val="DFE7EF"/>
          </a:solidFill>
          <a:ln w="12700">
            <a:solidFill>
              <a:srgbClr val="8FA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64408" y="3758184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TIM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48.4%</a:t>
            </a:r>
            <a:r>
              <a:rPr sz="668" b="0">
                <a:solidFill>
                  <a:srgbClr val="6B6B6B"/>
                </a:solidFill>
                <a:latin typeface="Arial"/>
              </a:rPr>
              <a:t>  161u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82112" y="4270248"/>
            <a:ext cx="11887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64408" y="4334256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PV1 ASSY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82112" y="4846320"/>
            <a:ext cx="1188720" cy="475488"/>
          </a:xfrm>
          <a:prstGeom prst="roundRect">
            <a:avLst/>
          </a:prstGeom>
          <a:solidFill>
            <a:srgbClr val="DFE7EF"/>
          </a:solidFill>
          <a:ln w="12700">
            <a:solidFill>
              <a:srgbClr val="8FA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64408" y="4910328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Flash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OTP · cert · lock BL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98848" y="4270248"/>
            <a:ext cx="530352" cy="475488"/>
          </a:xfrm>
          <a:prstGeom prst="roundRect">
            <a:avLst/>
          </a:prstGeom>
          <a:solidFill>
            <a:srgbClr val="DFE7EF"/>
          </a:solidFill>
          <a:ln w="12700">
            <a:solidFill>
              <a:srgbClr val="8FA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81144" y="43342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BFT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 · ETCH-39584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98848" y="5422392"/>
            <a:ext cx="530352" cy="475488"/>
          </a:xfrm>
          <a:prstGeom prst="roundRect">
            <a:avLst/>
          </a:prstGeom>
          <a:solidFill>
            <a:srgbClr val="DFE7EF"/>
          </a:solidFill>
          <a:ln w="12700">
            <a:solidFill>
              <a:srgbClr val="8FA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1144" y="5486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PDB CK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667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29984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5376672" y="1389888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58968" y="1453896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4U ASSY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76672" y="1965960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8968" y="2029968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2U ASSY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76672" y="2542032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58968" y="2606040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2U Component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2U System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491472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839712" y="1389888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22008" y="1453896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SFT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14.3%</a:t>
            </a:r>
            <a:r>
              <a:rPr sz="668" b="0">
                <a:solidFill>
                  <a:srgbClr val="6B6B6B"/>
                </a:solidFill>
                <a:latin typeface="Arial"/>
              </a:rPr>
              <a:t>  15u*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39712" y="1965960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22008" y="2029968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FAT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0.0%</a:t>
            </a:r>
            <a:r>
              <a:rPr sz="668" b="0">
                <a:solidFill>
                  <a:srgbClr val="6B6B6B"/>
                </a:solidFill>
                <a:latin typeface="Arial"/>
              </a:rPr>
              <a:t>  16u*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39712" y="2542032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22008" y="2606040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2U System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0.0%</a:t>
            </a:r>
            <a:r>
              <a:rPr sz="668" b="0">
                <a:solidFill>
                  <a:srgbClr val="6B6B6B"/>
                </a:solidFill>
                <a:latin typeface="Arial"/>
              </a:rPr>
              <a:t>  2u*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39712" y="3118104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22008" y="3182112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66175" y="1389888"/>
            <a:ext cx="1133856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48471" y="145389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25.0%</a:t>
            </a:r>
            <a:r>
              <a:rPr sz="668" b="0">
                <a:solidFill>
                  <a:srgbClr val="6B6B6B"/>
                </a:solidFill>
                <a:latin typeface="Arial"/>
              </a:rPr>
              <a:t>  5u*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877824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01200" y="1389888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83496" y="1453896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01200" y="1965960"/>
            <a:ext cx="1417320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83496" y="2029968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Provision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0.0%</a:t>
            </a:r>
            <a:r>
              <a:rPr sz="668" b="0">
                <a:solidFill>
                  <a:srgbClr val="6B6B6B"/>
                </a:solidFill>
                <a:latin typeface="Arial"/>
              </a:rPr>
              <a:t>  1u*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1200" y="2542032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83496" y="2606040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FAT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01200" y="3118104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83496" y="3182112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SFT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FAT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01200" y="3694176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83496" y="3758184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FAT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01200" y="4270248"/>
            <a:ext cx="1417320" cy="475488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83496" y="4334256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115568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115568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15568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700784" y="2779776"/>
            <a:ext cx="786384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87168" y="2779776"/>
            <a:ext cx="0" cy="1490472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54096" y="4507992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76472" y="4169664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76472" y="3593592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76472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76472" y="1627632"/>
            <a:ext cx="0" cy="91440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776472" y="1627632"/>
            <a:ext cx="160020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54096" y="1627632"/>
            <a:ext cx="232257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87168" y="1298448"/>
            <a:ext cx="0" cy="667512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487168" y="1298448"/>
            <a:ext cx="3538728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25896" y="1298448"/>
            <a:ext cx="0" cy="9144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54096" y="5084064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370832" y="5084064"/>
            <a:ext cx="393192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764024" y="4745736"/>
            <a:ext cx="0" cy="33832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5102352" y="1627632"/>
            <a:ext cx="0" cy="2642616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102352" y="1627632"/>
            <a:ext cx="27432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54096" y="5660136"/>
            <a:ext cx="1444752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193792" y="2203704"/>
            <a:ext cx="0" cy="3218688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93792" y="2203704"/>
            <a:ext cx="18288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6025896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6784848" y="1865376"/>
            <a:ext cx="0" cy="1490472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6784848" y="3355848"/>
            <a:ext cx="5486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025896" y="3017520"/>
            <a:ext cx="0" cy="338328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025896" y="3355848"/>
            <a:ext cx="8138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7488936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7488936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7488936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8138160" y="1627632"/>
            <a:ext cx="128015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00032" y="1627632"/>
            <a:ext cx="201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309860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309860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309860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309860" y="3593592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309860" y="4169664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530352" y="6053328"/>
            <a:ext cx="1113099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6B6B6B"/>
                </a:solidFill>
                <a:latin typeface="Arial"/>
              </a:rPr>
              <a:t>Flash and BFT are two boxes, not one. </a:t>
            </a:r>
            <a:r>
              <a:rPr sz="850" b="0">
                <a:solidFill>
                  <a:srgbClr val="6B6B6B"/>
                </a:solidFill>
                <a:latin typeface="Arial"/>
              </a:rPr>
              <a:t>Flash is the VBB provisioning we collect — ROT OTP, production certificate, bootloader lock. BFT is I2C, UART, GPIO, power-on and PRBS (ETCH-39584) and reports to no controller; drawn as one box it borrowed the provisioning yield.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2U Component and 2U System are one station key at two insertions, and FAT / SFT / Runin at L11 are one key at three — the number is printed once so the boxes cannot disagree. Source: pega2, pega6, pega3, pega4, pega5 (ESVM).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