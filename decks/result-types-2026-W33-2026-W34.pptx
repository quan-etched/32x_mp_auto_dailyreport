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1F1F1F"/>
                </a:solidFill>
              </a:rPr>
              <a:t>Result types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</a:rPr>
              <a:t>2026-W33 · 2026-08-10 to 2026-08-16 · one outcome per unit per station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</a:rPr>
              <a:t>MLT</a:t>
            </a:r>
            <a:r>
              <a:rPr sz="1100" b="0">
                <a:solidFill>
                  <a:srgbClr val="6B6B6B"/>
                </a:solidFill>
              </a:rPr>
              <a:t>    228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3407343" cy="274320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10263" y="1920240"/>
            <a:ext cx="615214" cy="274320"/>
          </a:xfrm>
          <a:prstGeom prst="round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25477" y="1920240"/>
            <a:ext cx="1372402" cy="2743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95728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</a:rPr>
              <a:t>Pass          </a:t>
            </a:r>
            <a:r>
              <a:rPr sz="1400" b="1">
                <a:solidFill>
                  <a:srgbClr val="1F1F1F"/>
                </a:solidFill>
              </a:rPr>
              <a:t>   144</a:t>
            </a:r>
            <a:r>
              <a:rPr sz="1100" b="0">
                <a:solidFill>
                  <a:srgbClr val="6B6B6B"/>
                </a:solidFill>
              </a:rPr>
              <a:t>    63%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</a:rPr>
              <a:t>Retest Pass   </a:t>
            </a:r>
            <a:r>
              <a:rPr sz="1400" b="1">
                <a:solidFill>
                  <a:srgbClr val="1F1F1F"/>
                </a:solidFill>
              </a:rPr>
              <a:t>    26</a:t>
            </a:r>
            <a:r>
              <a:rPr sz="1100" b="0">
                <a:solidFill>
                  <a:srgbClr val="6B6B6B"/>
                </a:solidFill>
              </a:rPr>
              <a:t>    11%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</a:rPr>
              <a:t>Bonepile      </a:t>
            </a:r>
            <a:r>
              <a:rPr sz="1400" b="1">
                <a:solidFill>
                  <a:srgbClr val="1F1F1F"/>
                </a:solidFill>
              </a:rPr>
              <a:t>    58</a:t>
            </a:r>
            <a:r>
              <a:rPr sz="1100" b="0">
                <a:solidFill>
                  <a:srgbClr val="6B6B6B"/>
                </a:solidFill>
              </a:rPr>
              <a:t>    25%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</a:rPr>
              <a:t>No result     </a:t>
            </a:r>
            <a:r>
              <a:rPr sz="1400" b="1">
                <a:solidFill>
                  <a:srgbClr val="6B6B6B"/>
                </a:solidFill>
              </a:rPr>
              <a:t>     0</a:t>
            </a:r>
            <a:r>
              <a:rPr sz="1100" b="0">
                <a:solidFill>
                  <a:srgbClr val="6B6B6B"/>
                </a:solidFill>
              </a:rPr>
              <a:t>     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59936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</a:rPr>
              <a:t>26 of 84 first-attempt failures came back (31.0%) — 26 on the same build, 0 on a new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</a:rPr>
              <a:t>HTT</a:t>
            </a:r>
            <a:r>
              <a:rPr sz="1100" b="0">
                <a:solidFill>
                  <a:srgbClr val="6B6B6B"/>
                </a:solidFill>
              </a:rPr>
              <a:t>    170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920240"/>
            <a:ext cx="2951360" cy="274320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60719" y="1920240"/>
            <a:ext cx="761641" cy="274320"/>
          </a:xfrm>
          <a:prstGeom prst="round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22360" y="1920240"/>
            <a:ext cx="1681958" cy="2743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</a:rPr>
              <a:t>Pass          </a:t>
            </a:r>
            <a:r>
              <a:rPr sz="1400" b="1">
                <a:solidFill>
                  <a:srgbClr val="1F1F1F"/>
                </a:solidFill>
              </a:rPr>
              <a:t>    93</a:t>
            </a:r>
            <a:r>
              <a:rPr sz="1100" b="0">
                <a:solidFill>
                  <a:srgbClr val="6B6B6B"/>
                </a:solidFill>
              </a:rPr>
              <a:t>    55%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</a:rPr>
              <a:t>Retest Pass   </a:t>
            </a:r>
            <a:r>
              <a:rPr sz="1400" b="1">
                <a:solidFill>
                  <a:srgbClr val="1F1F1F"/>
                </a:solidFill>
              </a:rPr>
              <a:t>    24</a:t>
            </a:r>
            <a:r>
              <a:rPr sz="1100" b="0">
                <a:solidFill>
                  <a:srgbClr val="6B6B6B"/>
                </a:solidFill>
              </a:rPr>
              <a:t>    14%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</a:rPr>
              <a:t>Bonepile      </a:t>
            </a:r>
            <a:r>
              <a:rPr sz="1400" b="1">
                <a:solidFill>
                  <a:srgbClr val="1F1F1F"/>
                </a:solidFill>
              </a:rPr>
              <a:t>    53</a:t>
            </a:r>
            <a:r>
              <a:rPr sz="1100" b="0">
                <a:solidFill>
                  <a:srgbClr val="6B6B6B"/>
                </a:solidFill>
              </a:rPr>
              <a:t>    31%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</a:rPr>
              <a:t>No result     </a:t>
            </a:r>
            <a:r>
              <a:rPr sz="1400" b="1">
                <a:solidFill>
                  <a:srgbClr val="6B6B6B"/>
                </a:solidFill>
              </a:rPr>
              <a:t>     0</a:t>
            </a:r>
            <a:r>
              <a:rPr sz="1100" b="0">
                <a:solidFill>
                  <a:srgbClr val="6B6B6B"/>
                </a:solidFill>
              </a:rPr>
              <a:t>     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4059936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</a:rPr>
              <a:t>24 of 77 first-attempt failures came back (31.2%) — 24 on the same build, 0 on a new 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704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</a:rPr>
              <a:t>Pass is a first attempt that passed. Retest Pass failed first and passed later — back in the flow, at the cost of a second insertion, which is why it is amber and not a second green. Bonepile failed first and has never passed: no retest, or every retest failed.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</a:rPr>
              <a:t>Fail is not a fifth type — it is Retest Pass plus Bonepile. MLT and HTT only; TIM is a bake and is reported separately.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1F1F1F"/>
                </a:solidFill>
              </a:rPr>
              <a:t>MLT → HTT by result type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</a:rPr>
              <a:t>2026-W33 · 2026-08-10 to 2026-08-16 · every unit MLT saw, and what happened to it at HTT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063240" y="1572768"/>
            <a:ext cx="5669280" cy="1305827"/>
          </a:xfrm>
          <a:custGeom>
            <a:avLst/>
            <a:gdLst/>
            <a:ahLst/>
            <a:cxnLst/>
            <a:rect l="l" t="t" r="r" b="b"/>
            <a:pathLst>
              <a:path w="5669280" h="1305827">
                <a:moveTo>
                  <a:pt x="0" y="0"/>
                </a:moveTo>
                <a:lnTo>
                  <a:pt x="2834640" y="0"/>
                </a:lnTo>
                <a:lnTo>
                  <a:pt x="2834640" y="0"/>
                </a:lnTo>
                <a:lnTo>
                  <a:pt x="5669280" y="0"/>
                </a:lnTo>
                <a:lnTo>
                  <a:pt x="5669280" y="1305827"/>
                </a:lnTo>
                <a:lnTo>
                  <a:pt x="2834640" y="1305827"/>
                </a:lnTo>
                <a:lnTo>
                  <a:pt x="2834640" y="1305827"/>
                </a:lnTo>
                <a:lnTo>
                  <a:pt x="0" y="1305827"/>
                </a:lnTo>
                <a:close/>
              </a:path>
            </a:pathLst>
          </a:cu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063240" y="4730736"/>
            <a:ext cx="5669280" cy="925670"/>
          </a:xfrm>
          <a:custGeom>
            <a:avLst/>
            <a:gdLst/>
            <a:ahLst/>
            <a:cxnLst/>
            <a:rect l="l" t="t" r="r" b="b"/>
            <a:pathLst>
              <a:path w="5669280" h="925670">
                <a:moveTo>
                  <a:pt x="0" y="0"/>
                </a:moveTo>
                <a:lnTo>
                  <a:pt x="2834640" y="0"/>
                </a:lnTo>
                <a:lnTo>
                  <a:pt x="2834640" y="27913"/>
                </a:lnTo>
                <a:lnTo>
                  <a:pt x="5669280" y="27913"/>
                </a:lnTo>
                <a:lnTo>
                  <a:pt x="5669280" y="925670"/>
                </a:lnTo>
                <a:lnTo>
                  <a:pt x="2834640" y="925670"/>
                </a:lnTo>
                <a:lnTo>
                  <a:pt x="2834640" y="897756"/>
                </a:lnTo>
                <a:lnTo>
                  <a:pt x="0" y="897756"/>
                </a:lnTo>
                <a:close/>
              </a:path>
            </a:pathLst>
          </a:cu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063240" y="2878595"/>
            <a:ext cx="5669280" cy="1516300"/>
          </a:xfrm>
          <a:custGeom>
            <a:avLst/>
            <a:gdLst/>
            <a:ahLst/>
            <a:cxnLst/>
            <a:rect l="l" t="t" r="r" b="b"/>
            <a:pathLst>
              <a:path w="5669280" h="1516300">
                <a:moveTo>
                  <a:pt x="0" y="0"/>
                </a:moveTo>
                <a:lnTo>
                  <a:pt x="2834640" y="0"/>
                </a:lnTo>
                <a:lnTo>
                  <a:pt x="2834640" y="879709"/>
                </a:lnTo>
                <a:lnTo>
                  <a:pt x="5669280" y="879709"/>
                </a:lnTo>
                <a:lnTo>
                  <a:pt x="5669280" y="1516300"/>
                </a:lnTo>
                <a:lnTo>
                  <a:pt x="2834640" y="1516300"/>
                </a:lnTo>
                <a:lnTo>
                  <a:pt x="2834640" y="636591"/>
                </a:lnTo>
                <a:lnTo>
                  <a:pt x="0" y="636591"/>
                </a:lnTo>
                <a:close/>
              </a:path>
            </a:pathLst>
          </a:cu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063240" y="3245277"/>
            <a:ext cx="5669280" cy="629011"/>
          </a:xfrm>
          <a:custGeom>
            <a:avLst/>
            <a:gdLst/>
            <a:ahLst/>
            <a:cxnLst/>
            <a:rect l="l" t="t" r="r" b="b"/>
            <a:pathLst>
              <a:path w="5669280" h="629011">
                <a:moveTo>
                  <a:pt x="0" y="269909"/>
                </a:moveTo>
                <a:lnTo>
                  <a:pt x="2834640" y="269909"/>
                </a:lnTo>
                <a:lnTo>
                  <a:pt x="2834640" y="0"/>
                </a:lnTo>
                <a:lnTo>
                  <a:pt x="5669280" y="0"/>
                </a:lnTo>
                <a:lnTo>
                  <a:pt x="5669280" y="359103"/>
                </a:lnTo>
                <a:lnTo>
                  <a:pt x="2834640" y="359103"/>
                </a:lnTo>
                <a:lnTo>
                  <a:pt x="2834640" y="629011"/>
                </a:lnTo>
                <a:lnTo>
                  <a:pt x="0" y="629011"/>
                </a:lnTo>
                <a:close/>
              </a:path>
            </a:pathLst>
          </a:cu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063240" y="2878595"/>
            <a:ext cx="5669280" cy="1505191"/>
          </a:xfrm>
          <a:custGeom>
            <a:avLst/>
            <a:gdLst/>
            <a:ahLst/>
            <a:cxnLst/>
            <a:rect l="l" t="t" r="r" b="b"/>
            <a:pathLst>
              <a:path w="5669280" h="1505191">
                <a:moveTo>
                  <a:pt x="0" y="1292994"/>
                </a:moveTo>
                <a:lnTo>
                  <a:pt x="2834640" y="1292994"/>
                </a:lnTo>
                <a:lnTo>
                  <a:pt x="2834640" y="0"/>
                </a:lnTo>
                <a:lnTo>
                  <a:pt x="5669280" y="0"/>
                </a:lnTo>
                <a:lnTo>
                  <a:pt x="5669280" y="212197"/>
                </a:lnTo>
                <a:lnTo>
                  <a:pt x="2834640" y="212197"/>
                </a:lnTo>
                <a:lnTo>
                  <a:pt x="2834640" y="1505191"/>
                </a:lnTo>
                <a:lnTo>
                  <a:pt x="0" y="1505191"/>
                </a:lnTo>
                <a:close/>
              </a:path>
            </a:pathLst>
          </a:cu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063240" y="4383786"/>
            <a:ext cx="5669280" cy="190660"/>
          </a:xfrm>
          <a:custGeom>
            <a:avLst/>
            <a:gdLst/>
            <a:ahLst/>
            <a:cxnLst/>
            <a:rect l="l" t="t" r="r" b="b"/>
            <a:pathLst>
              <a:path w="5669280" h="190660">
                <a:moveTo>
                  <a:pt x="0" y="0"/>
                </a:moveTo>
                <a:lnTo>
                  <a:pt x="2834640" y="0"/>
                </a:lnTo>
                <a:lnTo>
                  <a:pt x="2834640" y="11109"/>
                </a:lnTo>
                <a:lnTo>
                  <a:pt x="5669280" y="11109"/>
                </a:lnTo>
                <a:lnTo>
                  <a:pt x="5669280" y="190660"/>
                </a:lnTo>
                <a:lnTo>
                  <a:pt x="2834640" y="190660"/>
                </a:lnTo>
                <a:lnTo>
                  <a:pt x="2834640" y="179551"/>
                </a:lnTo>
                <a:lnTo>
                  <a:pt x="0" y="179551"/>
                </a:lnTo>
                <a:close/>
              </a:path>
            </a:pathLst>
          </a:cu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063240" y="4574446"/>
            <a:ext cx="5669280" cy="1103015"/>
          </a:xfrm>
          <a:custGeom>
            <a:avLst/>
            <a:gdLst/>
            <a:ahLst/>
            <a:cxnLst/>
            <a:rect l="l" t="t" r="r" b="b"/>
            <a:pathLst>
              <a:path w="5669280" h="1103015">
                <a:moveTo>
                  <a:pt x="0" y="1054046"/>
                </a:moveTo>
                <a:lnTo>
                  <a:pt x="2834640" y="1054046"/>
                </a:lnTo>
                <a:lnTo>
                  <a:pt x="2834640" y="0"/>
                </a:lnTo>
                <a:lnTo>
                  <a:pt x="5669280" y="0"/>
                </a:lnTo>
                <a:lnTo>
                  <a:pt x="5669280" y="48968"/>
                </a:lnTo>
                <a:lnTo>
                  <a:pt x="2834640" y="48968"/>
                </a:lnTo>
                <a:lnTo>
                  <a:pt x="2834640" y="1103015"/>
                </a:lnTo>
                <a:lnTo>
                  <a:pt x="0" y="1103015"/>
                </a:lnTo>
                <a:close/>
              </a:path>
            </a:pathLst>
          </a:cu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063240" y="3874288"/>
            <a:ext cx="5669280" cy="1831086"/>
          </a:xfrm>
          <a:custGeom>
            <a:avLst/>
            <a:gdLst/>
            <a:ahLst/>
            <a:cxnLst/>
            <a:rect l="l" t="t" r="r" b="b"/>
            <a:pathLst>
              <a:path w="5669280" h="1831086">
                <a:moveTo>
                  <a:pt x="0" y="0"/>
                </a:moveTo>
                <a:lnTo>
                  <a:pt x="2834640" y="0"/>
                </a:lnTo>
                <a:lnTo>
                  <a:pt x="2834640" y="1782118"/>
                </a:lnTo>
                <a:lnTo>
                  <a:pt x="5669280" y="1782118"/>
                </a:lnTo>
                <a:lnTo>
                  <a:pt x="5669280" y="1831086"/>
                </a:lnTo>
                <a:lnTo>
                  <a:pt x="2834640" y="1831086"/>
                </a:lnTo>
                <a:lnTo>
                  <a:pt x="2834640" y="48969"/>
                </a:lnTo>
                <a:lnTo>
                  <a:pt x="0" y="48969"/>
                </a:lnTo>
                <a:close/>
              </a:path>
            </a:pathLst>
          </a:cu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3063240" y="3604380"/>
            <a:ext cx="5669280" cy="991602"/>
          </a:xfrm>
          <a:custGeom>
            <a:avLst/>
            <a:gdLst/>
            <a:ahLst/>
            <a:cxnLst/>
            <a:rect l="l" t="t" r="r" b="b"/>
            <a:pathLst>
              <a:path w="5669280" h="991602">
                <a:moveTo>
                  <a:pt x="0" y="958957"/>
                </a:moveTo>
                <a:lnTo>
                  <a:pt x="2834640" y="958957"/>
                </a:lnTo>
                <a:lnTo>
                  <a:pt x="2834640" y="0"/>
                </a:lnTo>
                <a:lnTo>
                  <a:pt x="5669280" y="0"/>
                </a:lnTo>
                <a:lnTo>
                  <a:pt x="5669280" y="32646"/>
                </a:lnTo>
                <a:lnTo>
                  <a:pt x="2834640" y="32646"/>
                </a:lnTo>
                <a:lnTo>
                  <a:pt x="2834640" y="991602"/>
                </a:lnTo>
                <a:lnTo>
                  <a:pt x="0" y="991602"/>
                </a:lnTo>
                <a:close/>
              </a:path>
            </a:pathLst>
          </a:cu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1572768"/>
            <a:ext cx="182880" cy="2489093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16730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Pass   144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171589"/>
            <a:ext cx="182880" cy="449419"/>
          </a:xfrm>
          <a:prstGeom prst="round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95714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Retest Pass   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4730736"/>
            <a:ext cx="182880" cy="1002551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131428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Bonepile   58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1572768"/>
            <a:ext cx="182880" cy="1562781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25357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Pass   93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3245277"/>
            <a:ext cx="182880" cy="403298"/>
          </a:xfrm>
          <a:prstGeom prst="round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3346343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Retest Pass   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3758304"/>
            <a:ext cx="182880" cy="890617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4103029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Bonepile   53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4758649"/>
            <a:ext cx="182880" cy="974638"/>
          </a:xfrm>
          <a:prstGeom prst="roundRect">
            <a:avLst/>
          </a:prstGeom>
          <a:solidFill>
            <a:srgbClr val="B9B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514538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did not reach HTT   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2435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6B6B6B"/>
                </a:solidFill>
              </a:rPr>
              <a:t>MLT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12435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6B6B6B"/>
                </a:solidFill>
              </a:rPr>
              <a:t>HTT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8704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</a:rPr>
              <a:t>Ribbon width is units. The two grey bands are not results: “did not reach HTT” is a unit MLT saw and HTT did not — mostly correct, since a module that failed MLT should not be at HTT — and “not seen at MLT” arrived from before this week.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</a:rPr>
              <a:t>Largest flow: 80 units, Pass at MLT to Pass at HTT.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</a:rPr>
              <a:t>39 units passed MLT first time and are now in the HTT bonepile — the single biggest loss on this chart, and it is not a retest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1F1F1F"/>
                </a:solidFill>
              </a:rPr>
              <a:t>Result types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</a:rPr>
              <a:t>2026-W34 · 2026-08-17 to 2026-08-23 · one outcome per unit per station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</a:rPr>
              <a:t>MLT</a:t>
            </a:r>
            <a:r>
              <a:rPr sz="1100" b="0">
                <a:solidFill>
                  <a:srgbClr val="6B6B6B"/>
                </a:solidFill>
              </a:rPr>
              <a:t>    350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3853542" cy="274320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56462" y="1920240"/>
            <a:ext cx="154141" cy="274320"/>
          </a:xfrm>
          <a:prstGeom prst="round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10604" y="1920240"/>
            <a:ext cx="1387275" cy="2743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95728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</a:rPr>
              <a:t>Pass          </a:t>
            </a:r>
            <a:r>
              <a:rPr sz="1400" b="1">
                <a:solidFill>
                  <a:srgbClr val="1F1F1F"/>
                </a:solidFill>
              </a:rPr>
              <a:t>   250</a:t>
            </a:r>
            <a:r>
              <a:rPr sz="1100" b="0">
                <a:solidFill>
                  <a:srgbClr val="6B6B6B"/>
                </a:solidFill>
              </a:rPr>
              <a:t>    71%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</a:rPr>
              <a:t>Retest Pass   </a:t>
            </a:r>
            <a:r>
              <a:rPr sz="1400" b="1">
                <a:solidFill>
                  <a:srgbClr val="1F1F1F"/>
                </a:solidFill>
              </a:rPr>
              <a:t>    10</a:t>
            </a:r>
            <a:r>
              <a:rPr sz="1100" b="0">
                <a:solidFill>
                  <a:srgbClr val="6B6B6B"/>
                </a:solidFill>
              </a:rPr>
              <a:t>     3%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</a:rPr>
              <a:t>Bonepile      </a:t>
            </a:r>
            <a:r>
              <a:rPr sz="1400" b="1">
                <a:solidFill>
                  <a:srgbClr val="1F1F1F"/>
                </a:solidFill>
              </a:rPr>
              <a:t>    90</a:t>
            </a:r>
            <a:r>
              <a:rPr sz="1100" b="0">
                <a:solidFill>
                  <a:srgbClr val="6B6B6B"/>
                </a:solidFill>
              </a:rPr>
              <a:t>    26%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</a:rPr>
              <a:t>No result     </a:t>
            </a:r>
            <a:r>
              <a:rPr sz="1400" b="1">
                <a:solidFill>
                  <a:srgbClr val="6B6B6B"/>
                </a:solidFill>
              </a:rPr>
              <a:t>     0</a:t>
            </a:r>
            <a:r>
              <a:rPr sz="1100" b="0">
                <a:solidFill>
                  <a:srgbClr val="6B6B6B"/>
                </a:solidFill>
              </a:rPr>
              <a:t>     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59936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</a:rPr>
              <a:t>10 of 100 first-attempt failures came back (10.0%) — 7 on the same build, 3 on a new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</a:rPr>
              <a:t>HTT</a:t>
            </a:r>
            <a:r>
              <a:rPr sz="1100" b="0">
                <a:solidFill>
                  <a:srgbClr val="6B6B6B"/>
                </a:solidFill>
              </a:rPr>
              <a:t>    265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920240"/>
            <a:ext cx="4010592" cy="274320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19951" y="1920240"/>
            <a:ext cx="1384367" cy="2743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95728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</a:rPr>
              <a:t>Pass          </a:t>
            </a:r>
            <a:r>
              <a:rPr sz="1400" b="1">
                <a:solidFill>
                  <a:srgbClr val="1F1F1F"/>
                </a:solidFill>
              </a:rPr>
              <a:t>   197</a:t>
            </a:r>
            <a:r>
              <a:rPr sz="1100" b="0">
                <a:solidFill>
                  <a:srgbClr val="6B6B6B"/>
                </a:solidFill>
              </a:rPr>
              <a:t>    74%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</a:rPr>
              <a:t>Retest Pass   </a:t>
            </a:r>
            <a:r>
              <a:rPr sz="1400" b="1">
                <a:solidFill>
                  <a:srgbClr val="6B6B6B"/>
                </a:solidFill>
              </a:rPr>
              <a:t>     0</a:t>
            </a:r>
            <a:r>
              <a:rPr sz="1100" b="0">
                <a:solidFill>
                  <a:srgbClr val="6B6B6B"/>
                </a:solidFill>
              </a:rPr>
              <a:t>     0%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</a:rPr>
              <a:t>Bonepile      </a:t>
            </a:r>
            <a:r>
              <a:rPr sz="1400" b="1">
                <a:solidFill>
                  <a:srgbClr val="1F1F1F"/>
                </a:solidFill>
              </a:rPr>
              <a:t>    68</a:t>
            </a:r>
            <a:r>
              <a:rPr sz="1100" b="0">
                <a:solidFill>
                  <a:srgbClr val="6B6B6B"/>
                </a:solidFill>
              </a:rPr>
              <a:t>    26%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</a:rPr>
              <a:t>No result     </a:t>
            </a:r>
            <a:r>
              <a:rPr sz="1400" b="1">
                <a:solidFill>
                  <a:srgbClr val="6B6B6B"/>
                </a:solidFill>
              </a:rPr>
              <a:t>     0</a:t>
            </a:r>
            <a:r>
              <a:rPr sz="1100" b="0">
                <a:solidFill>
                  <a:srgbClr val="6B6B6B"/>
                </a:solidFill>
              </a:rPr>
              <a:t>     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4059936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</a:rPr>
              <a:t>0 of 68 first-attempt failures came back (0.0%).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704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</a:rPr>
              <a:t>Pass is a first attempt that passed. Retest Pass failed first and passed later — back in the flow, at the cost of a second insertion, which is why it is amber and not a second green. Bonepile failed first and has never passed: no retest, or every retest failed.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</a:rPr>
              <a:t>Fail is not a fifth type — it is Retest Pass plus Bonepile. MLT and HTT only; TIM is a bake and is reported separately.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1F1F1F"/>
                </a:solidFill>
              </a:rPr>
              <a:t>MLT → HTT by result type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</a:rPr>
              <a:t>2026-W34 · 2026-08-17 to 2026-08-23 · every unit MLT saw, and what happened to it at HTT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063240" y="1572768"/>
            <a:ext cx="5669280" cy="1921813"/>
          </a:xfrm>
          <a:custGeom>
            <a:avLst/>
            <a:gdLst/>
            <a:ahLst/>
            <a:cxnLst/>
            <a:rect l="l" t="t" r="r" b="b"/>
            <a:pathLst>
              <a:path w="5669280" h="1921813">
                <a:moveTo>
                  <a:pt x="0" y="0"/>
                </a:moveTo>
                <a:lnTo>
                  <a:pt x="2834640" y="0"/>
                </a:lnTo>
                <a:lnTo>
                  <a:pt x="2834640" y="0"/>
                </a:lnTo>
                <a:lnTo>
                  <a:pt x="5669280" y="0"/>
                </a:lnTo>
                <a:lnTo>
                  <a:pt x="5669280" y="1921813"/>
                </a:lnTo>
                <a:lnTo>
                  <a:pt x="2834640" y="1921813"/>
                </a:lnTo>
                <a:lnTo>
                  <a:pt x="2834640" y="1921813"/>
                </a:lnTo>
                <a:lnTo>
                  <a:pt x="0" y="1921813"/>
                </a:lnTo>
                <a:close/>
              </a:path>
            </a:pathLst>
          </a:cu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063240" y="4513938"/>
            <a:ext cx="5669280" cy="1036769"/>
          </a:xfrm>
          <a:custGeom>
            <a:avLst/>
            <a:gdLst/>
            <a:ahLst/>
            <a:cxnLst/>
            <a:rect l="l" t="t" r="r" b="b"/>
            <a:pathLst>
              <a:path w="5669280" h="1036769">
                <a:moveTo>
                  <a:pt x="0" y="0"/>
                </a:moveTo>
                <a:lnTo>
                  <a:pt x="2834640" y="0"/>
                </a:lnTo>
                <a:lnTo>
                  <a:pt x="2834640" y="131788"/>
                </a:lnTo>
                <a:lnTo>
                  <a:pt x="5669280" y="131788"/>
                </a:lnTo>
                <a:lnTo>
                  <a:pt x="5669280" y="1036769"/>
                </a:lnTo>
                <a:lnTo>
                  <a:pt x="2834640" y="1036769"/>
                </a:lnTo>
                <a:lnTo>
                  <a:pt x="2834640" y="904981"/>
                </a:lnTo>
                <a:lnTo>
                  <a:pt x="0" y="904981"/>
                </a:lnTo>
                <a:close/>
              </a:path>
            </a:pathLst>
          </a:cu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063240" y="3494581"/>
            <a:ext cx="5669280" cy="858287"/>
          </a:xfrm>
          <a:custGeom>
            <a:avLst/>
            <a:gdLst/>
            <a:ahLst/>
            <a:cxnLst/>
            <a:rect l="l" t="t" r="r" b="b"/>
            <a:pathLst>
              <a:path w="5669280" h="858287">
                <a:moveTo>
                  <a:pt x="0" y="0"/>
                </a:moveTo>
                <a:lnTo>
                  <a:pt x="2834640" y="0"/>
                </a:lnTo>
                <a:lnTo>
                  <a:pt x="2834640" y="309198"/>
                </a:lnTo>
                <a:lnTo>
                  <a:pt x="5669280" y="309198"/>
                </a:lnTo>
                <a:lnTo>
                  <a:pt x="5669280" y="858287"/>
                </a:lnTo>
                <a:lnTo>
                  <a:pt x="2834640" y="858287"/>
                </a:lnTo>
                <a:lnTo>
                  <a:pt x="2834640" y="549090"/>
                </a:lnTo>
                <a:lnTo>
                  <a:pt x="0" y="549090"/>
                </a:lnTo>
                <a:close/>
              </a:path>
            </a:pathLst>
          </a:cu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063240" y="4352868"/>
            <a:ext cx="5669280" cy="1324781"/>
          </a:xfrm>
          <a:custGeom>
            <a:avLst/>
            <a:gdLst/>
            <a:ahLst/>
            <a:cxnLst/>
            <a:rect l="l" t="t" r="r" b="b"/>
            <a:pathLst>
              <a:path w="5669280" h="1324781">
                <a:moveTo>
                  <a:pt x="0" y="1212929"/>
                </a:moveTo>
                <a:lnTo>
                  <a:pt x="2834640" y="1212929"/>
                </a:lnTo>
                <a:lnTo>
                  <a:pt x="2834640" y="0"/>
                </a:lnTo>
                <a:lnTo>
                  <a:pt x="5669280" y="0"/>
                </a:lnTo>
                <a:lnTo>
                  <a:pt x="5669280" y="111852"/>
                </a:lnTo>
                <a:lnTo>
                  <a:pt x="2834640" y="111852"/>
                </a:lnTo>
                <a:lnTo>
                  <a:pt x="2834640" y="1324781"/>
                </a:lnTo>
                <a:lnTo>
                  <a:pt x="0" y="1324781"/>
                </a:lnTo>
                <a:close/>
              </a:path>
            </a:pathLst>
          </a:custGeom>
          <a:solidFill>
            <a:srgbClr val="D0C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063240" y="4043671"/>
            <a:ext cx="5669280" cy="1578215"/>
          </a:xfrm>
          <a:custGeom>
            <a:avLst/>
            <a:gdLst/>
            <a:ahLst/>
            <a:cxnLst/>
            <a:rect l="l" t="t" r="r" b="b"/>
            <a:pathLst>
              <a:path w="5669280" h="1578215">
                <a:moveTo>
                  <a:pt x="0" y="0"/>
                </a:moveTo>
                <a:lnTo>
                  <a:pt x="2834640" y="0"/>
                </a:lnTo>
                <a:lnTo>
                  <a:pt x="2834640" y="1507036"/>
                </a:lnTo>
                <a:lnTo>
                  <a:pt x="5669280" y="1507036"/>
                </a:lnTo>
                <a:lnTo>
                  <a:pt x="5669280" y="1578215"/>
                </a:lnTo>
                <a:lnTo>
                  <a:pt x="2834640" y="1578215"/>
                </a:lnTo>
                <a:lnTo>
                  <a:pt x="2834640" y="71178"/>
                </a:lnTo>
                <a:lnTo>
                  <a:pt x="0" y="71178"/>
                </a:lnTo>
                <a:close/>
              </a:path>
            </a:pathLst>
          </a:cu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063240" y="4299528"/>
            <a:ext cx="5669280" cy="1373199"/>
          </a:xfrm>
          <a:custGeom>
            <a:avLst/>
            <a:gdLst/>
            <a:ahLst/>
            <a:cxnLst/>
            <a:rect l="l" t="t" r="r" b="b"/>
            <a:pathLst>
              <a:path w="5669280" h="1373199">
                <a:moveTo>
                  <a:pt x="0" y="0"/>
                </a:moveTo>
                <a:lnTo>
                  <a:pt x="2834640" y="0"/>
                </a:lnTo>
                <a:lnTo>
                  <a:pt x="2834640" y="1322358"/>
                </a:lnTo>
                <a:lnTo>
                  <a:pt x="5669280" y="1322358"/>
                </a:lnTo>
                <a:lnTo>
                  <a:pt x="5669280" y="1373199"/>
                </a:lnTo>
                <a:lnTo>
                  <a:pt x="2834640" y="1373199"/>
                </a:lnTo>
                <a:lnTo>
                  <a:pt x="2834640" y="50842"/>
                </a:lnTo>
                <a:lnTo>
                  <a:pt x="0" y="50842"/>
                </a:lnTo>
                <a:close/>
              </a:path>
            </a:pathLst>
          </a:cu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063240" y="3494581"/>
            <a:ext cx="5669280" cy="2233910"/>
          </a:xfrm>
          <a:custGeom>
            <a:avLst/>
            <a:gdLst/>
            <a:ahLst/>
            <a:cxnLst/>
            <a:rect l="l" t="t" r="r" b="b"/>
            <a:pathLst>
              <a:path w="5669280" h="2233910">
                <a:moveTo>
                  <a:pt x="0" y="2183068"/>
                </a:moveTo>
                <a:lnTo>
                  <a:pt x="2834640" y="2183068"/>
                </a:lnTo>
                <a:lnTo>
                  <a:pt x="2834640" y="0"/>
                </a:lnTo>
                <a:lnTo>
                  <a:pt x="5669280" y="0"/>
                </a:lnTo>
                <a:lnTo>
                  <a:pt x="5669280" y="50842"/>
                </a:lnTo>
                <a:lnTo>
                  <a:pt x="2834640" y="50842"/>
                </a:lnTo>
                <a:lnTo>
                  <a:pt x="2834640" y="2233910"/>
                </a:lnTo>
                <a:lnTo>
                  <a:pt x="0" y="2233910"/>
                </a:lnTo>
                <a:close/>
              </a:path>
            </a:pathLst>
          </a:custGeom>
          <a:solidFill>
            <a:srgbClr val="D0C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063240" y="3545423"/>
            <a:ext cx="5669280" cy="835452"/>
          </a:xfrm>
          <a:custGeom>
            <a:avLst/>
            <a:gdLst/>
            <a:ahLst/>
            <a:cxnLst/>
            <a:rect l="l" t="t" r="r" b="b"/>
            <a:pathLst>
              <a:path w="5669280" h="835452">
                <a:moveTo>
                  <a:pt x="0" y="804947"/>
                </a:moveTo>
                <a:lnTo>
                  <a:pt x="2834640" y="804947"/>
                </a:lnTo>
                <a:lnTo>
                  <a:pt x="2834640" y="0"/>
                </a:lnTo>
                <a:lnTo>
                  <a:pt x="5669280" y="0"/>
                </a:lnTo>
                <a:lnTo>
                  <a:pt x="5669280" y="30505"/>
                </a:lnTo>
                <a:lnTo>
                  <a:pt x="2834640" y="30505"/>
                </a:lnTo>
                <a:lnTo>
                  <a:pt x="2834640" y="835452"/>
                </a:lnTo>
                <a:lnTo>
                  <a:pt x="0" y="835452"/>
                </a:lnTo>
                <a:close/>
              </a:path>
            </a:pathLst>
          </a:cu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3063240" y="4380875"/>
            <a:ext cx="5669280" cy="104182"/>
          </a:xfrm>
          <a:custGeom>
            <a:avLst/>
            <a:gdLst/>
            <a:ahLst/>
            <a:cxnLst/>
            <a:rect l="l" t="t" r="r" b="b"/>
            <a:pathLst>
              <a:path w="5669280" h="104182">
                <a:moveTo>
                  <a:pt x="0" y="0"/>
                </a:moveTo>
                <a:lnTo>
                  <a:pt x="2834640" y="0"/>
                </a:lnTo>
                <a:lnTo>
                  <a:pt x="2834640" y="83845"/>
                </a:lnTo>
                <a:lnTo>
                  <a:pt x="5669280" y="83845"/>
                </a:lnTo>
                <a:lnTo>
                  <a:pt x="5669280" y="104182"/>
                </a:lnTo>
                <a:lnTo>
                  <a:pt x="2834640" y="104182"/>
                </a:lnTo>
                <a:lnTo>
                  <a:pt x="2834640" y="20337"/>
                </a:lnTo>
                <a:lnTo>
                  <a:pt x="0" y="20337"/>
                </a:lnTo>
                <a:close/>
              </a:path>
            </a:pathLst>
          </a:cu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063240" y="4485057"/>
            <a:ext cx="5669280" cy="952150"/>
          </a:xfrm>
          <a:custGeom>
            <a:avLst/>
            <a:gdLst/>
            <a:ahLst/>
            <a:cxnLst/>
            <a:rect l="l" t="t" r="r" b="b"/>
            <a:pathLst>
              <a:path w="5669280" h="952150">
                <a:moveTo>
                  <a:pt x="0" y="933862"/>
                </a:moveTo>
                <a:lnTo>
                  <a:pt x="2834640" y="933862"/>
                </a:lnTo>
                <a:lnTo>
                  <a:pt x="2834640" y="0"/>
                </a:lnTo>
                <a:lnTo>
                  <a:pt x="5669280" y="0"/>
                </a:lnTo>
                <a:lnTo>
                  <a:pt x="5669280" y="18288"/>
                </a:lnTo>
                <a:lnTo>
                  <a:pt x="2834640" y="18288"/>
                </a:lnTo>
                <a:lnTo>
                  <a:pt x="2834640" y="952150"/>
                </a:lnTo>
                <a:lnTo>
                  <a:pt x="0" y="952150"/>
                </a:lnTo>
                <a:close/>
              </a:path>
            </a:pathLst>
          </a:cu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1572768"/>
            <a:ext cx="182880" cy="2617032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80700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Pass   250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4299528"/>
            <a:ext cx="182880" cy="104681"/>
          </a:xfrm>
          <a:prstGeom prst="round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51285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Retest Pass   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360" y="4513938"/>
            <a:ext cx="182880" cy="942131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884420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Bonepile   90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5565797"/>
            <a:ext cx="182880" cy="167490"/>
          </a:xfrm>
          <a:prstGeom prst="roundRect">
            <a:avLst/>
          </a:prstGeom>
          <a:solidFill>
            <a:srgbClr val="D0C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548958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not seen at MLT   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572768"/>
            <a:ext cx="182880" cy="2121283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2532825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Pass   197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803779"/>
            <a:ext cx="182880" cy="732219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406930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Bonepile   68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4645726"/>
            <a:ext cx="182880" cy="1087561"/>
          </a:xfrm>
          <a:prstGeom prst="roundRect">
            <a:avLst/>
          </a:prstGeom>
          <a:solidFill>
            <a:srgbClr val="B9B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5088923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1F1F1F"/>
                </a:solidFill>
              </a:rPr>
              <a:t>did not reach HTT   101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2435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6B6B6B"/>
                </a:solidFill>
              </a:rPr>
              <a:t>MLT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12435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6B6B6B"/>
                </a:solidFill>
              </a:rPr>
              <a:t>HTT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704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</a:rPr>
              <a:t>Ribbon width is units. The two grey bands are not results: “did not reach HTT” is a unit MLT saw and HTT did not — mostly correct, since a module that failed MLT should not be at HTT — and “not seen at MLT” arrived from before this week.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</a:rPr>
              <a:t>Largest flow: 189 units, Pass at MLT to Pass at HTT.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</a:rPr>
              <a:t>54 units passed MLT first time and are now in the HTT bonepile — the single biggest loss on this chart, and it is not a retest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1F1F1F"/>
                </a:solidFill>
              </a:rPr>
              <a:t>Result types week over week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</a:rPr>
              <a:t>MLT · the share of each week in each outcome, and how much of the week's first-attempt failure came 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1F1F1F"/>
                </a:solidFill>
              </a:rPr>
              <a:t>2026-W29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2768" y="1481328"/>
            <a:ext cx="2527662" cy="310896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00430" y="1481328"/>
            <a:ext cx="3257876" cy="310896"/>
          </a:xfrm>
          <a:prstGeom prst="round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58307" y="1481328"/>
            <a:ext cx="2078300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508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</a:rPr>
              <a:t>140 units</a:t>
            </a:r>
            <a:r>
              <a:rPr sz="1100" b="1">
                <a:solidFill>
                  <a:srgbClr val="1F1F1F"/>
                </a:solidFill>
              </a:rPr>
              <a:t>    61%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756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1F1F1F"/>
                </a:solidFill>
              </a:rPr>
              <a:t>2026-W30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72768" y="2048256"/>
            <a:ext cx="4250724" cy="310896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23492" y="2048256"/>
            <a:ext cx="903278" cy="310896"/>
          </a:xfrm>
          <a:prstGeom prst="round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26771" y="2048256"/>
            <a:ext cx="2709836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0756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</a:rPr>
              <a:t>148 units</a:t>
            </a:r>
            <a:r>
              <a:rPr sz="1100" b="1">
                <a:solidFill>
                  <a:srgbClr val="1F1F1F"/>
                </a:solidFill>
              </a:rPr>
              <a:t>    25% 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426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1F1F1F"/>
                </a:solidFill>
              </a:rPr>
              <a:t>2026-W31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72768" y="2615184"/>
            <a:ext cx="4521708" cy="310896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4476" y="2615184"/>
            <a:ext cx="688086" cy="310896"/>
          </a:xfrm>
          <a:prstGeom prst="round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82562" y="2615184"/>
            <a:ext cx="2654046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6426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</a:rPr>
              <a:t>80 units</a:t>
            </a:r>
            <a:r>
              <a:rPr sz="1100" b="1">
                <a:solidFill>
                  <a:srgbClr val="1F1F1F"/>
                </a:solidFill>
              </a:rPr>
              <a:t>    21% 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095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1F1F1F"/>
                </a:solidFill>
              </a:rPr>
              <a:t>2026-W32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2768" y="3182112"/>
            <a:ext cx="4552749" cy="310896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5517" y="3182112"/>
            <a:ext cx="1572768" cy="310896"/>
          </a:xfrm>
          <a:prstGeom prst="round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98285" y="3182112"/>
            <a:ext cx="1738322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3209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</a:rPr>
              <a:t>95 units</a:t>
            </a:r>
            <a:r>
              <a:rPr sz="1100" b="1">
                <a:solidFill>
                  <a:srgbClr val="1F1F1F"/>
                </a:solidFill>
              </a:rPr>
              <a:t>    48% 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764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1F1F1F"/>
                </a:solidFill>
              </a:rPr>
              <a:t>2026-W33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72768" y="3749040"/>
            <a:ext cx="4966635" cy="310896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39403" y="3749040"/>
            <a:ext cx="896753" cy="310896"/>
          </a:xfrm>
          <a:prstGeom prst="round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36157" y="3749040"/>
            <a:ext cx="2000450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7764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</a:rPr>
              <a:t>228 units</a:t>
            </a:r>
            <a:r>
              <a:rPr sz="1100" b="1">
                <a:solidFill>
                  <a:srgbClr val="1F1F1F"/>
                </a:solidFill>
              </a:rPr>
              <a:t>    31% 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3434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1F1F1F"/>
                </a:solidFill>
              </a:rPr>
              <a:t>2026-W34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72768" y="4315968"/>
            <a:ext cx="5617028" cy="310896"/>
          </a:xfrm>
          <a:prstGeom prst="round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89796" y="4315968"/>
            <a:ext cx="224681" cy="310896"/>
          </a:xfrm>
          <a:prstGeom prst="round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14477" y="4315968"/>
            <a:ext cx="2022130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4343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</a:rPr>
              <a:t>350 units</a:t>
            </a:r>
            <a:r>
              <a:rPr sz="1100" b="1">
                <a:solidFill>
                  <a:srgbClr val="1F1F1F"/>
                </a:solidFill>
              </a:rPr>
              <a:t>    10% 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8704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</a:rPr>
              <a:t>Recovery went from 58 of 95 first-attempt failures in 2026-W29 to 10 of 100 in 2026-W34. The bonepile share is what is left on the floor.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