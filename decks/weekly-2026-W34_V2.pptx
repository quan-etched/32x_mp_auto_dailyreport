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</p:sldIdLst>
  <p:sldSz cy="6858000" cx="12191675"/>
  <p:notesSz cx="6858000" cy="9144000"/>
  <p:embeddedFontLst>
    <p:embeddedFont>
      <p:font typeface="Manrope"/>
      <p:regular r:id="rId10"/>
      <p:bold r:id="rId11"/>
    </p:embeddedFont>
    <p:embeddedFont>
      <p:font typeface="Manrope ExtraBold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iPLomejaxtGe6taBR36C7iNvin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9E9526-C373-4EDB-8213-038192666653}">
  <a:tblStyle styleId="{789E9526-C373-4EDB-8213-0381926666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anrope-bold.fntdata"/><Relationship Id="rId10" Type="http://schemas.openxmlformats.org/officeDocument/2006/relationships/font" Target="fonts/Manrope-regular.fntdata"/><Relationship Id="rId13" Type="http://customschemas.google.com/relationships/presentationmetadata" Target="metadata"/><Relationship Id="rId12" Type="http://schemas.openxmlformats.org/officeDocument/2006/relationships/font" Target="fonts/Manrope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8368ea60c_0_18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8368ea60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8368ea60c_0_131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8368ea60c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8368ea60c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8368ea60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368ea60c_0_123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f8368ea60c_0_123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83" name="Google Shape;83;g3f8368ea60c_0_123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368ea60c_0_194"/>
          <p:cNvSpPr txBox="1"/>
          <p:nvPr>
            <p:ph type="ctrTitle"/>
          </p:nvPr>
        </p:nvSpPr>
        <p:spPr>
          <a:xfrm>
            <a:off x="415600" y="992767"/>
            <a:ext cx="11360400" cy="2736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86" name="Google Shape;86;g3f8368ea60c_0_194"/>
          <p:cNvSpPr txBox="1"/>
          <p:nvPr>
            <p:ph idx="1" type="subTitle"/>
          </p:nvPr>
        </p:nvSpPr>
        <p:spPr>
          <a:xfrm>
            <a:off x="415589" y="3778833"/>
            <a:ext cx="11360400" cy="105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87" name="Google Shape;87;g3f8368ea60c_0_194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hyperlink" Target="https://literate-telegram-2y3e9lz.pages.github.io/index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g3f8368ea60c_0_18"/>
          <p:cNvCxnSpPr/>
          <p:nvPr/>
        </p:nvCxnSpPr>
        <p:spPr>
          <a:xfrm rot="5400000">
            <a:off x="4977443" y="4075777"/>
            <a:ext cx="4803300" cy="0"/>
          </a:xfrm>
          <a:prstGeom prst="straightConnector1">
            <a:avLst/>
          </a:prstGeom>
          <a:noFill/>
          <a:ln cap="flat" cmpd="sng" w="10375">
            <a:solidFill>
              <a:srgbClr val="59595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3" name="Google Shape;93;g3f8368ea60c_0_18"/>
          <p:cNvCxnSpPr/>
          <p:nvPr/>
        </p:nvCxnSpPr>
        <p:spPr>
          <a:xfrm rot="5400000">
            <a:off x="2559394" y="4075766"/>
            <a:ext cx="4803300" cy="0"/>
          </a:xfrm>
          <a:prstGeom prst="straightConnector1">
            <a:avLst/>
          </a:prstGeom>
          <a:noFill/>
          <a:ln cap="flat" cmpd="sng" w="10375">
            <a:solidFill>
              <a:srgbClr val="59595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4" name="Google Shape;94;g3f8368ea60c_0_18"/>
          <p:cNvCxnSpPr/>
          <p:nvPr/>
        </p:nvCxnSpPr>
        <p:spPr>
          <a:xfrm rot="5400000">
            <a:off x="-411294" y="3964900"/>
            <a:ext cx="4803300" cy="0"/>
          </a:xfrm>
          <a:prstGeom prst="straightConnector1">
            <a:avLst/>
          </a:prstGeom>
          <a:noFill/>
          <a:ln cap="flat" cmpd="sng" w="10375">
            <a:solidFill>
              <a:srgbClr val="59595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5" name="Google Shape;95;g3f8368ea60c_0_18"/>
          <p:cNvSpPr txBox="1"/>
          <p:nvPr/>
        </p:nvSpPr>
        <p:spPr>
          <a:xfrm>
            <a:off x="494659" y="1688817"/>
            <a:ext cx="13365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ASIC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96" name="Google Shape;96;g3f8368ea60c_0_18"/>
          <p:cNvSpPr txBox="1"/>
          <p:nvPr/>
        </p:nvSpPr>
        <p:spPr>
          <a:xfrm>
            <a:off x="2617239" y="1688837"/>
            <a:ext cx="13365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PCBA L6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97" name="Google Shape;97;g3f8368ea60c_0_18"/>
          <p:cNvSpPr txBox="1"/>
          <p:nvPr/>
        </p:nvSpPr>
        <p:spPr>
          <a:xfrm>
            <a:off x="7627843" y="1257762"/>
            <a:ext cx="15360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FATP L10 6U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98" name="Google Shape;98;g3f8368ea60c_0_18"/>
          <p:cNvSpPr/>
          <p:nvPr/>
        </p:nvSpPr>
        <p:spPr>
          <a:xfrm>
            <a:off x="600865" y="3949242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FT</a:t>
            </a:r>
            <a:endParaRPr b="1" sz="1500"/>
          </a:p>
        </p:txBody>
      </p:sp>
      <p:sp>
        <p:nvSpPr>
          <p:cNvPr id="99" name="Google Shape;99;g3f8368ea60c_0_18"/>
          <p:cNvSpPr/>
          <p:nvPr/>
        </p:nvSpPr>
        <p:spPr>
          <a:xfrm>
            <a:off x="2145653" y="2235191"/>
            <a:ext cx="1086900" cy="622800"/>
          </a:xfrm>
          <a:prstGeom prst="rect">
            <a:avLst/>
          </a:prstGeom>
          <a:solidFill>
            <a:srgbClr val="D0CECE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SMT / ICT</a:t>
            </a:r>
            <a:endParaRPr sz="1500"/>
          </a:p>
        </p:txBody>
      </p:sp>
      <p:sp>
        <p:nvSpPr>
          <p:cNvPr id="100" name="Google Shape;100;g3f8368ea60c_0_18"/>
          <p:cNvSpPr txBox="1"/>
          <p:nvPr/>
        </p:nvSpPr>
        <p:spPr>
          <a:xfrm>
            <a:off x="5274187" y="1257741"/>
            <a:ext cx="17379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FATP L10 2U/4U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101" name="Google Shape;101;g3f8368ea60c_0_18"/>
          <p:cNvSpPr/>
          <p:nvPr/>
        </p:nvSpPr>
        <p:spPr>
          <a:xfrm>
            <a:off x="3553472" y="2238758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HTT</a:t>
            </a:r>
            <a:endParaRPr b="1" sz="1500"/>
          </a:p>
        </p:txBody>
      </p:sp>
      <p:sp>
        <p:nvSpPr>
          <p:cNvPr id="102" name="Google Shape;102;g3f8368ea60c_0_18"/>
          <p:cNvSpPr/>
          <p:nvPr/>
        </p:nvSpPr>
        <p:spPr>
          <a:xfrm>
            <a:off x="5329894" y="2237910"/>
            <a:ext cx="1086900" cy="622800"/>
          </a:xfrm>
          <a:prstGeom prst="rect">
            <a:avLst/>
          </a:prstGeom>
          <a:solidFill>
            <a:srgbClr val="D0CECE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ASSY</a:t>
            </a:r>
            <a:endParaRPr sz="1500"/>
          </a:p>
        </p:txBody>
      </p:sp>
      <p:sp>
        <p:nvSpPr>
          <p:cNvPr id="103" name="Google Shape;103;g3f8368ea60c_0_18"/>
          <p:cNvSpPr/>
          <p:nvPr/>
        </p:nvSpPr>
        <p:spPr>
          <a:xfrm>
            <a:off x="7510877" y="2249136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SFT</a:t>
            </a:r>
            <a:endParaRPr sz="1500"/>
          </a:p>
        </p:txBody>
      </p:sp>
      <p:sp>
        <p:nvSpPr>
          <p:cNvPr id="104" name="Google Shape;104;g3f8368ea60c_0_18"/>
          <p:cNvSpPr/>
          <p:nvPr/>
        </p:nvSpPr>
        <p:spPr>
          <a:xfrm>
            <a:off x="8861425" y="2249114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Runin</a:t>
            </a:r>
            <a:endParaRPr sz="1500"/>
          </a:p>
        </p:txBody>
      </p:sp>
      <p:sp>
        <p:nvSpPr>
          <p:cNvPr id="105" name="Google Shape;105;g3f8368ea60c_0_18"/>
          <p:cNvSpPr/>
          <p:nvPr/>
        </p:nvSpPr>
        <p:spPr>
          <a:xfrm>
            <a:off x="7510878" y="5925730"/>
            <a:ext cx="1086900" cy="622800"/>
          </a:xfrm>
          <a:prstGeom prst="rect">
            <a:avLst/>
          </a:prstGeom>
          <a:solidFill>
            <a:srgbClr val="D0CECE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ASSY</a:t>
            </a:r>
            <a:endParaRPr sz="1500"/>
          </a:p>
        </p:txBody>
      </p:sp>
      <p:sp>
        <p:nvSpPr>
          <p:cNvPr id="106" name="Google Shape;106;g3f8368ea60c_0_18"/>
          <p:cNvSpPr/>
          <p:nvPr/>
        </p:nvSpPr>
        <p:spPr>
          <a:xfrm>
            <a:off x="6591406" y="2120832"/>
            <a:ext cx="691500" cy="211200"/>
          </a:xfrm>
          <a:prstGeom prst="rect">
            <a:avLst/>
          </a:prstGeom>
          <a:solidFill>
            <a:srgbClr val="C9DAF8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4U</a:t>
            </a:r>
            <a:endParaRPr sz="1600"/>
          </a:p>
        </p:txBody>
      </p:sp>
      <p:sp>
        <p:nvSpPr>
          <p:cNvPr id="107" name="Google Shape;107;g3f8368ea60c_0_18"/>
          <p:cNvSpPr/>
          <p:nvPr/>
        </p:nvSpPr>
        <p:spPr>
          <a:xfrm>
            <a:off x="6604822" y="2908255"/>
            <a:ext cx="691500" cy="211200"/>
          </a:xfrm>
          <a:prstGeom prst="rect">
            <a:avLst/>
          </a:prstGeom>
          <a:solidFill>
            <a:srgbClr val="FFF2CC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2U</a:t>
            </a:r>
            <a:endParaRPr sz="1600"/>
          </a:p>
        </p:txBody>
      </p:sp>
      <p:cxnSp>
        <p:nvCxnSpPr>
          <p:cNvPr id="108" name="Google Shape;108;g3f8368ea60c_0_18"/>
          <p:cNvCxnSpPr>
            <a:stCxn id="109" idx="2"/>
            <a:endCxn id="98" idx="0"/>
          </p:cNvCxnSpPr>
          <p:nvPr/>
        </p:nvCxnSpPr>
        <p:spPr>
          <a:xfrm>
            <a:off x="1144282" y="3638442"/>
            <a:ext cx="0" cy="3108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g3f8368ea60c_0_18"/>
          <p:cNvCxnSpPr/>
          <p:nvPr/>
        </p:nvCxnSpPr>
        <p:spPr>
          <a:xfrm>
            <a:off x="2746537" y="2851458"/>
            <a:ext cx="26700" cy="19368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g3f8368ea60c_0_18"/>
          <p:cNvCxnSpPr>
            <a:stCxn id="105" idx="0"/>
            <a:endCxn id="112" idx="2"/>
          </p:cNvCxnSpPr>
          <p:nvPr/>
        </p:nvCxnSpPr>
        <p:spPr>
          <a:xfrm rot="10800000">
            <a:off x="8054328" y="5464330"/>
            <a:ext cx="0" cy="4614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g3f8368ea60c_0_18"/>
          <p:cNvCxnSpPr>
            <a:stCxn id="103" idx="3"/>
            <a:endCxn id="104" idx="1"/>
          </p:cNvCxnSpPr>
          <p:nvPr/>
        </p:nvCxnSpPr>
        <p:spPr>
          <a:xfrm>
            <a:off x="8597777" y="2560536"/>
            <a:ext cx="263700" cy="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g3f8368ea60c_0_18"/>
          <p:cNvCxnSpPr>
            <a:stCxn id="104" idx="3"/>
            <a:endCxn id="115" idx="1"/>
          </p:cNvCxnSpPr>
          <p:nvPr/>
        </p:nvCxnSpPr>
        <p:spPr>
          <a:xfrm flipH="1" rot="10800000">
            <a:off x="9948325" y="2554814"/>
            <a:ext cx="843000" cy="57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g3f8368ea60c_0_18"/>
          <p:cNvSpPr/>
          <p:nvPr/>
        </p:nvSpPr>
        <p:spPr>
          <a:xfrm>
            <a:off x="10791393" y="2243397"/>
            <a:ext cx="1086900" cy="622800"/>
          </a:xfrm>
          <a:prstGeom prst="rect">
            <a:avLst/>
          </a:prstGeom>
          <a:solidFill>
            <a:srgbClr val="D0CECE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ASSY</a:t>
            </a:r>
            <a:endParaRPr sz="1500"/>
          </a:p>
        </p:txBody>
      </p:sp>
      <p:sp>
        <p:nvSpPr>
          <p:cNvPr id="116" name="Google Shape;116;g3f8368ea60c_0_18"/>
          <p:cNvSpPr txBox="1"/>
          <p:nvPr/>
        </p:nvSpPr>
        <p:spPr>
          <a:xfrm>
            <a:off x="10229980" y="1257761"/>
            <a:ext cx="15360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Rack L11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117" name="Google Shape;117;g3f8368ea60c_0_18"/>
          <p:cNvSpPr/>
          <p:nvPr/>
        </p:nvSpPr>
        <p:spPr>
          <a:xfrm>
            <a:off x="10791400" y="5116925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Runin</a:t>
            </a:r>
            <a:endParaRPr sz="1500"/>
          </a:p>
        </p:txBody>
      </p:sp>
      <p:sp>
        <p:nvSpPr>
          <p:cNvPr id="118" name="Google Shape;118;g3f8368ea60c_0_18"/>
          <p:cNvSpPr/>
          <p:nvPr/>
        </p:nvSpPr>
        <p:spPr>
          <a:xfrm>
            <a:off x="10774451" y="6051378"/>
            <a:ext cx="1086900" cy="622800"/>
          </a:xfrm>
          <a:prstGeom prst="rect">
            <a:avLst/>
          </a:prstGeom>
          <a:solidFill>
            <a:srgbClr val="DDEAF6">
              <a:alpha val="81960"/>
            </a:srgbClr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Pack</a:t>
            </a:r>
            <a:endParaRPr sz="1500"/>
          </a:p>
        </p:txBody>
      </p:sp>
      <p:cxnSp>
        <p:nvCxnSpPr>
          <p:cNvPr id="119" name="Google Shape;119;g3f8368ea60c_0_18"/>
          <p:cNvCxnSpPr>
            <a:stCxn id="115" idx="2"/>
            <a:endCxn id="120" idx="0"/>
          </p:cNvCxnSpPr>
          <p:nvPr/>
        </p:nvCxnSpPr>
        <p:spPr>
          <a:xfrm>
            <a:off x="11334843" y="2866197"/>
            <a:ext cx="0" cy="4017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g3f8368ea60c_0_18"/>
          <p:cNvCxnSpPr/>
          <p:nvPr/>
        </p:nvCxnSpPr>
        <p:spPr>
          <a:xfrm rot="5400000">
            <a:off x="7828334" y="4075777"/>
            <a:ext cx="4803300" cy="0"/>
          </a:xfrm>
          <a:prstGeom prst="straightConnector1">
            <a:avLst/>
          </a:prstGeom>
          <a:noFill/>
          <a:ln cap="flat" cmpd="sng" w="10375">
            <a:solidFill>
              <a:srgbClr val="59595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2" name="Google Shape;122;g3f8368ea60c_0_18"/>
          <p:cNvCxnSpPr>
            <a:stCxn id="117" idx="2"/>
            <a:endCxn id="118" idx="0"/>
          </p:cNvCxnSpPr>
          <p:nvPr/>
        </p:nvCxnSpPr>
        <p:spPr>
          <a:xfrm flipH="1">
            <a:off x="11318050" y="5739725"/>
            <a:ext cx="16800" cy="3117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g3f8368ea60c_0_18"/>
          <p:cNvSpPr/>
          <p:nvPr/>
        </p:nvSpPr>
        <p:spPr>
          <a:xfrm>
            <a:off x="7510894" y="4841478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2U</a:t>
            </a:r>
            <a:endParaRPr sz="1500"/>
          </a:p>
        </p:txBody>
      </p:sp>
      <p:cxnSp>
        <p:nvCxnSpPr>
          <p:cNvPr id="123" name="Google Shape;123;g3f8368ea60c_0_18"/>
          <p:cNvCxnSpPr>
            <a:stCxn id="112" idx="0"/>
            <a:endCxn id="124" idx="2"/>
          </p:cNvCxnSpPr>
          <p:nvPr/>
        </p:nvCxnSpPr>
        <p:spPr>
          <a:xfrm rot="10800000">
            <a:off x="8054344" y="4167978"/>
            <a:ext cx="0" cy="6735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g3f8368ea60c_0_18"/>
          <p:cNvCxnSpPr>
            <a:stCxn id="102" idx="3"/>
            <a:endCxn id="105" idx="1"/>
          </p:cNvCxnSpPr>
          <p:nvPr/>
        </p:nvCxnSpPr>
        <p:spPr>
          <a:xfrm>
            <a:off x="6416794" y="2549310"/>
            <a:ext cx="1094100" cy="3687900"/>
          </a:xfrm>
          <a:prstGeom prst="bentConnector3">
            <a:avLst>
              <a:gd fmla="val 49999" name="adj1"/>
            </a:avLst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g3f8368ea60c_0_18"/>
          <p:cNvCxnSpPr>
            <a:stCxn id="102" idx="2"/>
            <a:endCxn id="105" idx="1"/>
          </p:cNvCxnSpPr>
          <p:nvPr/>
        </p:nvCxnSpPr>
        <p:spPr>
          <a:xfrm flipH="1" rot="-5400000">
            <a:off x="5003794" y="3730260"/>
            <a:ext cx="3376500" cy="1637400"/>
          </a:xfrm>
          <a:prstGeom prst="bentConnector2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g3f8368ea60c_0_18"/>
          <p:cNvCxnSpPr>
            <a:stCxn id="98" idx="3"/>
            <a:endCxn id="99" idx="1"/>
          </p:cNvCxnSpPr>
          <p:nvPr/>
        </p:nvCxnSpPr>
        <p:spPr>
          <a:xfrm flipH="1" rot="10800000">
            <a:off x="1687765" y="2546442"/>
            <a:ext cx="457800" cy="1714200"/>
          </a:xfrm>
          <a:prstGeom prst="bentConnector3">
            <a:avLst>
              <a:gd fmla="val 35128" name="adj1"/>
            </a:avLst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g3f8368ea60c_0_18"/>
          <p:cNvCxnSpPr>
            <a:stCxn id="129" idx="3"/>
            <a:endCxn id="101" idx="2"/>
          </p:cNvCxnSpPr>
          <p:nvPr/>
        </p:nvCxnSpPr>
        <p:spPr>
          <a:xfrm flipH="1" rot="10800000">
            <a:off x="3153256" y="2861527"/>
            <a:ext cx="943800" cy="2206500"/>
          </a:xfrm>
          <a:prstGeom prst="bentConnector2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g3f8368ea60c_0_18"/>
          <p:cNvSpPr/>
          <p:nvPr/>
        </p:nvSpPr>
        <p:spPr>
          <a:xfrm>
            <a:off x="3513726" y="4260635"/>
            <a:ext cx="1086900" cy="622800"/>
          </a:xfrm>
          <a:prstGeom prst="rect">
            <a:avLst/>
          </a:prstGeom>
          <a:solidFill>
            <a:srgbClr val="D0CECE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ASSY</a:t>
            </a:r>
            <a:endParaRPr sz="1500"/>
          </a:p>
        </p:txBody>
      </p:sp>
      <p:cxnSp>
        <p:nvCxnSpPr>
          <p:cNvPr id="131" name="Google Shape;131;g3f8368ea60c_0_18"/>
          <p:cNvCxnSpPr>
            <a:stCxn id="101" idx="3"/>
            <a:endCxn id="102" idx="1"/>
          </p:cNvCxnSpPr>
          <p:nvPr/>
        </p:nvCxnSpPr>
        <p:spPr>
          <a:xfrm flipH="1" rot="10800000">
            <a:off x="4640372" y="2549258"/>
            <a:ext cx="689400" cy="900"/>
          </a:xfrm>
          <a:prstGeom prst="bentConnector3">
            <a:avLst>
              <a:gd fmla="val 50009" name="adj1"/>
            </a:avLst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g3f8368ea60c_0_18"/>
          <p:cNvSpPr/>
          <p:nvPr/>
        </p:nvSpPr>
        <p:spPr>
          <a:xfrm>
            <a:off x="600832" y="3015642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WST</a:t>
            </a:r>
            <a:endParaRPr b="1" sz="1500"/>
          </a:p>
        </p:txBody>
      </p:sp>
      <p:sp>
        <p:nvSpPr>
          <p:cNvPr id="132" name="Google Shape;132;g3f8368ea60c_0_18"/>
          <p:cNvSpPr/>
          <p:nvPr/>
        </p:nvSpPr>
        <p:spPr>
          <a:xfrm>
            <a:off x="600832" y="2082047"/>
            <a:ext cx="1086900" cy="622800"/>
          </a:xfrm>
          <a:prstGeom prst="rect">
            <a:avLst/>
          </a:prstGeom>
          <a:solidFill>
            <a:srgbClr val="D0CECE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ASIC</a:t>
            </a:r>
            <a:endParaRPr sz="1500"/>
          </a:p>
        </p:txBody>
      </p:sp>
      <p:cxnSp>
        <p:nvCxnSpPr>
          <p:cNvPr id="133" name="Google Shape;133;g3f8368ea60c_0_18"/>
          <p:cNvCxnSpPr>
            <a:stCxn id="132" idx="2"/>
            <a:endCxn id="109" idx="0"/>
          </p:cNvCxnSpPr>
          <p:nvPr/>
        </p:nvCxnSpPr>
        <p:spPr>
          <a:xfrm>
            <a:off x="1144282" y="2704847"/>
            <a:ext cx="0" cy="3108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g3f8368ea60c_0_18"/>
          <p:cNvSpPr txBox="1"/>
          <p:nvPr/>
        </p:nvSpPr>
        <p:spPr>
          <a:xfrm>
            <a:off x="32969" y="1824460"/>
            <a:ext cx="8748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70500" spcFirstLastPara="1" rIns="70500" wrap="square" tIns="35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@Sigurd</a:t>
            </a:r>
            <a:endParaRPr sz="1300">
              <a:solidFill>
                <a:srgbClr val="000000"/>
              </a:solidFill>
            </a:endParaRPr>
          </a:p>
        </p:txBody>
      </p:sp>
      <p:sp>
        <p:nvSpPr>
          <p:cNvPr id="135" name="Google Shape;135;g3f8368ea60c_0_18"/>
          <p:cNvSpPr txBox="1"/>
          <p:nvPr/>
        </p:nvSpPr>
        <p:spPr>
          <a:xfrm>
            <a:off x="1955251" y="1824460"/>
            <a:ext cx="8748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70500" spcFirstLastPara="1" rIns="70500" wrap="square" tIns="35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@Pega</a:t>
            </a:r>
            <a:endParaRPr sz="1300">
              <a:solidFill>
                <a:srgbClr val="000000"/>
              </a:solidFill>
            </a:endParaRPr>
          </a:p>
        </p:txBody>
      </p:sp>
      <p:sp>
        <p:nvSpPr>
          <p:cNvPr id="136" name="Google Shape;136;g3f8368ea60c_0_18"/>
          <p:cNvSpPr txBox="1"/>
          <p:nvPr/>
        </p:nvSpPr>
        <p:spPr>
          <a:xfrm>
            <a:off x="3862703" y="3552527"/>
            <a:ext cx="4581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70500" spcFirstLastPara="1" rIns="70500" wrap="square" tIns="35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PV1</a:t>
            </a:r>
            <a:endParaRPr sz="800">
              <a:solidFill>
                <a:srgbClr val="000000"/>
              </a:solidFill>
            </a:endParaRPr>
          </a:p>
        </p:txBody>
      </p:sp>
      <p:sp>
        <p:nvSpPr>
          <p:cNvPr id="137" name="Google Shape;137;g3f8368ea60c_0_18"/>
          <p:cNvSpPr txBox="1"/>
          <p:nvPr/>
        </p:nvSpPr>
        <p:spPr>
          <a:xfrm>
            <a:off x="2476635" y="4395927"/>
            <a:ext cx="424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75" lIns="70500" spcFirstLastPara="1" rIns="70500" wrap="square" tIns="35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</a:rPr>
              <a:t>VBB</a:t>
            </a:r>
            <a:endParaRPr sz="800">
              <a:solidFill>
                <a:srgbClr val="000000"/>
              </a:solidFill>
            </a:endParaRPr>
          </a:p>
        </p:txBody>
      </p:sp>
      <p:sp>
        <p:nvSpPr>
          <p:cNvPr id="129" name="Google Shape;129;g3f8368ea60c_0_18"/>
          <p:cNvSpPr/>
          <p:nvPr/>
        </p:nvSpPr>
        <p:spPr>
          <a:xfrm>
            <a:off x="2278456" y="4794877"/>
            <a:ext cx="874800" cy="546300"/>
          </a:xfrm>
          <a:prstGeom prst="rect">
            <a:avLst/>
          </a:prstGeom>
          <a:solidFill>
            <a:srgbClr val="E1EFD8">
              <a:alpha val="76860"/>
            </a:srgbClr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Flash/ BFT</a:t>
            </a:r>
            <a:endParaRPr sz="1500"/>
          </a:p>
        </p:txBody>
      </p:sp>
      <p:sp>
        <p:nvSpPr>
          <p:cNvPr id="138" name="Google Shape;138;g3f8368ea60c_0_18"/>
          <p:cNvSpPr txBox="1"/>
          <p:nvPr/>
        </p:nvSpPr>
        <p:spPr>
          <a:xfrm>
            <a:off x="2109394" y="2876200"/>
            <a:ext cx="14172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70500" spcFirstLastPara="1" rIns="70500" wrap="square" tIns="35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</a:rPr>
              <a:t>HPB &amp; VBB &amp; </a:t>
            </a:r>
            <a:r>
              <a:rPr lang="en-US" sz="700"/>
              <a:t>PV1 &amp; PDB</a:t>
            </a:r>
            <a:endParaRPr sz="700">
              <a:solidFill>
                <a:srgbClr val="000000"/>
              </a:solidFill>
            </a:endParaRPr>
          </a:p>
        </p:txBody>
      </p:sp>
      <p:sp>
        <p:nvSpPr>
          <p:cNvPr id="139" name="Google Shape;139;g3f8368ea60c_0_18"/>
          <p:cNvSpPr/>
          <p:nvPr/>
        </p:nvSpPr>
        <p:spPr>
          <a:xfrm>
            <a:off x="581999" y="4882842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trike="sngStrike"/>
              <a:t>SLT</a:t>
            </a:r>
            <a:endParaRPr sz="1500" strike="sngStrike"/>
          </a:p>
        </p:txBody>
      </p:sp>
      <p:cxnSp>
        <p:nvCxnSpPr>
          <p:cNvPr id="140" name="Google Shape;140;g3f8368ea60c_0_18"/>
          <p:cNvCxnSpPr/>
          <p:nvPr/>
        </p:nvCxnSpPr>
        <p:spPr>
          <a:xfrm>
            <a:off x="1139599" y="4569006"/>
            <a:ext cx="0" cy="3108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g3f8368ea60c_0_18"/>
          <p:cNvSpPr/>
          <p:nvPr/>
        </p:nvSpPr>
        <p:spPr>
          <a:xfrm>
            <a:off x="3553422" y="3339141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MLT</a:t>
            </a:r>
            <a:endParaRPr b="1" sz="1500"/>
          </a:p>
        </p:txBody>
      </p:sp>
      <p:sp>
        <p:nvSpPr>
          <p:cNvPr id="142" name="Google Shape;142;g3f8368ea60c_0_18"/>
          <p:cNvSpPr/>
          <p:nvPr/>
        </p:nvSpPr>
        <p:spPr>
          <a:xfrm>
            <a:off x="10791404" y="4182487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     </a:t>
            </a:r>
            <a:r>
              <a:rPr lang="en-US" sz="1500"/>
              <a:t>SFT</a:t>
            </a:r>
            <a:endParaRPr sz="1500"/>
          </a:p>
        </p:txBody>
      </p:sp>
      <p:pic>
        <p:nvPicPr>
          <p:cNvPr id="143" name="Google Shape;143;g3f8368ea60c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040" y="700793"/>
            <a:ext cx="691582" cy="802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f8368ea60c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3612" y="584056"/>
            <a:ext cx="874777" cy="1272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f8368ea60c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54412" y="353104"/>
            <a:ext cx="975574" cy="1497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f8368ea60c_0_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01663" y="216570"/>
            <a:ext cx="874777" cy="18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f8368ea60c_0_18"/>
          <p:cNvSpPr txBox="1"/>
          <p:nvPr/>
        </p:nvSpPr>
        <p:spPr>
          <a:xfrm>
            <a:off x="-17088" y="3659749"/>
            <a:ext cx="1521300" cy="23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en-US" sz="1500">
                <a:solidFill>
                  <a:srgbClr val="B3281E"/>
                </a:solidFill>
              </a:rPr>
              <a:t>2</a:t>
            </a:r>
            <a:r>
              <a:rPr b="1" i="0" lang="en-US" sz="15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en-US" sz="1500">
                <a:solidFill>
                  <a:srgbClr val="B3281E"/>
                </a:solidFill>
              </a:rPr>
              <a:t>5</a:t>
            </a:r>
            <a:r>
              <a:rPr b="1" i="0" lang="en-US" sz="15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1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reported</a:t>
            </a:r>
            <a:endParaRPr sz="1900"/>
          </a:p>
        </p:txBody>
      </p:sp>
      <p:sp>
        <p:nvSpPr>
          <p:cNvPr id="148" name="Google Shape;148;g3f8368ea60c_0_18"/>
          <p:cNvSpPr txBox="1"/>
          <p:nvPr/>
        </p:nvSpPr>
        <p:spPr>
          <a:xfrm>
            <a:off x="-17088" y="4635903"/>
            <a:ext cx="1521300" cy="23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8C6C0"/>
                </a:solidFill>
                <a:latin typeface="Arial"/>
                <a:ea typeface="Arial"/>
                <a:cs typeface="Arial"/>
                <a:sym typeface="Arial"/>
              </a:rPr>
              <a:t>84.3%</a:t>
            </a:r>
            <a:r>
              <a:rPr b="1" i="0" lang="en-US" sz="1500" u="none" cap="none" strike="noStrike">
                <a:solidFill>
                  <a:srgbClr val="B56B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b="0" i="0" lang="en-US" sz="1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100">
                <a:solidFill>
                  <a:srgbClr val="6B6B6B"/>
                </a:solidFill>
              </a:rPr>
              <a:t>*</a:t>
            </a:r>
            <a:endParaRPr sz="1900"/>
          </a:p>
        </p:txBody>
      </p:sp>
      <p:sp>
        <p:nvSpPr>
          <p:cNvPr id="149" name="Google Shape;149;g3f8368ea60c_0_18"/>
          <p:cNvSpPr txBox="1"/>
          <p:nvPr/>
        </p:nvSpPr>
        <p:spPr>
          <a:xfrm>
            <a:off x="2010651" y="5739725"/>
            <a:ext cx="29301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L6 Accu Yield W34: </a:t>
            </a:r>
            <a:r>
              <a:rPr b="1" lang="en-US" sz="1200">
                <a:solidFill>
                  <a:srgbClr val="FF9900"/>
                </a:solidFill>
              </a:rPr>
              <a:t>54.8%</a:t>
            </a:r>
            <a:r>
              <a:rPr b="1" lang="en-US" sz="1200">
                <a:solidFill>
                  <a:schemeClr val="dk1"/>
                </a:solidFill>
              </a:rPr>
              <a:t> W33 :</a:t>
            </a:r>
            <a:r>
              <a:rPr b="1" lang="en-US" sz="1200">
                <a:solidFill>
                  <a:schemeClr val="accent2"/>
                </a:solidFill>
              </a:rPr>
              <a:t> 35.6%</a:t>
            </a:r>
            <a:endParaRPr sz="1500">
              <a:solidFill>
                <a:schemeClr val="accent2"/>
              </a:solidFill>
            </a:endParaRPr>
          </a:p>
          <a:p>
            <a:pPr indent="0" lvl="0" marL="609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50" name="Google Shape;150;g3f8368ea60c_0_18"/>
          <p:cNvSpPr txBox="1"/>
          <p:nvPr/>
        </p:nvSpPr>
        <p:spPr>
          <a:xfrm>
            <a:off x="2278450" y="1039262"/>
            <a:ext cx="1214400" cy="307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3281E"/>
                </a:solidFill>
              </a:rPr>
              <a:t>54.8</a:t>
            </a:r>
            <a:r>
              <a:rPr b="1" i="0" lang="en-US" sz="20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16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2400"/>
          </a:p>
        </p:txBody>
      </p:sp>
      <p:sp>
        <p:nvSpPr>
          <p:cNvPr id="151" name="Google Shape;151;g3f8368ea60c_0_18"/>
          <p:cNvSpPr txBox="1"/>
          <p:nvPr/>
        </p:nvSpPr>
        <p:spPr>
          <a:xfrm>
            <a:off x="-46430" y="-4"/>
            <a:ext cx="111858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41414"/>
                </a:solidFill>
              </a:rPr>
              <a:t>32x Ramp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2026-W</a:t>
            </a:r>
            <a:r>
              <a:rPr lang="en-US" sz="1250">
                <a:solidFill>
                  <a:srgbClr val="6B6B6B"/>
                </a:solidFill>
              </a:rPr>
              <a:t>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f8368ea60c_0_18"/>
          <p:cNvSpPr txBox="1"/>
          <p:nvPr/>
        </p:nvSpPr>
        <p:spPr>
          <a:xfrm>
            <a:off x="-17100" y="5739725"/>
            <a:ext cx="20277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W34: FT no activities. </a:t>
            </a:r>
            <a:br>
              <a:rPr b="1"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Decision: Skip SLT</a:t>
            </a:r>
            <a:endParaRPr sz="15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53" name="Google Shape;153;g3f8368ea60c_0_18"/>
          <p:cNvSpPr txBox="1"/>
          <p:nvPr/>
        </p:nvSpPr>
        <p:spPr>
          <a:xfrm>
            <a:off x="8109778" y="5603048"/>
            <a:ext cx="751800" cy="23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3281E"/>
                </a:solidFill>
              </a:rPr>
              <a:t>10.5</a:t>
            </a:r>
            <a:r>
              <a:rPr b="1" i="0" lang="en-US" sz="15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1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900"/>
          </a:p>
        </p:txBody>
      </p:sp>
      <p:sp>
        <p:nvSpPr>
          <p:cNvPr id="124" name="Google Shape;124;g3f8368ea60c_0_18"/>
          <p:cNvSpPr/>
          <p:nvPr/>
        </p:nvSpPr>
        <p:spPr>
          <a:xfrm>
            <a:off x="7510902" y="3545291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FAT</a:t>
            </a:r>
            <a:endParaRPr sz="1500"/>
          </a:p>
        </p:txBody>
      </p:sp>
      <p:cxnSp>
        <p:nvCxnSpPr>
          <p:cNvPr id="154" name="Google Shape;154;g3f8368ea60c_0_18"/>
          <p:cNvCxnSpPr>
            <a:stCxn id="124" idx="0"/>
            <a:endCxn id="103" idx="2"/>
          </p:cNvCxnSpPr>
          <p:nvPr/>
        </p:nvCxnSpPr>
        <p:spPr>
          <a:xfrm rot="10800000">
            <a:off x="8054352" y="2871791"/>
            <a:ext cx="0" cy="6735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g3f8368ea60c_0_18"/>
          <p:cNvSpPr txBox="1"/>
          <p:nvPr/>
        </p:nvSpPr>
        <p:spPr>
          <a:xfrm>
            <a:off x="8169390" y="4182486"/>
            <a:ext cx="751800" cy="23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3281E"/>
                </a:solidFill>
              </a:rPr>
              <a:t>11.3</a:t>
            </a:r>
            <a:r>
              <a:rPr b="1" i="0" lang="en-US" sz="15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1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900"/>
          </a:p>
        </p:txBody>
      </p:sp>
      <p:sp>
        <p:nvSpPr>
          <p:cNvPr id="156" name="Google Shape;156;g3f8368ea60c_0_18"/>
          <p:cNvSpPr txBox="1"/>
          <p:nvPr/>
        </p:nvSpPr>
        <p:spPr>
          <a:xfrm>
            <a:off x="8109765" y="2898361"/>
            <a:ext cx="751800" cy="23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3281E"/>
                </a:solidFill>
              </a:rPr>
              <a:t>4</a:t>
            </a:r>
            <a:r>
              <a:rPr b="1" i="0" lang="en-US" sz="15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1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900"/>
          </a:p>
        </p:txBody>
      </p:sp>
      <p:sp>
        <p:nvSpPr>
          <p:cNvPr id="157" name="Google Shape;157;g3f8368ea60c_0_18"/>
          <p:cNvSpPr txBox="1"/>
          <p:nvPr/>
        </p:nvSpPr>
        <p:spPr>
          <a:xfrm>
            <a:off x="9318678" y="2898361"/>
            <a:ext cx="751800" cy="23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3281E"/>
                </a:solidFill>
              </a:rPr>
              <a:t>21.7</a:t>
            </a:r>
            <a:r>
              <a:rPr b="1" i="0" lang="en-US" sz="15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1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900"/>
          </a:p>
        </p:txBody>
      </p:sp>
      <p:sp>
        <p:nvSpPr>
          <p:cNvPr id="120" name="Google Shape;120;g3f8368ea60c_0_18"/>
          <p:cNvSpPr/>
          <p:nvPr/>
        </p:nvSpPr>
        <p:spPr>
          <a:xfrm>
            <a:off x="10791404" y="3267949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Provision</a:t>
            </a:r>
            <a:endParaRPr sz="1500"/>
          </a:p>
        </p:txBody>
      </p:sp>
      <p:cxnSp>
        <p:nvCxnSpPr>
          <p:cNvPr id="158" name="Google Shape;158;g3f8368ea60c_0_18"/>
          <p:cNvCxnSpPr>
            <a:stCxn id="120" idx="2"/>
            <a:endCxn id="142" idx="0"/>
          </p:cNvCxnSpPr>
          <p:nvPr/>
        </p:nvCxnSpPr>
        <p:spPr>
          <a:xfrm>
            <a:off x="11334854" y="3890749"/>
            <a:ext cx="0" cy="2916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g3f8368ea60c_0_18"/>
          <p:cNvCxnSpPr>
            <a:stCxn id="142" idx="2"/>
            <a:endCxn id="117" idx="0"/>
          </p:cNvCxnSpPr>
          <p:nvPr/>
        </p:nvCxnSpPr>
        <p:spPr>
          <a:xfrm>
            <a:off x="11334854" y="4805287"/>
            <a:ext cx="0" cy="3117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g3f8368ea60c_0_18"/>
          <p:cNvSpPr txBox="1"/>
          <p:nvPr/>
        </p:nvSpPr>
        <p:spPr>
          <a:xfrm>
            <a:off x="11318053" y="3921111"/>
            <a:ext cx="751800" cy="23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3281E"/>
                </a:solidFill>
              </a:rPr>
              <a:t>7.4</a:t>
            </a:r>
            <a:r>
              <a:rPr b="1" i="0" lang="en-US" sz="15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1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900"/>
          </a:p>
        </p:txBody>
      </p:sp>
      <p:sp>
        <p:nvSpPr>
          <p:cNvPr id="161" name="Google Shape;161;g3f8368ea60c_0_18"/>
          <p:cNvSpPr txBox="1"/>
          <p:nvPr/>
        </p:nvSpPr>
        <p:spPr>
          <a:xfrm>
            <a:off x="11334853" y="4830423"/>
            <a:ext cx="751800" cy="23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3281E"/>
                </a:solidFill>
              </a:rPr>
              <a:t>5</a:t>
            </a:r>
            <a:r>
              <a:rPr b="1" lang="en-US" sz="1500">
                <a:solidFill>
                  <a:srgbClr val="B3281E"/>
                </a:solidFill>
              </a:rPr>
              <a:t>.3</a:t>
            </a:r>
            <a:r>
              <a:rPr b="1" i="0" lang="en-US" sz="15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1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F3F3F3"/>
            </a:gs>
          </a:gsLst>
          <a:lin ang="2700006" scaled="0"/>
        </a:gra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g3f8368ea60c_0_131"/>
          <p:cNvCxnSpPr/>
          <p:nvPr/>
        </p:nvCxnSpPr>
        <p:spPr>
          <a:xfrm>
            <a:off x="0" y="894773"/>
            <a:ext cx="12197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7" name="Google Shape;167;g3f8368ea60c_0_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182" y="647700"/>
            <a:ext cx="236724" cy="4154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f8368ea60c_0_131"/>
          <p:cNvSpPr txBox="1"/>
          <p:nvPr/>
        </p:nvSpPr>
        <p:spPr>
          <a:xfrm>
            <a:off x="95406" y="6465047"/>
            <a:ext cx="143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Confidential</a:t>
            </a:r>
            <a:endParaRPr sz="900">
              <a:solidFill>
                <a:srgbClr val="00000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graphicFrame>
        <p:nvGraphicFramePr>
          <p:cNvPr id="169" name="Google Shape;169;g3f8368ea60c_0_131"/>
          <p:cNvGraphicFramePr/>
          <p:nvPr/>
        </p:nvGraphicFramePr>
        <p:xfrm>
          <a:off x="2636563" y="-9952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{789E9526-C373-4EDB-8213-038192666653}</a:tableStyleId>
              </a:tblPr>
              <a:tblGrid>
                <a:gridCol w="510450"/>
                <a:gridCol w="2402825"/>
                <a:gridCol w="2753800"/>
              </a:tblGrid>
              <a:tr h="27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</a:rPr>
                        <a:t>P0</a:t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0" marB="0" marR="121900" marL="121900" anchor="ctr"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MP build blocker &amp; </a:t>
                      </a:r>
                      <a:r>
                        <a:rPr lang="en-US" sz="700"/>
                        <a:t>N</a:t>
                      </a:r>
                      <a:r>
                        <a:rPr lang="en-US" sz="700">
                          <a:solidFill>
                            <a:srgbClr val="000000"/>
                          </a:solidFill>
                        </a:rPr>
                        <a:t>o RC or solution identified. </a:t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0" marB="0" marR="121900" marL="121900" anchor="ctr"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Dedicated DRI &amp; Target Closure Timeline &amp; Weekly Deep Dive.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0" marB="0" marR="121900" marL="121900" anchor="ctr"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</a:rPr>
                        <a:t>P1</a:t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0" marB="0" marR="121900" marL="12190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Not MP build blocker &amp; No RC or solution identified.</a:t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0" marB="0" marR="121900" marL="12190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Dedicated DRI &amp; Estimated Closure Timeline &amp; Weekly Deep Dive.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0" marB="0" marR="121900" marL="12190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P2</a:t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0" marB="0" marR="121900" marL="121900" anchor="ctr"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EFF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Not MP build blocker. </a:t>
                      </a:r>
                      <a:r>
                        <a:rPr lang="en-US" sz="700">
                          <a:solidFill>
                            <a:srgbClr val="000000"/>
                          </a:solidFill>
                        </a:rPr>
                        <a:t>Root Cause identified </a:t>
                      </a:r>
                      <a:r>
                        <a:rPr lang="en-US" sz="700"/>
                        <a:t>&amp;</a:t>
                      </a:r>
                      <a:r>
                        <a:rPr lang="en-US" sz="700">
                          <a:solidFill>
                            <a:srgbClr val="000000"/>
                          </a:solidFill>
                        </a:rPr>
                        <a:t> CA validated with limited data. </a:t>
                      </a:r>
                      <a:r>
                        <a:rPr lang="en-US" sz="700"/>
                        <a:t>Backlog.</a:t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0" marB="0" marR="121900" marL="121900" anchor="ctr"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Attend the matter upon resource availability.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0" marB="0" marR="121900" marL="121900" anchor="ctr"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70" name="Google Shape;170;g3f8368ea60c_0_131"/>
          <p:cNvSpPr txBox="1"/>
          <p:nvPr/>
        </p:nvSpPr>
        <p:spPr>
          <a:xfrm>
            <a:off x="8557772" y="-995267"/>
            <a:ext cx="3633900" cy="8373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</a:rPr>
              <a:t>Ready for Review</a:t>
            </a:r>
            <a:endParaRPr b="1" sz="2400">
              <a:solidFill>
                <a:schemeClr val="dk2"/>
              </a:solidFill>
            </a:endParaRPr>
          </a:p>
        </p:txBody>
      </p:sp>
      <p:sp>
        <p:nvSpPr>
          <p:cNvPr id="171" name="Google Shape;171;g3f8368ea60c_0_131"/>
          <p:cNvSpPr txBox="1"/>
          <p:nvPr/>
        </p:nvSpPr>
        <p:spPr>
          <a:xfrm>
            <a:off x="8557772" y="-995267"/>
            <a:ext cx="3633900" cy="837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</a:rPr>
              <a:t>Need Updates</a:t>
            </a:r>
            <a:endParaRPr b="1" sz="2400">
              <a:solidFill>
                <a:schemeClr val="dk2"/>
              </a:solidFill>
            </a:endParaRPr>
          </a:p>
        </p:txBody>
      </p:sp>
      <p:sp>
        <p:nvSpPr>
          <p:cNvPr id="172" name="Google Shape;172;g3f8368ea60c_0_13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3" name="Google Shape;173;g3f8368ea60c_0_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992" y="1001235"/>
            <a:ext cx="5979074" cy="4628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f8368ea60c_0_1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8530" y="1051867"/>
            <a:ext cx="5475019" cy="556458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f8368ea60c_0_131"/>
          <p:cNvSpPr txBox="1"/>
          <p:nvPr/>
        </p:nvSpPr>
        <p:spPr>
          <a:xfrm>
            <a:off x="106597" y="5448200"/>
            <a:ext cx="119841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Conclusion: SLT might be skipped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Details</a:t>
            </a:r>
            <a:r>
              <a:rPr lang="en-US" sz="1100">
                <a:solidFill>
                  <a:schemeClr val="dk1"/>
                </a:solidFill>
              </a:rPr>
              <a:t>: go/slt-ft 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800" u="sng">
                <a:solidFill>
                  <a:schemeClr val="hlink"/>
                </a:solidFill>
                <a:hlinkClick r:id="rId6"/>
              </a:rPr>
              <a:t>https://literate-telegram-2y3e9lz.pages.github.io/index.html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76" name="Google Shape;176;g3f8368ea60c_0_131"/>
          <p:cNvSpPr txBox="1"/>
          <p:nvPr/>
        </p:nvSpPr>
        <p:spPr>
          <a:xfrm>
            <a:off x="58543" y="164092"/>
            <a:ext cx="11014800" cy="68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Ski SLT Data </a:t>
            </a:r>
            <a:endParaRPr b="1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8368ea60c_0_7"/>
          <p:cNvSpPr txBox="1"/>
          <p:nvPr/>
        </p:nvSpPr>
        <p:spPr>
          <a:xfrm>
            <a:off x="51020" y="-4"/>
            <a:ext cx="111858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41414"/>
                </a:solidFill>
              </a:rPr>
              <a:t>32x Rack2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2026-W</a:t>
            </a:r>
            <a:r>
              <a:rPr lang="en-US" sz="1250">
                <a:solidFill>
                  <a:srgbClr val="6B6B6B"/>
                </a:solidFill>
              </a:rPr>
              <a:t>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g3f8368ea60c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2875" y="573475"/>
            <a:ext cx="4849576" cy="64661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f8368ea60c_0_7"/>
          <p:cNvSpPr txBox="1"/>
          <p:nvPr/>
        </p:nvSpPr>
        <p:spPr>
          <a:xfrm>
            <a:off x="8089175" y="5842200"/>
            <a:ext cx="3580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2514E"/>
                </a:solidFill>
                <a:highlight>
                  <a:srgbClr val="F9F9F7"/>
                </a:highlight>
              </a:rPr>
              <a:t>Assembled, not yet fully tested: the controllers have no L11 run against this serial. Provisioning and rack test are still ahead of it.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