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685800"/>
          </a:xfrm>
          <a:prstGeom prst="rect">
            <a:avLst/>
          </a:prstGeom>
          <a:noFill/>
        </p:spPr>
        <p:txBody>
          <a:bodyPr wrap="none">
            <a:spAutoFit/>
          </a:bodyPr>
          <a:lstStyle/>
          <a:p>
            <a:r>
              <a:rPr sz="3000" b="1">
                <a:solidFill>
                  <a:srgbClr val="141414"/>
                </a:solidFill>
                <a:latin typeface="Arial"/>
              </a:rPr>
              <a:t>End-to-end first-pass yield, by test step</a:t>
            </a:r>
          </a:p>
          <a:p>
            <a:r>
              <a:rPr sz="1300">
                <a:solidFill>
                  <a:srgbClr val="6B6B6B"/>
                </a:solidFill>
                <a:latin typeface="Arial"/>
              </a:rPr>
              <a:t>2026-08-09 → 2026-08-15 (UTC) · production test engineering</a:t>
            </a:r>
          </a:p>
        </p:txBody>
      </p:sp>
      <p:sp>
        <p:nvSpPr>
          <p:cNvPr id="3" name="Rectangle 2"/>
          <p:cNvSpPr/>
          <p:nvPr/>
        </p:nvSpPr>
        <p:spPr>
          <a:xfrm>
            <a:off x="548640" y="1298448"/>
            <a:ext cx="11094415" cy="1524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691640"/>
            <a:ext cx="3566160" cy="1417320"/>
          </a:xfrm>
          <a:prstGeom prst="roundRect">
            <a:avLst/>
          </a:prstGeom>
          <a:solidFill>
            <a:srgbClr val="FAFAF8"/>
          </a:solidFill>
          <a:ln w="9525">
            <a:solidFill>
              <a:srgbClr val="D8D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819656"/>
            <a:ext cx="3236976" cy="1188720"/>
          </a:xfrm>
          <a:prstGeom prst="rect">
            <a:avLst/>
          </a:prstGeom>
          <a:noFill/>
        </p:spPr>
        <p:txBody>
          <a:bodyPr wrap="square">
            <a:spAutoFit/>
          </a:bodyPr>
          <a:lstStyle/>
          <a:p>
            <a:pPr algn="l">
              <a:spcAft>
                <a:spcPts val="200"/>
              </a:spcAft>
            </a:pPr>
            <a:r>
              <a:rPr sz="1100" b="0">
                <a:solidFill>
                  <a:srgbClr val="6B6B6B"/>
                </a:solidFill>
                <a:latin typeface="Arial"/>
              </a:rPr>
              <a:t>Rolled first-pass, board stages</a:t>
            </a:r>
          </a:p>
          <a:p>
            <a:pPr algn="l">
              <a:spcAft>
                <a:spcPts val="200"/>
              </a:spcAft>
            </a:pPr>
            <a:r>
              <a:rPr sz="3400" b="1">
                <a:solidFill>
                  <a:srgbClr val="1C62B8"/>
                </a:solidFill>
                <a:latin typeface="Arial"/>
              </a:rPr>
              <a:t>28.1%</a:t>
            </a:r>
          </a:p>
          <a:p>
            <a:pPr algn="l">
              <a:spcAft>
                <a:spcPts val="200"/>
              </a:spcAft>
            </a:pPr>
            <a:r>
              <a:rPr sz="1050" b="0">
                <a:solidFill>
                  <a:srgbClr val="6B6B6B"/>
                </a:solidFill>
                <a:latin typeface="Arial"/>
              </a:rPr>
              <a:t>VBB Provisioning × MLT × HTT</a:t>
            </a:r>
          </a:p>
        </p:txBody>
      </p:sp>
      <p:sp>
        <p:nvSpPr>
          <p:cNvPr id="6" name="Rounded Rectangle 5"/>
          <p:cNvSpPr/>
          <p:nvPr/>
        </p:nvSpPr>
        <p:spPr>
          <a:xfrm>
            <a:off x="4343400" y="1691640"/>
            <a:ext cx="3566160" cy="1417320"/>
          </a:xfrm>
          <a:prstGeom prst="roundRect">
            <a:avLst/>
          </a:prstGeom>
          <a:solidFill>
            <a:srgbClr val="FAFAF8"/>
          </a:solidFill>
          <a:ln w="9525">
            <a:solidFill>
              <a:srgbClr val="D8D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07992" y="1819656"/>
            <a:ext cx="3236976" cy="1188720"/>
          </a:xfrm>
          <a:prstGeom prst="rect">
            <a:avLst/>
          </a:prstGeom>
          <a:noFill/>
        </p:spPr>
        <p:txBody>
          <a:bodyPr wrap="square">
            <a:spAutoFit/>
          </a:bodyPr>
          <a:lstStyle/>
          <a:p>
            <a:pPr algn="l">
              <a:spcAft>
                <a:spcPts val="200"/>
              </a:spcAft>
            </a:pPr>
            <a:r>
              <a:rPr sz="1100" b="0">
                <a:solidFill>
                  <a:srgbClr val="6B6B6B"/>
                </a:solidFill>
                <a:latin typeface="Arial"/>
              </a:rPr>
              <a:t>Die to module, incl. Sigurd</a:t>
            </a:r>
          </a:p>
          <a:p>
            <a:pPr algn="l">
              <a:spcAft>
                <a:spcPts val="200"/>
              </a:spcAft>
            </a:pPr>
            <a:r>
              <a:rPr sz="3400" b="1">
                <a:solidFill>
                  <a:srgbClr val="141414"/>
                </a:solidFill>
                <a:latin typeface="Arial"/>
              </a:rPr>
              <a:t>8.4%</a:t>
            </a:r>
          </a:p>
          <a:p>
            <a:pPr algn="l">
              <a:spcAft>
                <a:spcPts val="200"/>
              </a:spcAft>
            </a:pPr>
            <a:r>
              <a:rPr sz="1050" b="0">
                <a:solidFill>
                  <a:srgbClr val="6B6B6B"/>
                </a:solidFill>
                <a:latin typeface="Arial"/>
              </a:rPr>
              <a:t>WST 35.3% × FT 84.3% × board stages</a:t>
            </a:r>
          </a:p>
        </p:txBody>
      </p:sp>
      <p:sp>
        <p:nvSpPr>
          <p:cNvPr id="8" name="Rounded Rectangle 7"/>
          <p:cNvSpPr/>
          <p:nvPr/>
        </p:nvSpPr>
        <p:spPr>
          <a:xfrm>
            <a:off x="8138160" y="1691640"/>
            <a:ext cx="3474720" cy="1417320"/>
          </a:xfrm>
          <a:prstGeom prst="roundRect">
            <a:avLst/>
          </a:prstGeom>
          <a:solidFill>
            <a:srgbClr val="FAFAF8"/>
          </a:solidFill>
          <a:ln w="9525">
            <a:solidFill>
              <a:srgbClr val="D8D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819656"/>
            <a:ext cx="3145536" cy="1188720"/>
          </a:xfrm>
          <a:prstGeom prst="rect">
            <a:avLst/>
          </a:prstGeom>
          <a:noFill/>
        </p:spPr>
        <p:txBody>
          <a:bodyPr wrap="square">
            <a:spAutoFit/>
          </a:bodyPr>
          <a:lstStyle/>
          <a:p>
            <a:pPr algn="l">
              <a:spcAft>
                <a:spcPts val="200"/>
              </a:spcAft>
            </a:pPr>
            <a:r>
              <a:rPr sz="1100" b="0">
                <a:solidFill>
                  <a:srgbClr val="6B6B6B"/>
                </a:solidFill>
                <a:latin typeface="Arial"/>
              </a:rPr>
              <a:t>Measured this week</a:t>
            </a:r>
          </a:p>
          <a:p>
            <a:pPr algn="l">
              <a:spcAft>
                <a:spcPts val="200"/>
              </a:spcAft>
            </a:pPr>
            <a:r>
              <a:rPr sz="3400" b="1">
                <a:solidFill>
                  <a:srgbClr val="141414"/>
                </a:solidFill>
                <a:latin typeface="Arial"/>
              </a:rPr>
              <a:t>432</a:t>
            </a:r>
          </a:p>
          <a:p>
            <a:pPr algn="l">
              <a:spcAft>
                <a:spcPts val="200"/>
              </a:spcAft>
            </a:pPr>
            <a:r>
              <a:rPr sz="1050" b="0">
                <a:solidFill>
                  <a:srgbClr val="6B6B6B"/>
                </a:solidFill>
                <a:latin typeface="Arial"/>
              </a:rPr>
              <a:t>units · 641 runs · 8 stages</a:t>
            </a:r>
          </a:p>
        </p:txBody>
      </p:sp>
      <p:sp>
        <p:nvSpPr>
          <p:cNvPr id="10" name="TextBox 9"/>
          <p:cNvSpPr txBox="1"/>
          <p:nvPr/>
        </p:nvSpPr>
        <p:spPr>
          <a:xfrm>
            <a:off x="548640" y="3383280"/>
            <a:ext cx="11094415" cy="2743200"/>
          </a:xfrm>
          <a:prstGeom prst="rect">
            <a:avLst/>
          </a:prstGeom>
          <a:noFill/>
        </p:spPr>
        <p:txBody>
          <a:bodyPr wrap="square">
            <a:spAutoFit/>
          </a:bodyPr>
          <a:lstStyle/>
          <a:p>
            <a:pPr algn="l">
              <a:spcAft>
                <a:spcPts val="1000"/>
              </a:spcAft>
            </a:pPr>
            <a:r>
              <a:rPr sz="1400" b="1">
                <a:solidFill>
                  <a:srgbClr val="141414"/>
                </a:solidFill>
                <a:latin typeface="Arial"/>
              </a:rPr>
              <a:t>The line loses most of its yield at module test. </a:t>
            </a:r>
            <a:r>
              <a:rPr sz="1400" b="0">
                <a:solidFill>
                  <a:srgbClr val="141414"/>
                </a:solidFill>
                <a:latin typeface="Arial"/>
              </a:rPr>
              <a:t>MLT first-pass 65.5% and HTT 54.3%. Retest recovers them to 74.6% and 68.8%, which is why the run-level pass rate looks better than the line feels.</a:t>
            </a:r>
          </a:p>
          <a:p>
            <a:pPr algn="l">
              <a:spcAft>
                <a:spcPts val="1000"/>
              </a:spcAft>
            </a:pPr>
            <a:r>
              <a:rPr sz="1400" b="1">
                <a:solidFill>
                  <a:srgbClr val="141414"/>
                </a:solidFill>
                <a:latin typeface="Arial"/>
              </a:rPr>
              <a:t>Downstream is bring-up, not production. </a:t>
            </a:r>
            <a:r>
              <a:rPr sz="1400" b="0">
                <a:solidFill>
                  <a:srgbClr val="141414"/>
                </a:solidFill>
                <a:latin typeface="Arial"/>
              </a:rPr>
              <a:t>L10 and L11 ran 9 units all week between them — below the threshold where a yield can be read at all, so they are excluded from the rolled figure rather than dragging it to zero.</a:t>
            </a:r>
          </a:p>
          <a:p>
            <a:pPr algn="l">
              <a:spcAft>
                <a:spcPts val="1000"/>
              </a:spcAft>
            </a:pPr>
            <a:r>
              <a:rPr sz="1400" b="1">
                <a:solidFill>
                  <a:srgbClr val="141414"/>
                </a:solidFill>
                <a:latin typeface="Arial"/>
              </a:rPr>
              <a:t>Two of the five upstream numbers are hand-carried. </a:t>
            </a:r>
            <a:r>
              <a:rPr sz="1400" b="0">
                <a:solidFill>
                  <a:srgbClr val="141414"/>
                </a:solidFill>
                <a:latin typeface="Arial"/>
              </a:rPr>
              <a:t>WST and FT come from Sigurd by message, not by pipeline.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685800"/>
          </a:xfrm>
          <a:prstGeom prst="rect">
            <a:avLst/>
          </a:prstGeom>
          <a:noFill/>
        </p:spPr>
        <p:txBody>
          <a:bodyPr wrap="none">
            <a:spAutoFit/>
          </a:bodyPr>
          <a:lstStyle/>
          <a:p>
            <a:r>
              <a:rPr sz="3000" b="1">
                <a:solidFill>
                  <a:srgbClr val="141414"/>
                </a:solidFill>
                <a:latin typeface="Arial"/>
              </a:rPr>
              <a:t>Every step, seven days</a:t>
            </a:r>
          </a:p>
          <a:p>
            <a:r>
              <a:rPr sz="1300">
                <a:solidFill>
                  <a:srgbClr val="6B6B6B"/>
                </a:solidFill>
                <a:latin typeface="Arial"/>
              </a:rPr>
              <a:t>first pass · after retest · retest load</a:t>
            </a:r>
          </a:p>
        </p:txBody>
      </p:sp>
      <p:sp>
        <p:nvSpPr>
          <p:cNvPr id="3" name="Rectangle 2"/>
          <p:cNvSpPr/>
          <p:nvPr/>
        </p:nvSpPr>
        <p:spPr>
          <a:xfrm>
            <a:off x="548640" y="1298448"/>
            <a:ext cx="11094415" cy="1524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2377440" cy="274320"/>
          </a:xfrm>
          <a:prstGeom prst="rect">
            <a:avLst/>
          </a:prstGeom>
          <a:noFill/>
        </p:spPr>
        <p:txBody>
          <a:bodyPr wrap="square">
            <a:spAutoFit/>
          </a:bodyPr>
          <a:lstStyle/>
          <a:p>
            <a:pPr algn="l">
              <a:spcAft>
                <a:spcPts val="400"/>
              </a:spcAft>
            </a:pPr>
            <a:r>
              <a:rPr sz="1100" b="1">
                <a:solidFill>
                  <a:srgbClr val="6B6B6B"/>
                </a:solidFill>
                <a:latin typeface="Arial"/>
              </a:rPr>
              <a:t>Test step</a:t>
            </a:r>
          </a:p>
        </p:txBody>
      </p:sp>
      <p:sp>
        <p:nvSpPr>
          <p:cNvPr id="5" name="TextBox 4"/>
          <p:cNvSpPr txBox="1"/>
          <p:nvPr/>
        </p:nvSpPr>
        <p:spPr>
          <a:xfrm>
            <a:off x="3017520" y="1600200"/>
            <a:ext cx="1005840" cy="274320"/>
          </a:xfrm>
          <a:prstGeom prst="rect">
            <a:avLst/>
          </a:prstGeom>
          <a:noFill/>
        </p:spPr>
        <p:txBody>
          <a:bodyPr wrap="square">
            <a:spAutoFit/>
          </a:bodyPr>
          <a:lstStyle/>
          <a:p>
            <a:pPr algn="l">
              <a:spcAft>
                <a:spcPts val="400"/>
              </a:spcAft>
            </a:pPr>
            <a:r>
              <a:rPr sz="1100" b="1">
                <a:solidFill>
                  <a:srgbClr val="6B6B6B"/>
                </a:solidFill>
                <a:latin typeface="Arial"/>
              </a:rPr>
              <a:t>Units</a:t>
            </a:r>
          </a:p>
        </p:txBody>
      </p:sp>
      <p:sp>
        <p:nvSpPr>
          <p:cNvPr id="6" name="TextBox 5"/>
          <p:cNvSpPr txBox="1"/>
          <p:nvPr/>
        </p:nvSpPr>
        <p:spPr>
          <a:xfrm>
            <a:off x="4114800" y="1600200"/>
            <a:ext cx="1005840" cy="274320"/>
          </a:xfrm>
          <a:prstGeom prst="rect">
            <a:avLst/>
          </a:prstGeom>
          <a:noFill/>
        </p:spPr>
        <p:txBody>
          <a:bodyPr wrap="square">
            <a:spAutoFit/>
          </a:bodyPr>
          <a:lstStyle/>
          <a:p>
            <a:pPr algn="l">
              <a:spcAft>
                <a:spcPts val="400"/>
              </a:spcAft>
            </a:pPr>
            <a:r>
              <a:rPr sz="1100" b="1">
                <a:solidFill>
                  <a:srgbClr val="6B6B6B"/>
                </a:solidFill>
                <a:latin typeface="Arial"/>
              </a:rPr>
              <a:t>Runs</a:t>
            </a:r>
          </a:p>
        </p:txBody>
      </p:sp>
      <p:sp>
        <p:nvSpPr>
          <p:cNvPr id="7" name="TextBox 6"/>
          <p:cNvSpPr txBox="1"/>
          <p:nvPr/>
        </p:nvSpPr>
        <p:spPr>
          <a:xfrm>
            <a:off x="5212080" y="1600200"/>
            <a:ext cx="1371600" cy="274320"/>
          </a:xfrm>
          <a:prstGeom prst="rect">
            <a:avLst/>
          </a:prstGeom>
          <a:noFill/>
        </p:spPr>
        <p:txBody>
          <a:bodyPr wrap="square">
            <a:spAutoFit/>
          </a:bodyPr>
          <a:lstStyle/>
          <a:p>
            <a:pPr algn="l">
              <a:spcAft>
                <a:spcPts val="400"/>
              </a:spcAft>
            </a:pPr>
            <a:r>
              <a:rPr sz="1100" b="1">
                <a:solidFill>
                  <a:srgbClr val="6B6B6B"/>
                </a:solidFill>
                <a:latin typeface="Arial"/>
              </a:rPr>
              <a:t>First pass</a:t>
            </a:r>
          </a:p>
        </p:txBody>
      </p:sp>
      <p:sp>
        <p:nvSpPr>
          <p:cNvPr id="8" name="TextBox 7"/>
          <p:cNvSpPr txBox="1"/>
          <p:nvPr/>
        </p:nvSpPr>
        <p:spPr>
          <a:xfrm>
            <a:off x="6675120" y="1600200"/>
            <a:ext cx="1371600" cy="274320"/>
          </a:xfrm>
          <a:prstGeom prst="rect">
            <a:avLst/>
          </a:prstGeom>
          <a:noFill/>
        </p:spPr>
        <p:txBody>
          <a:bodyPr wrap="square">
            <a:spAutoFit/>
          </a:bodyPr>
          <a:lstStyle/>
          <a:p>
            <a:pPr algn="l">
              <a:spcAft>
                <a:spcPts val="400"/>
              </a:spcAft>
            </a:pPr>
            <a:r>
              <a:rPr sz="1100" b="1">
                <a:solidFill>
                  <a:srgbClr val="6B6B6B"/>
                </a:solidFill>
                <a:latin typeface="Arial"/>
              </a:rPr>
              <a:t>After retest</a:t>
            </a:r>
          </a:p>
        </p:txBody>
      </p:sp>
      <p:sp>
        <p:nvSpPr>
          <p:cNvPr id="9" name="TextBox 8"/>
          <p:cNvSpPr txBox="1"/>
          <p:nvPr/>
        </p:nvSpPr>
        <p:spPr>
          <a:xfrm>
            <a:off x="8138160" y="1600200"/>
            <a:ext cx="1371600" cy="274320"/>
          </a:xfrm>
          <a:prstGeom prst="rect">
            <a:avLst/>
          </a:prstGeom>
          <a:noFill/>
        </p:spPr>
        <p:txBody>
          <a:bodyPr wrap="square">
            <a:spAutoFit/>
          </a:bodyPr>
          <a:lstStyle/>
          <a:p>
            <a:pPr algn="l">
              <a:spcAft>
                <a:spcPts val="400"/>
              </a:spcAft>
            </a:pPr>
            <a:r>
              <a:rPr sz="1100" b="1">
                <a:solidFill>
                  <a:srgbClr val="6B6B6B"/>
                </a:solidFill>
                <a:latin typeface="Arial"/>
              </a:rPr>
              <a:t>Retest load</a:t>
            </a:r>
          </a:p>
        </p:txBody>
      </p:sp>
      <p:sp>
        <p:nvSpPr>
          <p:cNvPr id="10" name="TextBox 9"/>
          <p:cNvSpPr txBox="1"/>
          <p:nvPr/>
        </p:nvSpPr>
        <p:spPr>
          <a:xfrm>
            <a:off x="9601200" y="1600200"/>
            <a:ext cx="2103120" cy="274320"/>
          </a:xfrm>
          <a:prstGeom prst="rect">
            <a:avLst/>
          </a:prstGeom>
          <a:noFill/>
        </p:spPr>
        <p:txBody>
          <a:bodyPr wrap="square">
            <a:spAutoFit/>
          </a:bodyPr>
          <a:lstStyle/>
          <a:p>
            <a:pPr algn="l">
              <a:spcAft>
                <a:spcPts val="400"/>
              </a:spcAft>
            </a:pPr>
            <a:r>
              <a:rPr sz="1100" b="1">
                <a:solidFill>
                  <a:srgbClr val="6B6B6B"/>
                </a:solidFill>
                <a:latin typeface="Arial"/>
              </a:rPr>
              <a:t>Top failure</a:t>
            </a:r>
          </a:p>
        </p:txBody>
      </p:sp>
      <p:sp>
        <p:nvSpPr>
          <p:cNvPr id="11" name="TextBox 10"/>
          <p:cNvSpPr txBox="1"/>
          <p:nvPr/>
        </p:nvSpPr>
        <p:spPr>
          <a:xfrm>
            <a:off x="548640" y="1920240"/>
            <a:ext cx="2377440" cy="384048"/>
          </a:xfrm>
          <a:prstGeom prst="rect">
            <a:avLst/>
          </a:prstGeom>
          <a:noFill/>
        </p:spPr>
        <p:txBody>
          <a:bodyPr wrap="square">
            <a:spAutoFit/>
          </a:bodyPr>
          <a:lstStyle/>
          <a:p>
            <a:pPr algn="l">
              <a:spcAft>
                <a:spcPts val="400"/>
              </a:spcAft>
            </a:pPr>
            <a:r>
              <a:rPr sz="1300" b="1">
                <a:solidFill>
                  <a:srgbClr val="141414"/>
                </a:solidFill>
                <a:latin typeface="Arial"/>
              </a:rPr>
              <a:t>WST</a:t>
            </a:r>
            <a:r>
              <a:rPr sz="950" b="0">
                <a:solidFill>
                  <a:srgbClr val="6B6B6B"/>
                </a:solidFill>
                <a:latin typeface="Arial"/>
              </a:rPr>
              <a:t>  reported</a:t>
            </a:r>
          </a:p>
        </p:txBody>
      </p:sp>
      <p:sp>
        <p:nvSpPr>
          <p:cNvPr id="12" name="TextBox 11"/>
          <p:cNvSpPr txBox="1"/>
          <p:nvPr/>
        </p:nvSpPr>
        <p:spPr>
          <a:xfrm>
            <a:off x="3017520" y="1920240"/>
            <a:ext cx="1005840" cy="274320"/>
          </a:xfrm>
          <a:prstGeom prst="rect">
            <a:avLst/>
          </a:prstGeom>
          <a:noFill/>
        </p:spPr>
        <p:txBody>
          <a:bodyPr wrap="square">
            <a:spAutoFit/>
          </a:bodyPr>
          <a:lstStyle/>
          <a:p>
            <a:pPr algn="l">
              <a:spcAft>
                <a:spcPts val="400"/>
              </a:spcAft>
            </a:pPr>
            <a:r>
              <a:rPr sz="1250" b="0">
                <a:solidFill>
                  <a:srgbClr val="141414"/>
                </a:solidFill>
                <a:latin typeface="Arial"/>
              </a:rPr>
              <a:t>—</a:t>
            </a:r>
          </a:p>
        </p:txBody>
      </p:sp>
      <p:sp>
        <p:nvSpPr>
          <p:cNvPr id="13" name="TextBox 12"/>
          <p:cNvSpPr txBox="1"/>
          <p:nvPr/>
        </p:nvSpPr>
        <p:spPr>
          <a:xfrm>
            <a:off x="4114800" y="1920240"/>
            <a:ext cx="1005840" cy="274320"/>
          </a:xfrm>
          <a:prstGeom prst="rect">
            <a:avLst/>
          </a:prstGeom>
          <a:noFill/>
        </p:spPr>
        <p:txBody>
          <a:bodyPr wrap="square">
            <a:spAutoFit/>
          </a:bodyPr>
          <a:lstStyle/>
          <a:p>
            <a:pPr algn="l">
              <a:spcAft>
                <a:spcPts val="400"/>
              </a:spcAft>
            </a:pPr>
            <a:r>
              <a:rPr sz="1250" b="0">
                <a:solidFill>
                  <a:srgbClr val="141414"/>
                </a:solidFill>
                <a:latin typeface="Arial"/>
              </a:rPr>
              <a:t>—</a:t>
            </a:r>
          </a:p>
        </p:txBody>
      </p:sp>
      <p:sp>
        <p:nvSpPr>
          <p:cNvPr id="14" name="TextBox 13"/>
          <p:cNvSpPr txBox="1"/>
          <p:nvPr/>
        </p:nvSpPr>
        <p:spPr>
          <a:xfrm>
            <a:off x="5212080" y="1920240"/>
            <a:ext cx="1371600" cy="274320"/>
          </a:xfrm>
          <a:prstGeom prst="rect">
            <a:avLst/>
          </a:prstGeom>
          <a:noFill/>
        </p:spPr>
        <p:txBody>
          <a:bodyPr wrap="square">
            <a:spAutoFit/>
          </a:bodyPr>
          <a:lstStyle/>
          <a:p>
            <a:pPr algn="l">
              <a:spcAft>
                <a:spcPts val="400"/>
              </a:spcAft>
            </a:pPr>
            <a:r>
              <a:rPr sz="1400" b="1">
                <a:solidFill>
                  <a:srgbClr val="B3281E"/>
                </a:solidFill>
                <a:latin typeface="Arial"/>
              </a:rPr>
              <a:t>35.3%</a:t>
            </a:r>
          </a:p>
        </p:txBody>
      </p:sp>
      <p:sp>
        <p:nvSpPr>
          <p:cNvPr id="15" name="TextBox 14"/>
          <p:cNvSpPr txBox="1"/>
          <p:nvPr/>
        </p:nvSpPr>
        <p:spPr>
          <a:xfrm>
            <a:off x="6675120" y="1920240"/>
            <a:ext cx="1371600" cy="274320"/>
          </a:xfrm>
          <a:prstGeom prst="rect">
            <a:avLst/>
          </a:prstGeom>
          <a:noFill/>
        </p:spPr>
        <p:txBody>
          <a:bodyPr wrap="square">
            <a:spAutoFit/>
          </a:bodyPr>
          <a:lstStyle/>
          <a:p>
            <a:pPr algn="l">
              <a:spcAft>
                <a:spcPts val="400"/>
              </a:spcAft>
            </a:pPr>
            <a:r>
              <a:rPr sz="1250" b="0">
                <a:solidFill>
                  <a:srgbClr val="141414"/>
                </a:solidFill>
                <a:latin typeface="Arial"/>
              </a:rPr>
              <a:t>—</a:t>
            </a:r>
          </a:p>
        </p:txBody>
      </p:sp>
      <p:sp>
        <p:nvSpPr>
          <p:cNvPr id="16" name="TextBox 15"/>
          <p:cNvSpPr txBox="1"/>
          <p:nvPr/>
        </p:nvSpPr>
        <p:spPr>
          <a:xfrm>
            <a:off x="8138160" y="1920240"/>
            <a:ext cx="1371600" cy="274320"/>
          </a:xfrm>
          <a:prstGeom prst="rect">
            <a:avLst/>
          </a:prstGeom>
          <a:noFill/>
        </p:spPr>
        <p:txBody>
          <a:bodyPr wrap="square">
            <a:spAutoFit/>
          </a:bodyPr>
          <a:lstStyle/>
          <a:p>
            <a:pPr algn="l">
              <a:spcAft>
                <a:spcPts val="400"/>
              </a:spcAft>
            </a:pPr>
            <a:r>
              <a:rPr sz="1250" b="0">
                <a:solidFill>
                  <a:srgbClr val="141414"/>
                </a:solidFill>
                <a:latin typeface="Arial"/>
              </a:rPr>
              <a:t>—</a:t>
            </a:r>
          </a:p>
        </p:txBody>
      </p:sp>
      <p:sp>
        <p:nvSpPr>
          <p:cNvPr id="17" name="TextBox 16"/>
          <p:cNvSpPr txBox="1"/>
          <p:nvPr/>
        </p:nvSpPr>
        <p:spPr>
          <a:xfrm>
            <a:off x="9601200" y="1920240"/>
            <a:ext cx="2103120" cy="384048"/>
          </a:xfrm>
          <a:prstGeom prst="rect">
            <a:avLst/>
          </a:prstGeom>
          <a:noFill/>
        </p:spPr>
        <p:txBody>
          <a:bodyPr wrap="square">
            <a:spAutoFit/>
          </a:bodyPr>
          <a:lstStyle/>
          <a:p>
            <a:pPr algn="l">
              <a:spcAft>
                <a:spcPts val="400"/>
              </a:spcAft>
            </a:pPr>
            <a:r>
              <a:rPr sz="950" b="0">
                <a:solidFill>
                  <a:srgbClr val="6B6B6B"/>
                </a:solidFill>
                <a:latin typeface="Arial"/>
              </a:rPr>
              <a:t>Sigurd, as of 2026-08-14</a:t>
            </a:r>
          </a:p>
        </p:txBody>
      </p:sp>
      <p:sp>
        <p:nvSpPr>
          <p:cNvPr id="18" name="TextBox 17"/>
          <p:cNvSpPr txBox="1"/>
          <p:nvPr/>
        </p:nvSpPr>
        <p:spPr>
          <a:xfrm>
            <a:off x="548640" y="2340864"/>
            <a:ext cx="2377440" cy="384048"/>
          </a:xfrm>
          <a:prstGeom prst="rect">
            <a:avLst/>
          </a:prstGeom>
          <a:noFill/>
        </p:spPr>
        <p:txBody>
          <a:bodyPr wrap="square">
            <a:spAutoFit/>
          </a:bodyPr>
          <a:lstStyle/>
          <a:p>
            <a:pPr algn="l">
              <a:spcAft>
                <a:spcPts val="400"/>
              </a:spcAft>
            </a:pPr>
            <a:r>
              <a:rPr sz="1300" b="1">
                <a:solidFill>
                  <a:srgbClr val="141414"/>
                </a:solidFill>
                <a:latin typeface="Arial"/>
              </a:rPr>
              <a:t>FT</a:t>
            </a:r>
            <a:r>
              <a:rPr sz="950" b="0">
                <a:solidFill>
                  <a:srgbClr val="6B6B6B"/>
                </a:solidFill>
                <a:latin typeface="Arial"/>
              </a:rPr>
              <a:t>  reported</a:t>
            </a:r>
          </a:p>
        </p:txBody>
      </p:sp>
      <p:sp>
        <p:nvSpPr>
          <p:cNvPr id="19" name="TextBox 18"/>
          <p:cNvSpPr txBox="1"/>
          <p:nvPr/>
        </p:nvSpPr>
        <p:spPr>
          <a:xfrm>
            <a:off x="3017520" y="2340864"/>
            <a:ext cx="1005840" cy="274320"/>
          </a:xfrm>
          <a:prstGeom prst="rect">
            <a:avLst/>
          </a:prstGeom>
          <a:noFill/>
        </p:spPr>
        <p:txBody>
          <a:bodyPr wrap="square">
            <a:spAutoFit/>
          </a:bodyPr>
          <a:lstStyle/>
          <a:p>
            <a:pPr algn="l">
              <a:spcAft>
                <a:spcPts val="400"/>
              </a:spcAft>
            </a:pPr>
            <a:r>
              <a:rPr sz="1250" b="0">
                <a:solidFill>
                  <a:srgbClr val="141414"/>
                </a:solidFill>
                <a:latin typeface="Arial"/>
              </a:rPr>
              <a:t>—</a:t>
            </a:r>
          </a:p>
        </p:txBody>
      </p:sp>
      <p:sp>
        <p:nvSpPr>
          <p:cNvPr id="20" name="TextBox 19"/>
          <p:cNvSpPr txBox="1"/>
          <p:nvPr/>
        </p:nvSpPr>
        <p:spPr>
          <a:xfrm>
            <a:off x="4114800" y="2340864"/>
            <a:ext cx="1005840" cy="274320"/>
          </a:xfrm>
          <a:prstGeom prst="rect">
            <a:avLst/>
          </a:prstGeom>
          <a:noFill/>
        </p:spPr>
        <p:txBody>
          <a:bodyPr wrap="square">
            <a:spAutoFit/>
          </a:bodyPr>
          <a:lstStyle/>
          <a:p>
            <a:pPr algn="l">
              <a:spcAft>
                <a:spcPts val="400"/>
              </a:spcAft>
            </a:pPr>
            <a:r>
              <a:rPr sz="1250" b="0">
                <a:solidFill>
                  <a:srgbClr val="141414"/>
                </a:solidFill>
                <a:latin typeface="Arial"/>
              </a:rPr>
              <a:t>—</a:t>
            </a:r>
          </a:p>
        </p:txBody>
      </p:sp>
      <p:sp>
        <p:nvSpPr>
          <p:cNvPr id="21" name="TextBox 20"/>
          <p:cNvSpPr txBox="1"/>
          <p:nvPr/>
        </p:nvSpPr>
        <p:spPr>
          <a:xfrm>
            <a:off x="5212080" y="2340864"/>
            <a:ext cx="1371600" cy="274320"/>
          </a:xfrm>
          <a:prstGeom prst="rect">
            <a:avLst/>
          </a:prstGeom>
          <a:noFill/>
        </p:spPr>
        <p:txBody>
          <a:bodyPr wrap="square">
            <a:spAutoFit/>
          </a:bodyPr>
          <a:lstStyle/>
          <a:p>
            <a:pPr algn="l">
              <a:spcAft>
                <a:spcPts val="400"/>
              </a:spcAft>
            </a:pPr>
            <a:r>
              <a:rPr sz="1400" b="1">
                <a:solidFill>
                  <a:srgbClr val="B56B00"/>
                </a:solidFill>
                <a:latin typeface="Arial"/>
              </a:rPr>
              <a:t>84.3%</a:t>
            </a:r>
          </a:p>
        </p:txBody>
      </p:sp>
      <p:sp>
        <p:nvSpPr>
          <p:cNvPr id="22" name="TextBox 21"/>
          <p:cNvSpPr txBox="1"/>
          <p:nvPr/>
        </p:nvSpPr>
        <p:spPr>
          <a:xfrm>
            <a:off x="6675120" y="2340864"/>
            <a:ext cx="1371600" cy="274320"/>
          </a:xfrm>
          <a:prstGeom prst="rect">
            <a:avLst/>
          </a:prstGeom>
          <a:noFill/>
        </p:spPr>
        <p:txBody>
          <a:bodyPr wrap="square">
            <a:spAutoFit/>
          </a:bodyPr>
          <a:lstStyle/>
          <a:p>
            <a:pPr algn="l">
              <a:spcAft>
                <a:spcPts val="400"/>
              </a:spcAft>
            </a:pPr>
            <a:r>
              <a:rPr sz="1250" b="0">
                <a:solidFill>
                  <a:srgbClr val="141414"/>
                </a:solidFill>
                <a:latin typeface="Arial"/>
              </a:rPr>
              <a:t>—</a:t>
            </a:r>
          </a:p>
        </p:txBody>
      </p:sp>
      <p:sp>
        <p:nvSpPr>
          <p:cNvPr id="23" name="TextBox 22"/>
          <p:cNvSpPr txBox="1"/>
          <p:nvPr/>
        </p:nvSpPr>
        <p:spPr>
          <a:xfrm>
            <a:off x="8138160" y="2340864"/>
            <a:ext cx="1371600" cy="274320"/>
          </a:xfrm>
          <a:prstGeom prst="rect">
            <a:avLst/>
          </a:prstGeom>
          <a:noFill/>
        </p:spPr>
        <p:txBody>
          <a:bodyPr wrap="square">
            <a:spAutoFit/>
          </a:bodyPr>
          <a:lstStyle/>
          <a:p>
            <a:pPr algn="l">
              <a:spcAft>
                <a:spcPts val="400"/>
              </a:spcAft>
            </a:pPr>
            <a:r>
              <a:rPr sz="1250" b="0">
                <a:solidFill>
                  <a:srgbClr val="141414"/>
                </a:solidFill>
                <a:latin typeface="Arial"/>
              </a:rPr>
              <a:t>—</a:t>
            </a:r>
          </a:p>
        </p:txBody>
      </p:sp>
      <p:sp>
        <p:nvSpPr>
          <p:cNvPr id="24" name="TextBox 23"/>
          <p:cNvSpPr txBox="1"/>
          <p:nvPr/>
        </p:nvSpPr>
        <p:spPr>
          <a:xfrm>
            <a:off x="9601200" y="2340864"/>
            <a:ext cx="2103120" cy="384048"/>
          </a:xfrm>
          <a:prstGeom prst="rect">
            <a:avLst/>
          </a:prstGeom>
          <a:noFill/>
        </p:spPr>
        <p:txBody>
          <a:bodyPr wrap="square">
            <a:spAutoFit/>
          </a:bodyPr>
          <a:lstStyle/>
          <a:p>
            <a:pPr algn="l">
              <a:spcAft>
                <a:spcPts val="400"/>
              </a:spcAft>
            </a:pPr>
            <a:r>
              <a:rPr sz="950" b="0">
                <a:solidFill>
                  <a:srgbClr val="6B6B6B"/>
                </a:solidFill>
                <a:latin typeface="Arial"/>
              </a:rPr>
              <a:t>Sigurd, as of 2026-08-14</a:t>
            </a:r>
          </a:p>
        </p:txBody>
      </p:sp>
      <p:sp>
        <p:nvSpPr>
          <p:cNvPr id="25" name="TextBox 24"/>
          <p:cNvSpPr txBox="1"/>
          <p:nvPr/>
        </p:nvSpPr>
        <p:spPr>
          <a:xfrm>
            <a:off x="548640" y="2761488"/>
            <a:ext cx="2377440" cy="384048"/>
          </a:xfrm>
          <a:prstGeom prst="rect">
            <a:avLst/>
          </a:prstGeom>
          <a:noFill/>
        </p:spPr>
        <p:txBody>
          <a:bodyPr wrap="square">
            <a:spAutoFit/>
          </a:bodyPr>
          <a:lstStyle/>
          <a:p>
            <a:pPr algn="l">
              <a:spcAft>
                <a:spcPts val="400"/>
              </a:spcAft>
            </a:pPr>
            <a:r>
              <a:rPr sz="1300" b="1">
                <a:solidFill>
                  <a:srgbClr val="141414"/>
                </a:solidFill>
                <a:latin typeface="Arial"/>
              </a:rPr>
              <a:t>VBB Provisioning</a:t>
            </a:r>
            <a:r>
              <a:rPr sz="950" b="0">
                <a:solidFill>
                  <a:srgbClr val="6B6B6B"/>
                </a:solidFill>
                <a:latin typeface="Arial"/>
              </a:rPr>
              <a:t>  pega2</a:t>
            </a:r>
          </a:p>
        </p:txBody>
      </p:sp>
      <p:sp>
        <p:nvSpPr>
          <p:cNvPr id="26" name="TextBox 25"/>
          <p:cNvSpPr txBox="1"/>
          <p:nvPr/>
        </p:nvSpPr>
        <p:spPr>
          <a:xfrm>
            <a:off x="3017520" y="2761488"/>
            <a:ext cx="1005840" cy="274320"/>
          </a:xfrm>
          <a:prstGeom prst="rect">
            <a:avLst/>
          </a:prstGeom>
          <a:noFill/>
        </p:spPr>
        <p:txBody>
          <a:bodyPr wrap="square">
            <a:spAutoFit/>
          </a:bodyPr>
          <a:lstStyle/>
          <a:p>
            <a:pPr algn="l">
              <a:spcAft>
                <a:spcPts val="400"/>
              </a:spcAft>
            </a:pPr>
            <a:r>
              <a:rPr sz="1250" b="0">
                <a:solidFill>
                  <a:srgbClr val="141414"/>
                </a:solidFill>
                <a:latin typeface="Arial"/>
              </a:rPr>
              <a:t>25</a:t>
            </a:r>
          </a:p>
        </p:txBody>
      </p:sp>
      <p:sp>
        <p:nvSpPr>
          <p:cNvPr id="27" name="TextBox 26"/>
          <p:cNvSpPr txBox="1"/>
          <p:nvPr/>
        </p:nvSpPr>
        <p:spPr>
          <a:xfrm>
            <a:off x="4114800" y="2761488"/>
            <a:ext cx="1005840" cy="274320"/>
          </a:xfrm>
          <a:prstGeom prst="rect">
            <a:avLst/>
          </a:prstGeom>
          <a:noFill/>
        </p:spPr>
        <p:txBody>
          <a:bodyPr wrap="square">
            <a:spAutoFit/>
          </a:bodyPr>
          <a:lstStyle/>
          <a:p>
            <a:pPr algn="l">
              <a:spcAft>
                <a:spcPts val="400"/>
              </a:spcAft>
            </a:pPr>
            <a:r>
              <a:rPr sz="1250" b="0">
                <a:solidFill>
                  <a:srgbClr val="141414"/>
                </a:solidFill>
                <a:latin typeface="Arial"/>
              </a:rPr>
              <a:t>68</a:t>
            </a:r>
          </a:p>
        </p:txBody>
      </p:sp>
      <p:sp>
        <p:nvSpPr>
          <p:cNvPr id="28" name="TextBox 27"/>
          <p:cNvSpPr txBox="1"/>
          <p:nvPr/>
        </p:nvSpPr>
        <p:spPr>
          <a:xfrm>
            <a:off x="5212080" y="2761488"/>
            <a:ext cx="1371600" cy="274320"/>
          </a:xfrm>
          <a:prstGeom prst="rect">
            <a:avLst/>
          </a:prstGeom>
          <a:noFill/>
        </p:spPr>
        <p:txBody>
          <a:bodyPr wrap="square">
            <a:spAutoFit/>
          </a:bodyPr>
          <a:lstStyle/>
          <a:p>
            <a:pPr algn="l">
              <a:spcAft>
                <a:spcPts val="400"/>
              </a:spcAft>
            </a:pPr>
            <a:r>
              <a:rPr sz="1400" b="1">
                <a:solidFill>
                  <a:srgbClr val="B56B00"/>
                </a:solidFill>
                <a:latin typeface="Arial"/>
              </a:rPr>
              <a:t>79.2%</a:t>
            </a:r>
          </a:p>
        </p:txBody>
      </p:sp>
      <p:sp>
        <p:nvSpPr>
          <p:cNvPr id="29" name="TextBox 28"/>
          <p:cNvSpPr txBox="1"/>
          <p:nvPr/>
        </p:nvSpPr>
        <p:spPr>
          <a:xfrm>
            <a:off x="6675120" y="2761488"/>
            <a:ext cx="1371600" cy="274320"/>
          </a:xfrm>
          <a:prstGeom prst="rect">
            <a:avLst/>
          </a:prstGeom>
          <a:noFill/>
        </p:spPr>
        <p:txBody>
          <a:bodyPr wrap="square">
            <a:spAutoFit/>
          </a:bodyPr>
          <a:lstStyle/>
          <a:p>
            <a:pPr algn="l">
              <a:spcAft>
                <a:spcPts val="400"/>
              </a:spcAft>
            </a:pPr>
            <a:r>
              <a:rPr sz="1250" b="0">
                <a:solidFill>
                  <a:srgbClr val="141414"/>
                </a:solidFill>
                <a:latin typeface="Arial"/>
              </a:rPr>
              <a:t>100.0%</a:t>
            </a:r>
          </a:p>
        </p:txBody>
      </p:sp>
      <p:sp>
        <p:nvSpPr>
          <p:cNvPr id="30" name="TextBox 29"/>
          <p:cNvSpPr txBox="1"/>
          <p:nvPr/>
        </p:nvSpPr>
        <p:spPr>
          <a:xfrm>
            <a:off x="8138160" y="2761488"/>
            <a:ext cx="1371600" cy="274320"/>
          </a:xfrm>
          <a:prstGeom prst="rect">
            <a:avLst/>
          </a:prstGeom>
          <a:noFill/>
        </p:spPr>
        <p:txBody>
          <a:bodyPr wrap="square">
            <a:spAutoFit/>
          </a:bodyPr>
          <a:lstStyle/>
          <a:p>
            <a:pPr algn="l">
              <a:spcAft>
                <a:spcPts val="400"/>
              </a:spcAft>
            </a:pPr>
            <a:r>
              <a:rPr sz="1250" b="0">
                <a:solidFill>
                  <a:srgbClr val="141414"/>
                </a:solidFill>
                <a:latin typeface="Arial"/>
              </a:rPr>
              <a:t>—</a:t>
            </a:r>
          </a:p>
        </p:txBody>
      </p:sp>
      <p:sp>
        <p:nvSpPr>
          <p:cNvPr id="31" name="TextBox 30"/>
          <p:cNvSpPr txBox="1"/>
          <p:nvPr/>
        </p:nvSpPr>
        <p:spPr>
          <a:xfrm>
            <a:off x="9601200" y="2761488"/>
            <a:ext cx="2103120" cy="384048"/>
          </a:xfrm>
          <a:prstGeom prst="rect">
            <a:avLst/>
          </a:prstGeom>
          <a:noFill/>
        </p:spPr>
        <p:txBody>
          <a:bodyPr wrap="square">
            <a:spAutoFit/>
          </a:bodyPr>
          <a:lstStyle/>
          <a:p>
            <a:pPr algn="l">
              <a:spcAft>
                <a:spcPts val="400"/>
              </a:spcAft>
            </a:pPr>
            <a:r>
              <a:rPr sz="950" b="0">
                <a:solidFill>
                  <a:srgbClr val="6B6B6B"/>
                </a:solidFill>
                <a:latin typeface="Arial"/>
              </a:rPr>
              <a:t>LcusDisable</a:t>
            </a:r>
          </a:p>
        </p:txBody>
      </p:sp>
      <p:sp>
        <p:nvSpPr>
          <p:cNvPr id="32" name="TextBox 31"/>
          <p:cNvSpPr txBox="1"/>
          <p:nvPr/>
        </p:nvSpPr>
        <p:spPr>
          <a:xfrm>
            <a:off x="548640" y="3182112"/>
            <a:ext cx="2377440" cy="384048"/>
          </a:xfrm>
          <a:prstGeom prst="rect">
            <a:avLst/>
          </a:prstGeom>
          <a:noFill/>
        </p:spPr>
        <p:txBody>
          <a:bodyPr wrap="square">
            <a:spAutoFit/>
          </a:bodyPr>
          <a:lstStyle/>
          <a:p>
            <a:pPr algn="l">
              <a:spcAft>
                <a:spcPts val="400"/>
              </a:spcAft>
            </a:pPr>
            <a:r>
              <a:rPr sz="1300" b="1">
                <a:solidFill>
                  <a:srgbClr val="141414"/>
                </a:solidFill>
                <a:latin typeface="Arial"/>
              </a:rPr>
              <a:t>MLT</a:t>
            </a:r>
            <a:r>
              <a:rPr sz="950" b="0">
                <a:solidFill>
                  <a:srgbClr val="6B6B6B"/>
                </a:solidFill>
                <a:latin typeface="Arial"/>
              </a:rPr>
              <a:t>  pega3</a:t>
            </a:r>
          </a:p>
        </p:txBody>
      </p:sp>
      <p:sp>
        <p:nvSpPr>
          <p:cNvPr id="33" name="TextBox 32"/>
          <p:cNvSpPr txBox="1"/>
          <p:nvPr/>
        </p:nvSpPr>
        <p:spPr>
          <a:xfrm>
            <a:off x="3017520" y="3182112"/>
            <a:ext cx="1005840" cy="274320"/>
          </a:xfrm>
          <a:prstGeom prst="rect">
            <a:avLst/>
          </a:prstGeom>
          <a:noFill/>
        </p:spPr>
        <p:txBody>
          <a:bodyPr wrap="square">
            <a:spAutoFit/>
          </a:bodyPr>
          <a:lstStyle/>
          <a:p>
            <a:pPr algn="l">
              <a:spcAft>
                <a:spcPts val="400"/>
              </a:spcAft>
            </a:pPr>
            <a:r>
              <a:rPr sz="1250" b="0">
                <a:solidFill>
                  <a:srgbClr val="141414"/>
                </a:solidFill>
                <a:latin typeface="Arial"/>
              </a:rPr>
              <a:t>228</a:t>
            </a:r>
          </a:p>
        </p:txBody>
      </p:sp>
      <p:sp>
        <p:nvSpPr>
          <p:cNvPr id="34" name="TextBox 33"/>
          <p:cNvSpPr txBox="1"/>
          <p:nvPr/>
        </p:nvSpPr>
        <p:spPr>
          <a:xfrm>
            <a:off x="4114800" y="3182112"/>
            <a:ext cx="1005840" cy="274320"/>
          </a:xfrm>
          <a:prstGeom prst="rect">
            <a:avLst/>
          </a:prstGeom>
          <a:noFill/>
        </p:spPr>
        <p:txBody>
          <a:bodyPr wrap="square">
            <a:spAutoFit/>
          </a:bodyPr>
          <a:lstStyle/>
          <a:p>
            <a:pPr algn="l">
              <a:spcAft>
                <a:spcPts val="400"/>
              </a:spcAft>
            </a:pPr>
            <a:r>
              <a:rPr sz="1250" b="0">
                <a:solidFill>
                  <a:srgbClr val="141414"/>
                </a:solidFill>
                <a:latin typeface="Arial"/>
              </a:rPr>
              <a:t>279</a:t>
            </a:r>
          </a:p>
        </p:txBody>
      </p:sp>
      <p:sp>
        <p:nvSpPr>
          <p:cNvPr id="35" name="TextBox 34"/>
          <p:cNvSpPr txBox="1"/>
          <p:nvPr/>
        </p:nvSpPr>
        <p:spPr>
          <a:xfrm>
            <a:off x="5212080" y="3182112"/>
            <a:ext cx="1371600" cy="274320"/>
          </a:xfrm>
          <a:prstGeom prst="rect">
            <a:avLst/>
          </a:prstGeom>
          <a:noFill/>
        </p:spPr>
        <p:txBody>
          <a:bodyPr wrap="square">
            <a:spAutoFit/>
          </a:bodyPr>
          <a:lstStyle/>
          <a:p>
            <a:pPr algn="l">
              <a:spcAft>
                <a:spcPts val="400"/>
              </a:spcAft>
            </a:pPr>
            <a:r>
              <a:rPr sz="1400" b="1">
                <a:solidFill>
                  <a:srgbClr val="B56B00"/>
                </a:solidFill>
                <a:latin typeface="Arial"/>
              </a:rPr>
              <a:t>65.5%</a:t>
            </a:r>
          </a:p>
        </p:txBody>
      </p:sp>
      <p:sp>
        <p:nvSpPr>
          <p:cNvPr id="36" name="TextBox 35"/>
          <p:cNvSpPr txBox="1"/>
          <p:nvPr/>
        </p:nvSpPr>
        <p:spPr>
          <a:xfrm>
            <a:off x="6675120" y="3182112"/>
            <a:ext cx="1371600" cy="274320"/>
          </a:xfrm>
          <a:prstGeom prst="rect">
            <a:avLst/>
          </a:prstGeom>
          <a:noFill/>
        </p:spPr>
        <p:txBody>
          <a:bodyPr wrap="square">
            <a:spAutoFit/>
          </a:bodyPr>
          <a:lstStyle/>
          <a:p>
            <a:pPr algn="l">
              <a:spcAft>
                <a:spcPts val="400"/>
              </a:spcAft>
            </a:pPr>
            <a:r>
              <a:rPr sz="1250" b="0">
                <a:solidFill>
                  <a:srgbClr val="141414"/>
                </a:solidFill>
                <a:latin typeface="Arial"/>
              </a:rPr>
              <a:t>74.6%</a:t>
            </a:r>
          </a:p>
        </p:txBody>
      </p:sp>
      <p:sp>
        <p:nvSpPr>
          <p:cNvPr id="37" name="TextBox 36"/>
          <p:cNvSpPr txBox="1"/>
          <p:nvPr/>
        </p:nvSpPr>
        <p:spPr>
          <a:xfrm>
            <a:off x="8138160" y="3182112"/>
            <a:ext cx="1371600" cy="274320"/>
          </a:xfrm>
          <a:prstGeom prst="rect">
            <a:avLst/>
          </a:prstGeom>
          <a:noFill/>
        </p:spPr>
        <p:txBody>
          <a:bodyPr wrap="square">
            <a:spAutoFit/>
          </a:bodyPr>
          <a:lstStyle/>
          <a:p>
            <a:pPr algn="l">
              <a:spcAft>
                <a:spcPts val="400"/>
              </a:spcAft>
            </a:pPr>
            <a:r>
              <a:rPr sz="1250" b="0">
                <a:solidFill>
                  <a:srgbClr val="141414"/>
                </a:solidFill>
                <a:latin typeface="Arial"/>
              </a:rPr>
              <a:t>19.7%</a:t>
            </a:r>
          </a:p>
        </p:txBody>
      </p:sp>
      <p:sp>
        <p:nvSpPr>
          <p:cNvPr id="38" name="TextBox 37"/>
          <p:cNvSpPr txBox="1"/>
          <p:nvPr/>
        </p:nvSpPr>
        <p:spPr>
          <a:xfrm>
            <a:off x="9601200" y="3182112"/>
            <a:ext cx="2103120" cy="384048"/>
          </a:xfrm>
          <a:prstGeom prst="rect">
            <a:avLst/>
          </a:prstGeom>
          <a:noFill/>
        </p:spPr>
        <p:txBody>
          <a:bodyPr wrap="square">
            <a:spAutoFit/>
          </a:bodyPr>
          <a:lstStyle/>
          <a:p>
            <a:pPr algn="l">
              <a:spcAft>
                <a:spcPts val="400"/>
              </a:spcAft>
            </a:pPr>
            <a:r>
              <a:rPr sz="950" b="0">
                <a:solidFill>
                  <a:srgbClr val="6B6B6B"/>
                </a:solidFill>
                <a:latin typeface="Arial"/>
              </a:rPr>
              <a:t>SohuPowerVirusTestCase</a:t>
            </a:r>
          </a:p>
        </p:txBody>
      </p:sp>
      <p:sp>
        <p:nvSpPr>
          <p:cNvPr id="39" name="TextBox 38"/>
          <p:cNvSpPr txBox="1"/>
          <p:nvPr/>
        </p:nvSpPr>
        <p:spPr>
          <a:xfrm>
            <a:off x="548640" y="3602736"/>
            <a:ext cx="2377440" cy="384048"/>
          </a:xfrm>
          <a:prstGeom prst="rect">
            <a:avLst/>
          </a:prstGeom>
          <a:noFill/>
        </p:spPr>
        <p:txBody>
          <a:bodyPr wrap="square">
            <a:spAutoFit/>
          </a:bodyPr>
          <a:lstStyle/>
          <a:p>
            <a:pPr algn="l">
              <a:spcAft>
                <a:spcPts val="400"/>
              </a:spcAft>
            </a:pPr>
            <a:r>
              <a:rPr sz="1300" b="1">
                <a:solidFill>
                  <a:srgbClr val="141414"/>
                </a:solidFill>
                <a:latin typeface="Arial"/>
              </a:rPr>
              <a:t>HTT</a:t>
            </a:r>
            <a:r>
              <a:rPr sz="950" b="0">
                <a:solidFill>
                  <a:srgbClr val="6B6B6B"/>
                </a:solidFill>
                <a:latin typeface="Arial"/>
              </a:rPr>
              <a:t>  pega3</a:t>
            </a:r>
          </a:p>
        </p:txBody>
      </p:sp>
      <p:sp>
        <p:nvSpPr>
          <p:cNvPr id="40" name="TextBox 39"/>
          <p:cNvSpPr txBox="1"/>
          <p:nvPr/>
        </p:nvSpPr>
        <p:spPr>
          <a:xfrm>
            <a:off x="3017520" y="3602736"/>
            <a:ext cx="1005840" cy="274320"/>
          </a:xfrm>
          <a:prstGeom prst="rect">
            <a:avLst/>
          </a:prstGeom>
          <a:noFill/>
        </p:spPr>
        <p:txBody>
          <a:bodyPr wrap="square">
            <a:spAutoFit/>
          </a:bodyPr>
          <a:lstStyle/>
          <a:p>
            <a:pPr algn="l">
              <a:spcAft>
                <a:spcPts val="400"/>
              </a:spcAft>
            </a:pPr>
            <a:r>
              <a:rPr sz="1250" b="0">
                <a:solidFill>
                  <a:srgbClr val="141414"/>
                </a:solidFill>
                <a:latin typeface="Arial"/>
              </a:rPr>
              <a:t>170</a:t>
            </a:r>
          </a:p>
        </p:txBody>
      </p:sp>
      <p:sp>
        <p:nvSpPr>
          <p:cNvPr id="41" name="TextBox 40"/>
          <p:cNvSpPr txBox="1"/>
          <p:nvPr/>
        </p:nvSpPr>
        <p:spPr>
          <a:xfrm>
            <a:off x="4114800" y="3602736"/>
            <a:ext cx="1005840" cy="274320"/>
          </a:xfrm>
          <a:prstGeom prst="rect">
            <a:avLst/>
          </a:prstGeom>
          <a:noFill/>
        </p:spPr>
        <p:txBody>
          <a:bodyPr wrap="square">
            <a:spAutoFit/>
          </a:bodyPr>
          <a:lstStyle/>
          <a:p>
            <a:pPr algn="l">
              <a:spcAft>
                <a:spcPts val="400"/>
              </a:spcAft>
            </a:pPr>
            <a:r>
              <a:rPr sz="1250" b="0">
                <a:solidFill>
                  <a:srgbClr val="141414"/>
                </a:solidFill>
                <a:latin typeface="Arial"/>
              </a:rPr>
              <a:t>234</a:t>
            </a:r>
          </a:p>
        </p:txBody>
      </p:sp>
      <p:sp>
        <p:nvSpPr>
          <p:cNvPr id="42" name="TextBox 41"/>
          <p:cNvSpPr txBox="1"/>
          <p:nvPr/>
        </p:nvSpPr>
        <p:spPr>
          <a:xfrm>
            <a:off x="5212080" y="3602736"/>
            <a:ext cx="1371600" cy="274320"/>
          </a:xfrm>
          <a:prstGeom prst="rect">
            <a:avLst/>
          </a:prstGeom>
          <a:noFill/>
        </p:spPr>
        <p:txBody>
          <a:bodyPr wrap="square">
            <a:spAutoFit/>
          </a:bodyPr>
          <a:lstStyle/>
          <a:p>
            <a:pPr algn="l">
              <a:spcAft>
                <a:spcPts val="400"/>
              </a:spcAft>
            </a:pPr>
            <a:r>
              <a:rPr sz="1400" b="1">
                <a:solidFill>
                  <a:srgbClr val="B3281E"/>
                </a:solidFill>
                <a:latin typeface="Arial"/>
              </a:rPr>
              <a:t>54.3%</a:t>
            </a:r>
          </a:p>
        </p:txBody>
      </p:sp>
      <p:sp>
        <p:nvSpPr>
          <p:cNvPr id="43" name="TextBox 42"/>
          <p:cNvSpPr txBox="1"/>
          <p:nvPr/>
        </p:nvSpPr>
        <p:spPr>
          <a:xfrm>
            <a:off x="6675120" y="3602736"/>
            <a:ext cx="1371600" cy="274320"/>
          </a:xfrm>
          <a:prstGeom prst="rect">
            <a:avLst/>
          </a:prstGeom>
          <a:noFill/>
        </p:spPr>
        <p:txBody>
          <a:bodyPr wrap="square">
            <a:spAutoFit/>
          </a:bodyPr>
          <a:lstStyle/>
          <a:p>
            <a:pPr algn="l">
              <a:spcAft>
                <a:spcPts val="400"/>
              </a:spcAft>
            </a:pPr>
            <a:r>
              <a:rPr sz="1250" b="0">
                <a:solidFill>
                  <a:srgbClr val="141414"/>
                </a:solidFill>
                <a:latin typeface="Arial"/>
              </a:rPr>
              <a:t>68.8%</a:t>
            </a:r>
          </a:p>
        </p:txBody>
      </p:sp>
      <p:sp>
        <p:nvSpPr>
          <p:cNvPr id="44" name="TextBox 43"/>
          <p:cNvSpPr txBox="1"/>
          <p:nvPr/>
        </p:nvSpPr>
        <p:spPr>
          <a:xfrm>
            <a:off x="8138160" y="3602736"/>
            <a:ext cx="1371600" cy="274320"/>
          </a:xfrm>
          <a:prstGeom prst="rect">
            <a:avLst/>
          </a:prstGeom>
          <a:noFill/>
        </p:spPr>
        <p:txBody>
          <a:bodyPr wrap="square">
            <a:spAutoFit/>
          </a:bodyPr>
          <a:lstStyle/>
          <a:p>
            <a:pPr algn="l">
              <a:spcAft>
                <a:spcPts val="400"/>
              </a:spcAft>
            </a:pPr>
            <a:r>
              <a:rPr sz="1250" b="0">
                <a:solidFill>
                  <a:srgbClr val="141414"/>
                </a:solidFill>
                <a:latin typeface="Arial"/>
              </a:rPr>
              <a:t>27.6%</a:t>
            </a:r>
          </a:p>
        </p:txBody>
      </p:sp>
      <p:sp>
        <p:nvSpPr>
          <p:cNvPr id="45" name="TextBox 44"/>
          <p:cNvSpPr txBox="1"/>
          <p:nvPr/>
        </p:nvSpPr>
        <p:spPr>
          <a:xfrm>
            <a:off x="9601200" y="3602736"/>
            <a:ext cx="2103120" cy="384048"/>
          </a:xfrm>
          <a:prstGeom prst="rect">
            <a:avLst/>
          </a:prstGeom>
          <a:noFill/>
        </p:spPr>
        <p:txBody>
          <a:bodyPr wrap="square">
            <a:spAutoFit/>
          </a:bodyPr>
          <a:lstStyle/>
          <a:p>
            <a:pPr algn="l">
              <a:spcAft>
                <a:spcPts val="400"/>
              </a:spcAft>
            </a:pPr>
            <a:r>
              <a:rPr sz="950" b="0">
                <a:solidFill>
                  <a:srgbClr val="6B6B6B"/>
                </a:solidFill>
                <a:latin typeface="Arial"/>
              </a:rPr>
              <a:t>SohuRdqsSweepTrainingTestCase</a:t>
            </a:r>
          </a:p>
        </p:txBody>
      </p:sp>
      <p:sp>
        <p:nvSpPr>
          <p:cNvPr id="46" name="TextBox 45"/>
          <p:cNvSpPr txBox="1"/>
          <p:nvPr/>
        </p:nvSpPr>
        <p:spPr>
          <a:xfrm>
            <a:off x="548640" y="4023360"/>
            <a:ext cx="2377440" cy="384048"/>
          </a:xfrm>
          <a:prstGeom prst="rect">
            <a:avLst/>
          </a:prstGeom>
          <a:noFill/>
        </p:spPr>
        <p:txBody>
          <a:bodyPr wrap="square">
            <a:spAutoFit/>
          </a:bodyPr>
          <a:lstStyle/>
          <a:p>
            <a:pPr algn="l">
              <a:spcAft>
                <a:spcPts val="400"/>
              </a:spcAft>
            </a:pPr>
            <a:r>
              <a:rPr sz="1300" b="1">
                <a:solidFill>
                  <a:srgbClr val="6B6B6B"/>
                </a:solidFill>
                <a:latin typeface="Arial"/>
              </a:rPr>
              <a:t>L10 FAT</a:t>
            </a:r>
            <a:r>
              <a:rPr sz="950" b="0">
                <a:solidFill>
                  <a:srgbClr val="6B6B6B"/>
                </a:solidFill>
                <a:latin typeface="Arial"/>
              </a:rPr>
              <a:t>  pega4</a:t>
            </a:r>
          </a:p>
        </p:txBody>
      </p:sp>
      <p:sp>
        <p:nvSpPr>
          <p:cNvPr id="47" name="TextBox 46"/>
          <p:cNvSpPr txBox="1"/>
          <p:nvPr/>
        </p:nvSpPr>
        <p:spPr>
          <a:xfrm>
            <a:off x="3017520" y="4023360"/>
            <a:ext cx="1005840" cy="274320"/>
          </a:xfrm>
          <a:prstGeom prst="rect">
            <a:avLst/>
          </a:prstGeom>
          <a:noFill/>
        </p:spPr>
        <p:txBody>
          <a:bodyPr wrap="square">
            <a:spAutoFit/>
          </a:bodyPr>
          <a:lstStyle/>
          <a:p>
            <a:pPr algn="l">
              <a:spcAft>
                <a:spcPts val="400"/>
              </a:spcAft>
            </a:pPr>
            <a:r>
              <a:rPr sz="1250" b="0">
                <a:solidFill>
                  <a:srgbClr val="6B6B6B"/>
                </a:solidFill>
                <a:latin typeface="Arial"/>
              </a:rPr>
              <a:t>2</a:t>
            </a:r>
          </a:p>
        </p:txBody>
      </p:sp>
      <p:sp>
        <p:nvSpPr>
          <p:cNvPr id="48" name="TextBox 47"/>
          <p:cNvSpPr txBox="1"/>
          <p:nvPr/>
        </p:nvSpPr>
        <p:spPr>
          <a:xfrm>
            <a:off x="4114800" y="4023360"/>
            <a:ext cx="1005840" cy="274320"/>
          </a:xfrm>
          <a:prstGeom prst="rect">
            <a:avLst/>
          </a:prstGeom>
          <a:noFill/>
        </p:spPr>
        <p:txBody>
          <a:bodyPr wrap="square">
            <a:spAutoFit/>
          </a:bodyPr>
          <a:lstStyle/>
          <a:p>
            <a:pPr algn="l">
              <a:spcAft>
                <a:spcPts val="400"/>
              </a:spcAft>
            </a:pPr>
            <a:r>
              <a:rPr sz="1250" b="0">
                <a:solidFill>
                  <a:srgbClr val="6B6B6B"/>
                </a:solidFill>
                <a:latin typeface="Arial"/>
              </a:rPr>
              <a:t>15</a:t>
            </a:r>
          </a:p>
        </p:txBody>
      </p:sp>
      <p:sp>
        <p:nvSpPr>
          <p:cNvPr id="49" name="TextBox 48"/>
          <p:cNvSpPr txBox="1"/>
          <p:nvPr/>
        </p:nvSpPr>
        <p:spPr>
          <a:xfrm>
            <a:off x="5212080" y="4023360"/>
            <a:ext cx="1371600" cy="274320"/>
          </a:xfrm>
          <a:prstGeom prst="rect">
            <a:avLst/>
          </a:prstGeom>
          <a:noFill/>
        </p:spPr>
        <p:txBody>
          <a:bodyPr wrap="square">
            <a:spAutoFit/>
          </a:bodyPr>
          <a:lstStyle/>
          <a:p>
            <a:pPr algn="l">
              <a:spcAft>
                <a:spcPts val="400"/>
              </a:spcAft>
            </a:pPr>
            <a:r>
              <a:rPr sz="1400" b="1">
                <a:solidFill>
                  <a:srgbClr val="6B6B6B"/>
                </a:solidFill>
                <a:latin typeface="Arial"/>
              </a:rPr>
              <a:t>0.0%</a:t>
            </a:r>
          </a:p>
        </p:txBody>
      </p:sp>
      <p:sp>
        <p:nvSpPr>
          <p:cNvPr id="50" name="TextBox 49"/>
          <p:cNvSpPr txBox="1"/>
          <p:nvPr/>
        </p:nvSpPr>
        <p:spPr>
          <a:xfrm>
            <a:off x="6675120" y="4023360"/>
            <a:ext cx="1371600" cy="274320"/>
          </a:xfrm>
          <a:prstGeom prst="rect">
            <a:avLst/>
          </a:prstGeom>
          <a:noFill/>
        </p:spPr>
        <p:txBody>
          <a:bodyPr wrap="square">
            <a:spAutoFit/>
          </a:bodyPr>
          <a:lstStyle/>
          <a:p>
            <a:pPr algn="l">
              <a:spcAft>
                <a:spcPts val="400"/>
              </a:spcAft>
            </a:pPr>
            <a:r>
              <a:rPr sz="1250" b="0">
                <a:solidFill>
                  <a:srgbClr val="6B6B6B"/>
                </a:solidFill>
                <a:latin typeface="Arial"/>
              </a:rPr>
              <a:t>50.0%</a:t>
            </a:r>
          </a:p>
        </p:txBody>
      </p:sp>
      <p:sp>
        <p:nvSpPr>
          <p:cNvPr id="51" name="TextBox 50"/>
          <p:cNvSpPr txBox="1"/>
          <p:nvPr/>
        </p:nvSpPr>
        <p:spPr>
          <a:xfrm>
            <a:off x="8138160" y="4023360"/>
            <a:ext cx="1371600" cy="274320"/>
          </a:xfrm>
          <a:prstGeom prst="rect">
            <a:avLst/>
          </a:prstGeom>
          <a:noFill/>
        </p:spPr>
        <p:txBody>
          <a:bodyPr wrap="square">
            <a:spAutoFit/>
          </a:bodyPr>
          <a:lstStyle/>
          <a:p>
            <a:pPr algn="l">
              <a:spcAft>
                <a:spcPts val="400"/>
              </a:spcAft>
            </a:pPr>
            <a:r>
              <a:rPr sz="1250" b="0">
                <a:solidFill>
                  <a:srgbClr val="6B6B6B"/>
                </a:solidFill>
                <a:latin typeface="Arial"/>
              </a:rPr>
              <a:t>100.0%</a:t>
            </a:r>
          </a:p>
        </p:txBody>
      </p:sp>
      <p:sp>
        <p:nvSpPr>
          <p:cNvPr id="52" name="TextBox 51"/>
          <p:cNvSpPr txBox="1"/>
          <p:nvPr/>
        </p:nvSpPr>
        <p:spPr>
          <a:xfrm>
            <a:off x="9601200" y="4023360"/>
            <a:ext cx="2103120" cy="384048"/>
          </a:xfrm>
          <a:prstGeom prst="rect">
            <a:avLst/>
          </a:prstGeom>
          <a:noFill/>
        </p:spPr>
        <p:txBody>
          <a:bodyPr wrap="square">
            <a:spAutoFit/>
          </a:bodyPr>
          <a:lstStyle/>
          <a:p>
            <a:pPr algn="l">
              <a:spcAft>
                <a:spcPts val="400"/>
              </a:spcAft>
            </a:pPr>
            <a:r>
              <a:rPr sz="950" b="0">
                <a:solidFill>
                  <a:srgbClr val="6B6B6B"/>
                </a:solidFill>
                <a:latin typeface="Arial"/>
              </a:rPr>
              <a:t>SohuHostRebootTestCase</a:t>
            </a:r>
          </a:p>
        </p:txBody>
      </p:sp>
      <p:sp>
        <p:nvSpPr>
          <p:cNvPr id="53" name="TextBox 52"/>
          <p:cNvSpPr txBox="1"/>
          <p:nvPr/>
        </p:nvSpPr>
        <p:spPr>
          <a:xfrm>
            <a:off x="548640" y="4443984"/>
            <a:ext cx="2377440" cy="384048"/>
          </a:xfrm>
          <a:prstGeom prst="rect">
            <a:avLst/>
          </a:prstGeom>
          <a:noFill/>
        </p:spPr>
        <p:txBody>
          <a:bodyPr wrap="square">
            <a:spAutoFit/>
          </a:bodyPr>
          <a:lstStyle/>
          <a:p>
            <a:pPr algn="l">
              <a:spcAft>
                <a:spcPts val="400"/>
              </a:spcAft>
            </a:pPr>
            <a:r>
              <a:rPr sz="1300" b="1">
                <a:solidFill>
                  <a:srgbClr val="6B6B6B"/>
                </a:solidFill>
                <a:latin typeface="Arial"/>
              </a:rPr>
              <a:t>L10 SFT</a:t>
            </a:r>
            <a:r>
              <a:rPr sz="950" b="0">
                <a:solidFill>
                  <a:srgbClr val="6B6B6B"/>
                </a:solidFill>
                <a:latin typeface="Arial"/>
              </a:rPr>
              <a:t>  pega4</a:t>
            </a:r>
          </a:p>
        </p:txBody>
      </p:sp>
      <p:sp>
        <p:nvSpPr>
          <p:cNvPr id="54" name="TextBox 53"/>
          <p:cNvSpPr txBox="1"/>
          <p:nvPr/>
        </p:nvSpPr>
        <p:spPr>
          <a:xfrm>
            <a:off x="3017520" y="4443984"/>
            <a:ext cx="1005840" cy="274320"/>
          </a:xfrm>
          <a:prstGeom prst="rect">
            <a:avLst/>
          </a:prstGeom>
          <a:noFill/>
        </p:spPr>
        <p:txBody>
          <a:bodyPr wrap="square">
            <a:spAutoFit/>
          </a:bodyPr>
          <a:lstStyle/>
          <a:p>
            <a:pPr algn="l">
              <a:spcAft>
                <a:spcPts val="400"/>
              </a:spcAft>
            </a:pPr>
            <a:r>
              <a:rPr sz="1250" b="0">
                <a:solidFill>
                  <a:srgbClr val="6B6B6B"/>
                </a:solidFill>
                <a:latin typeface="Arial"/>
              </a:rPr>
              <a:t>1</a:t>
            </a:r>
          </a:p>
        </p:txBody>
      </p:sp>
      <p:sp>
        <p:nvSpPr>
          <p:cNvPr id="55" name="TextBox 54"/>
          <p:cNvSpPr txBox="1"/>
          <p:nvPr/>
        </p:nvSpPr>
        <p:spPr>
          <a:xfrm>
            <a:off x="4114800" y="4443984"/>
            <a:ext cx="1005840" cy="274320"/>
          </a:xfrm>
          <a:prstGeom prst="rect">
            <a:avLst/>
          </a:prstGeom>
          <a:noFill/>
        </p:spPr>
        <p:txBody>
          <a:bodyPr wrap="square">
            <a:spAutoFit/>
          </a:bodyPr>
          <a:lstStyle/>
          <a:p>
            <a:pPr algn="l">
              <a:spcAft>
                <a:spcPts val="400"/>
              </a:spcAft>
            </a:pPr>
            <a:r>
              <a:rPr sz="1250" b="0">
                <a:solidFill>
                  <a:srgbClr val="6B6B6B"/>
                </a:solidFill>
                <a:latin typeface="Arial"/>
              </a:rPr>
              <a:t>6</a:t>
            </a:r>
          </a:p>
        </p:txBody>
      </p:sp>
      <p:sp>
        <p:nvSpPr>
          <p:cNvPr id="56" name="TextBox 55"/>
          <p:cNvSpPr txBox="1"/>
          <p:nvPr/>
        </p:nvSpPr>
        <p:spPr>
          <a:xfrm>
            <a:off x="5212080" y="4443984"/>
            <a:ext cx="1371600" cy="274320"/>
          </a:xfrm>
          <a:prstGeom prst="rect">
            <a:avLst/>
          </a:prstGeom>
          <a:noFill/>
        </p:spPr>
        <p:txBody>
          <a:bodyPr wrap="square">
            <a:spAutoFit/>
          </a:bodyPr>
          <a:lstStyle/>
          <a:p>
            <a:pPr algn="l">
              <a:spcAft>
                <a:spcPts val="400"/>
              </a:spcAft>
            </a:pPr>
            <a:r>
              <a:rPr sz="1400" b="1">
                <a:solidFill>
                  <a:srgbClr val="6B6B6B"/>
                </a:solidFill>
                <a:latin typeface="Arial"/>
              </a:rPr>
              <a:t>—</a:t>
            </a:r>
          </a:p>
        </p:txBody>
      </p:sp>
      <p:sp>
        <p:nvSpPr>
          <p:cNvPr id="57" name="TextBox 56"/>
          <p:cNvSpPr txBox="1"/>
          <p:nvPr/>
        </p:nvSpPr>
        <p:spPr>
          <a:xfrm>
            <a:off x="6675120" y="4443984"/>
            <a:ext cx="1371600" cy="274320"/>
          </a:xfrm>
          <a:prstGeom prst="rect">
            <a:avLst/>
          </a:prstGeom>
          <a:noFill/>
        </p:spPr>
        <p:txBody>
          <a:bodyPr wrap="square">
            <a:spAutoFit/>
          </a:bodyPr>
          <a:lstStyle/>
          <a:p>
            <a:pPr algn="l">
              <a:spcAft>
                <a:spcPts val="400"/>
              </a:spcAft>
            </a:pPr>
            <a:r>
              <a:rPr sz="1250" b="0">
                <a:solidFill>
                  <a:srgbClr val="6B6B6B"/>
                </a:solidFill>
                <a:latin typeface="Arial"/>
              </a:rPr>
              <a:t>0.0%</a:t>
            </a:r>
          </a:p>
        </p:txBody>
      </p:sp>
      <p:sp>
        <p:nvSpPr>
          <p:cNvPr id="58" name="TextBox 57"/>
          <p:cNvSpPr txBox="1"/>
          <p:nvPr/>
        </p:nvSpPr>
        <p:spPr>
          <a:xfrm>
            <a:off x="8138160" y="4443984"/>
            <a:ext cx="1371600" cy="274320"/>
          </a:xfrm>
          <a:prstGeom prst="rect">
            <a:avLst/>
          </a:prstGeom>
          <a:noFill/>
        </p:spPr>
        <p:txBody>
          <a:bodyPr wrap="square">
            <a:spAutoFit/>
          </a:bodyPr>
          <a:lstStyle/>
          <a:p>
            <a:pPr algn="l">
              <a:spcAft>
                <a:spcPts val="400"/>
              </a:spcAft>
            </a:pPr>
            <a:r>
              <a:rPr sz="1250" b="0">
                <a:solidFill>
                  <a:srgbClr val="6B6B6B"/>
                </a:solidFill>
                <a:latin typeface="Arial"/>
              </a:rPr>
              <a:t>100.0%</a:t>
            </a:r>
          </a:p>
        </p:txBody>
      </p:sp>
      <p:sp>
        <p:nvSpPr>
          <p:cNvPr id="59" name="TextBox 58"/>
          <p:cNvSpPr txBox="1"/>
          <p:nvPr/>
        </p:nvSpPr>
        <p:spPr>
          <a:xfrm>
            <a:off x="9601200" y="4443984"/>
            <a:ext cx="2103120" cy="384048"/>
          </a:xfrm>
          <a:prstGeom prst="rect">
            <a:avLst/>
          </a:prstGeom>
          <a:noFill/>
        </p:spPr>
        <p:txBody>
          <a:bodyPr wrap="square">
            <a:spAutoFit/>
          </a:bodyPr>
          <a:lstStyle/>
          <a:p>
            <a:pPr algn="l">
              <a:spcAft>
                <a:spcPts val="400"/>
              </a:spcAft>
            </a:pPr>
            <a:r>
              <a:rPr sz="950" b="0">
                <a:solidFill>
                  <a:srgbClr val="6B6B6B"/>
                </a:solidFill>
                <a:latin typeface="Arial"/>
              </a:rPr>
              <a:t>SohuLlama70bHp8ForwardIteratedTestCase</a:t>
            </a:r>
          </a:p>
        </p:txBody>
      </p:sp>
      <p:sp>
        <p:nvSpPr>
          <p:cNvPr id="60" name="TextBox 59"/>
          <p:cNvSpPr txBox="1"/>
          <p:nvPr/>
        </p:nvSpPr>
        <p:spPr>
          <a:xfrm>
            <a:off x="548640" y="4864608"/>
            <a:ext cx="2377440" cy="384048"/>
          </a:xfrm>
          <a:prstGeom prst="rect">
            <a:avLst/>
          </a:prstGeom>
          <a:noFill/>
        </p:spPr>
        <p:txBody>
          <a:bodyPr wrap="square">
            <a:spAutoFit/>
          </a:bodyPr>
          <a:lstStyle/>
          <a:p>
            <a:pPr algn="l">
              <a:spcAft>
                <a:spcPts val="400"/>
              </a:spcAft>
            </a:pPr>
            <a:r>
              <a:rPr sz="1300" b="1">
                <a:solidFill>
                  <a:srgbClr val="6B6B6B"/>
                </a:solidFill>
                <a:latin typeface="Arial"/>
              </a:rPr>
              <a:t>L10 RIN</a:t>
            </a:r>
            <a:r>
              <a:rPr sz="950" b="0">
                <a:solidFill>
                  <a:srgbClr val="6B6B6B"/>
                </a:solidFill>
                <a:latin typeface="Arial"/>
              </a:rPr>
              <a:t>  pega4</a:t>
            </a:r>
          </a:p>
        </p:txBody>
      </p:sp>
      <p:sp>
        <p:nvSpPr>
          <p:cNvPr id="61" name="TextBox 60"/>
          <p:cNvSpPr txBox="1"/>
          <p:nvPr/>
        </p:nvSpPr>
        <p:spPr>
          <a:xfrm>
            <a:off x="3017520" y="4864608"/>
            <a:ext cx="1005840" cy="274320"/>
          </a:xfrm>
          <a:prstGeom prst="rect">
            <a:avLst/>
          </a:prstGeom>
          <a:noFill/>
        </p:spPr>
        <p:txBody>
          <a:bodyPr wrap="square">
            <a:spAutoFit/>
          </a:bodyPr>
          <a:lstStyle/>
          <a:p>
            <a:pPr algn="l">
              <a:spcAft>
                <a:spcPts val="400"/>
              </a:spcAft>
            </a:pPr>
            <a:r>
              <a:rPr sz="1250" b="0">
                <a:solidFill>
                  <a:srgbClr val="6B6B6B"/>
                </a:solidFill>
                <a:latin typeface="Arial"/>
              </a:rPr>
              <a:t>1</a:t>
            </a:r>
          </a:p>
        </p:txBody>
      </p:sp>
      <p:sp>
        <p:nvSpPr>
          <p:cNvPr id="62" name="TextBox 61"/>
          <p:cNvSpPr txBox="1"/>
          <p:nvPr/>
        </p:nvSpPr>
        <p:spPr>
          <a:xfrm>
            <a:off x="4114800" y="4864608"/>
            <a:ext cx="1005840" cy="274320"/>
          </a:xfrm>
          <a:prstGeom prst="rect">
            <a:avLst/>
          </a:prstGeom>
          <a:noFill/>
        </p:spPr>
        <p:txBody>
          <a:bodyPr wrap="square">
            <a:spAutoFit/>
          </a:bodyPr>
          <a:lstStyle/>
          <a:p>
            <a:pPr algn="l">
              <a:spcAft>
                <a:spcPts val="400"/>
              </a:spcAft>
            </a:pPr>
            <a:r>
              <a:rPr sz="1250" b="0">
                <a:solidFill>
                  <a:srgbClr val="6B6B6B"/>
                </a:solidFill>
                <a:latin typeface="Arial"/>
              </a:rPr>
              <a:t>4</a:t>
            </a:r>
          </a:p>
        </p:txBody>
      </p:sp>
      <p:sp>
        <p:nvSpPr>
          <p:cNvPr id="63" name="TextBox 62"/>
          <p:cNvSpPr txBox="1"/>
          <p:nvPr/>
        </p:nvSpPr>
        <p:spPr>
          <a:xfrm>
            <a:off x="5212080" y="4864608"/>
            <a:ext cx="1371600" cy="274320"/>
          </a:xfrm>
          <a:prstGeom prst="rect">
            <a:avLst/>
          </a:prstGeom>
          <a:noFill/>
        </p:spPr>
        <p:txBody>
          <a:bodyPr wrap="square">
            <a:spAutoFit/>
          </a:bodyPr>
          <a:lstStyle/>
          <a:p>
            <a:pPr algn="l">
              <a:spcAft>
                <a:spcPts val="400"/>
              </a:spcAft>
            </a:pPr>
            <a:r>
              <a:rPr sz="1400" b="1">
                <a:solidFill>
                  <a:srgbClr val="6B6B6B"/>
                </a:solidFill>
                <a:latin typeface="Arial"/>
              </a:rPr>
              <a:t>100.0%</a:t>
            </a:r>
          </a:p>
        </p:txBody>
      </p:sp>
      <p:sp>
        <p:nvSpPr>
          <p:cNvPr id="64" name="TextBox 63"/>
          <p:cNvSpPr txBox="1"/>
          <p:nvPr/>
        </p:nvSpPr>
        <p:spPr>
          <a:xfrm>
            <a:off x="6675120" y="4864608"/>
            <a:ext cx="1371600" cy="274320"/>
          </a:xfrm>
          <a:prstGeom prst="rect">
            <a:avLst/>
          </a:prstGeom>
          <a:noFill/>
        </p:spPr>
        <p:txBody>
          <a:bodyPr wrap="square">
            <a:spAutoFit/>
          </a:bodyPr>
          <a:lstStyle/>
          <a:p>
            <a:pPr algn="l">
              <a:spcAft>
                <a:spcPts val="400"/>
              </a:spcAft>
            </a:pPr>
            <a:r>
              <a:rPr sz="1250" b="0">
                <a:solidFill>
                  <a:srgbClr val="6B6B6B"/>
                </a:solidFill>
                <a:latin typeface="Arial"/>
              </a:rPr>
              <a:t>100.0%</a:t>
            </a:r>
          </a:p>
        </p:txBody>
      </p:sp>
      <p:sp>
        <p:nvSpPr>
          <p:cNvPr id="65" name="TextBox 64"/>
          <p:cNvSpPr txBox="1"/>
          <p:nvPr/>
        </p:nvSpPr>
        <p:spPr>
          <a:xfrm>
            <a:off x="8138160" y="4864608"/>
            <a:ext cx="1371600" cy="274320"/>
          </a:xfrm>
          <a:prstGeom prst="rect">
            <a:avLst/>
          </a:prstGeom>
          <a:noFill/>
        </p:spPr>
        <p:txBody>
          <a:bodyPr wrap="square">
            <a:spAutoFit/>
          </a:bodyPr>
          <a:lstStyle/>
          <a:p>
            <a:pPr algn="l">
              <a:spcAft>
                <a:spcPts val="400"/>
              </a:spcAft>
            </a:pPr>
            <a:r>
              <a:rPr sz="1250" b="0">
                <a:solidFill>
                  <a:srgbClr val="6B6B6B"/>
                </a:solidFill>
                <a:latin typeface="Arial"/>
              </a:rPr>
              <a:t>100.0%</a:t>
            </a:r>
          </a:p>
        </p:txBody>
      </p:sp>
      <p:sp>
        <p:nvSpPr>
          <p:cNvPr id="66" name="TextBox 65"/>
          <p:cNvSpPr txBox="1"/>
          <p:nvPr/>
        </p:nvSpPr>
        <p:spPr>
          <a:xfrm>
            <a:off x="9601200" y="4864608"/>
            <a:ext cx="2103120" cy="384048"/>
          </a:xfrm>
          <a:prstGeom prst="rect">
            <a:avLst/>
          </a:prstGeom>
          <a:noFill/>
        </p:spPr>
        <p:txBody>
          <a:bodyPr wrap="square">
            <a:spAutoFit/>
          </a:bodyPr>
          <a:lstStyle/>
          <a:p>
            <a:pPr algn="l">
              <a:spcAft>
                <a:spcPts val="400"/>
              </a:spcAft>
            </a:pPr>
            <a:r>
              <a:rPr sz="950" b="0">
                <a:solidFill>
                  <a:srgbClr val="6B6B6B"/>
                </a:solidFill>
                <a:latin typeface="Arial"/>
              </a:rPr>
              <a:t>RunInStress</a:t>
            </a:r>
          </a:p>
        </p:txBody>
      </p:sp>
      <p:sp>
        <p:nvSpPr>
          <p:cNvPr id="67" name="TextBox 66"/>
          <p:cNvSpPr txBox="1"/>
          <p:nvPr/>
        </p:nvSpPr>
        <p:spPr>
          <a:xfrm>
            <a:off x="548640" y="5285232"/>
            <a:ext cx="2377440" cy="384048"/>
          </a:xfrm>
          <a:prstGeom prst="rect">
            <a:avLst/>
          </a:prstGeom>
          <a:noFill/>
        </p:spPr>
        <p:txBody>
          <a:bodyPr wrap="square">
            <a:spAutoFit/>
          </a:bodyPr>
          <a:lstStyle/>
          <a:p>
            <a:pPr algn="l">
              <a:spcAft>
                <a:spcPts val="400"/>
              </a:spcAft>
            </a:pPr>
            <a:r>
              <a:rPr sz="1300" b="1">
                <a:solidFill>
                  <a:srgbClr val="6B6B6B"/>
                </a:solidFill>
                <a:latin typeface="Arial"/>
              </a:rPr>
              <a:t>L10 2U</a:t>
            </a:r>
            <a:r>
              <a:rPr sz="950" b="0">
                <a:solidFill>
                  <a:srgbClr val="6B6B6B"/>
                </a:solidFill>
                <a:latin typeface="Arial"/>
              </a:rPr>
              <a:t>  pega4</a:t>
            </a:r>
          </a:p>
        </p:txBody>
      </p:sp>
      <p:sp>
        <p:nvSpPr>
          <p:cNvPr id="68" name="TextBox 67"/>
          <p:cNvSpPr txBox="1"/>
          <p:nvPr/>
        </p:nvSpPr>
        <p:spPr>
          <a:xfrm>
            <a:off x="3017520" y="5285232"/>
            <a:ext cx="1005840" cy="274320"/>
          </a:xfrm>
          <a:prstGeom prst="rect">
            <a:avLst/>
          </a:prstGeom>
          <a:noFill/>
        </p:spPr>
        <p:txBody>
          <a:bodyPr wrap="square">
            <a:spAutoFit/>
          </a:bodyPr>
          <a:lstStyle/>
          <a:p>
            <a:pPr algn="l">
              <a:spcAft>
                <a:spcPts val="400"/>
              </a:spcAft>
            </a:pPr>
            <a:r>
              <a:rPr sz="1250" b="0">
                <a:solidFill>
                  <a:srgbClr val="6B6B6B"/>
                </a:solidFill>
                <a:latin typeface="Arial"/>
              </a:rPr>
              <a:t>3</a:t>
            </a:r>
          </a:p>
        </p:txBody>
      </p:sp>
      <p:sp>
        <p:nvSpPr>
          <p:cNvPr id="69" name="TextBox 68"/>
          <p:cNvSpPr txBox="1"/>
          <p:nvPr/>
        </p:nvSpPr>
        <p:spPr>
          <a:xfrm>
            <a:off x="4114800" y="5285232"/>
            <a:ext cx="1005840" cy="274320"/>
          </a:xfrm>
          <a:prstGeom prst="rect">
            <a:avLst/>
          </a:prstGeom>
          <a:noFill/>
        </p:spPr>
        <p:txBody>
          <a:bodyPr wrap="square">
            <a:spAutoFit/>
          </a:bodyPr>
          <a:lstStyle/>
          <a:p>
            <a:pPr algn="l">
              <a:spcAft>
                <a:spcPts val="400"/>
              </a:spcAft>
            </a:pPr>
            <a:r>
              <a:rPr sz="1250" b="0">
                <a:solidFill>
                  <a:srgbClr val="6B6B6B"/>
                </a:solidFill>
                <a:latin typeface="Arial"/>
              </a:rPr>
              <a:t>19</a:t>
            </a:r>
          </a:p>
        </p:txBody>
      </p:sp>
      <p:sp>
        <p:nvSpPr>
          <p:cNvPr id="70" name="TextBox 69"/>
          <p:cNvSpPr txBox="1"/>
          <p:nvPr/>
        </p:nvSpPr>
        <p:spPr>
          <a:xfrm>
            <a:off x="5212080" y="5285232"/>
            <a:ext cx="1371600" cy="274320"/>
          </a:xfrm>
          <a:prstGeom prst="rect">
            <a:avLst/>
          </a:prstGeom>
          <a:noFill/>
        </p:spPr>
        <p:txBody>
          <a:bodyPr wrap="square">
            <a:spAutoFit/>
          </a:bodyPr>
          <a:lstStyle/>
          <a:p>
            <a:pPr algn="l">
              <a:spcAft>
                <a:spcPts val="400"/>
              </a:spcAft>
            </a:pPr>
            <a:r>
              <a:rPr sz="1400" b="1">
                <a:solidFill>
                  <a:srgbClr val="6B6B6B"/>
                </a:solidFill>
                <a:latin typeface="Arial"/>
              </a:rPr>
              <a:t>0.0%</a:t>
            </a:r>
          </a:p>
        </p:txBody>
      </p:sp>
      <p:sp>
        <p:nvSpPr>
          <p:cNvPr id="71" name="TextBox 70"/>
          <p:cNvSpPr txBox="1"/>
          <p:nvPr/>
        </p:nvSpPr>
        <p:spPr>
          <a:xfrm>
            <a:off x="6675120" y="5285232"/>
            <a:ext cx="1371600" cy="274320"/>
          </a:xfrm>
          <a:prstGeom prst="rect">
            <a:avLst/>
          </a:prstGeom>
          <a:noFill/>
        </p:spPr>
        <p:txBody>
          <a:bodyPr wrap="square">
            <a:spAutoFit/>
          </a:bodyPr>
          <a:lstStyle/>
          <a:p>
            <a:pPr algn="l">
              <a:spcAft>
                <a:spcPts val="400"/>
              </a:spcAft>
            </a:pPr>
            <a:r>
              <a:rPr sz="1250" b="0">
                <a:solidFill>
                  <a:srgbClr val="6B6B6B"/>
                </a:solidFill>
                <a:latin typeface="Arial"/>
              </a:rPr>
              <a:t>33.3%</a:t>
            </a:r>
          </a:p>
        </p:txBody>
      </p:sp>
      <p:sp>
        <p:nvSpPr>
          <p:cNvPr id="72" name="TextBox 71"/>
          <p:cNvSpPr txBox="1"/>
          <p:nvPr/>
        </p:nvSpPr>
        <p:spPr>
          <a:xfrm>
            <a:off x="8138160" y="5285232"/>
            <a:ext cx="1371600" cy="274320"/>
          </a:xfrm>
          <a:prstGeom prst="rect">
            <a:avLst/>
          </a:prstGeom>
          <a:noFill/>
        </p:spPr>
        <p:txBody>
          <a:bodyPr wrap="square">
            <a:spAutoFit/>
          </a:bodyPr>
          <a:lstStyle/>
          <a:p>
            <a:pPr algn="l">
              <a:spcAft>
                <a:spcPts val="400"/>
              </a:spcAft>
            </a:pPr>
            <a:r>
              <a:rPr sz="1250" b="0">
                <a:solidFill>
                  <a:srgbClr val="6B6B6B"/>
                </a:solidFill>
                <a:latin typeface="Arial"/>
              </a:rPr>
              <a:t>66.7%</a:t>
            </a:r>
          </a:p>
        </p:txBody>
      </p:sp>
      <p:sp>
        <p:nvSpPr>
          <p:cNvPr id="73" name="TextBox 72"/>
          <p:cNvSpPr txBox="1"/>
          <p:nvPr/>
        </p:nvSpPr>
        <p:spPr>
          <a:xfrm>
            <a:off x="9601200" y="5285232"/>
            <a:ext cx="2103120" cy="384048"/>
          </a:xfrm>
          <a:prstGeom prst="rect">
            <a:avLst/>
          </a:prstGeom>
          <a:noFill/>
        </p:spPr>
        <p:txBody>
          <a:bodyPr wrap="square">
            <a:spAutoFit/>
          </a:bodyPr>
          <a:lstStyle/>
          <a:p>
            <a:pPr algn="l">
              <a:spcAft>
                <a:spcPts val="400"/>
              </a:spcAft>
            </a:pPr>
            <a:r>
              <a:rPr sz="950" b="0">
                <a:solidFill>
                  <a:srgbClr val="6B6B6B"/>
                </a:solidFill>
                <a:latin typeface="Arial"/>
              </a:rPr>
              <a:t>BmcCheck</a:t>
            </a:r>
          </a:p>
        </p:txBody>
      </p:sp>
      <p:sp>
        <p:nvSpPr>
          <p:cNvPr id="74" name="TextBox 73"/>
          <p:cNvSpPr txBox="1"/>
          <p:nvPr/>
        </p:nvSpPr>
        <p:spPr>
          <a:xfrm>
            <a:off x="548640" y="5705856"/>
            <a:ext cx="2377440" cy="384048"/>
          </a:xfrm>
          <a:prstGeom prst="rect">
            <a:avLst/>
          </a:prstGeom>
          <a:noFill/>
        </p:spPr>
        <p:txBody>
          <a:bodyPr wrap="square">
            <a:spAutoFit/>
          </a:bodyPr>
          <a:lstStyle/>
          <a:p>
            <a:pPr algn="l">
              <a:spcAft>
                <a:spcPts val="400"/>
              </a:spcAft>
            </a:pPr>
            <a:r>
              <a:rPr sz="1300" b="1">
                <a:solidFill>
                  <a:srgbClr val="6B6B6B"/>
                </a:solidFill>
                <a:latin typeface="Arial"/>
              </a:rPr>
              <a:t>L11 Test</a:t>
            </a:r>
            <a:r>
              <a:rPr sz="950" b="0">
                <a:solidFill>
                  <a:srgbClr val="6B6B6B"/>
                </a:solidFill>
                <a:latin typeface="Arial"/>
              </a:rPr>
              <a:t>  pega5</a:t>
            </a:r>
          </a:p>
        </p:txBody>
      </p:sp>
      <p:sp>
        <p:nvSpPr>
          <p:cNvPr id="75" name="TextBox 74"/>
          <p:cNvSpPr txBox="1"/>
          <p:nvPr/>
        </p:nvSpPr>
        <p:spPr>
          <a:xfrm>
            <a:off x="3017520" y="5705856"/>
            <a:ext cx="1005840" cy="274320"/>
          </a:xfrm>
          <a:prstGeom prst="rect">
            <a:avLst/>
          </a:prstGeom>
          <a:noFill/>
        </p:spPr>
        <p:txBody>
          <a:bodyPr wrap="square">
            <a:spAutoFit/>
          </a:bodyPr>
          <a:lstStyle/>
          <a:p>
            <a:pPr algn="l">
              <a:spcAft>
                <a:spcPts val="400"/>
              </a:spcAft>
            </a:pPr>
            <a:r>
              <a:rPr sz="1250" b="0">
                <a:solidFill>
                  <a:srgbClr val="6B6B6B"/>
                </a:solidFill>
                <a:latin typeface="Arial"/>
              </a:rPr>
              <a:t>2</a:t>
            </a:r>
          </a:p>
        </p:txBody>
      </p:sp>
      <p:sp>
        <p:nvSpPr>
          <p:cNvPr id="76" name="TextBox 75"/>
          <p:cNvSpPr txBox="1"/>
          <p:nvPr/>
        </p:nvSpPr>
        <p:spPr>
          <a:xfrm>
            <a:off x="4114800" y="5705856"/>
            <a:ext cx="1005840" cy="274320"/>
          </a:xfrm>
          <a:prstGeom prst="rect">
            <a:avLst/>
          </a:prstGeom>
          <a:noFill/>
        </p:spPr>
        <p:txBody>
          <a:bodyPr wrap="square">
            <a:spAutoFit/>
          </a:bodyPr>
          <a:lstStyle/>
          <a:p>
            <a:pPr algn="l">
              <a:spcAft>
                <a:spcPts val="400"/>
              </a:spcAft>
            </a:pPr>
            <a:r>
              <a:rPr sz="1250" b="0">
                <a:solidFill>
                  <a:srgbClr val="6B6B6B"/>
                </a:solidFill>
                <a:latin typeface="Arial"/>
              </a:rPr>
              <a:t>16</a:t>
            </a:r>
          </a:p>
        </p:txBody>
      </p:sp>
      <p:sp>
        <p:nvSpPr>
          <p:cNvPr id="77" name="TextBox 76"/>
          <p:cNvSpPr txBox="1"/>
          <p:nvPr/>
        </p:nvSpPr>
        <p:spPr>
          <a:xfrm>
            <a:off x="5212080" y="5705856"/>
            <a:ext cx="1371600" cy="274320"/>
          </a:xfrm>
          <a:prstGeom prst="rect">
            <a:avLst/>
          </a:prstGeom>
          <a:noFill/>
        </p:spPr>
        <p:txBody>
          <a:bodyPr wrap="square">
            <a:spAutoFit/>
          </a:bodyPr>
          <a:lstStyle/>
          <a:p>
            <a:pPr algn="l">
              <a:spcAft>
                <a:spcPts val="400"/>
              </a:spcAft>
            </a:pPr>
            <a:r>
              <a:rPr sz="1400" b="1">
                <a:solidFill>
                  <a:srgbClr val="6B6B6B"/>
                </a:solidFill>
                <a:latin typeface="Arial"/>
              </a:rPr>
              <a:t>0.0%</a:t>
            </a:r>
          </a:p>
        </p:txBody>
      </p:sp>
      <p:sp>
        <p:nvSpPr>
          <p:cNvPr id="78" name="TextBox 77"/>
          <p:cNvSpPr txBox="1"/>
          <p:nvPr/>
        </p:nvSpPr>
        <p:spPr>
          <a:xfrm>
            <a:off x="6675120" y="5705856"/>
            <a:ext cx="1371600" cy="274320"/>
          </a:xfrm>
          <a:prstGeom prst="rect">
            <a:avLst/>
          </a:prstGeom>
          <a:noFill/>
        </p:spPr>
        <p:txBody>
          <a:bodyPr wrap="square">
            <a:spAutoFit/>
          </a:bodyPr>
          <a:lstStyle/>
          <a:p>
            <a:pPr algn="l">
              <a:spcAft>
                <a:spcPts val="400"/>
              </a:spcAft>
            </a:pPr>
            <a:r>
              <a:rPr sz="1250" b="0">
                <a:solidFill>
                  <a:srgbClr val="6B6B6B"/>
                </a:solidFill>
                <a:latin typeface="Arial"/>
              </a:rPr>
              <a:t>50.0%</a:t>
            </a:r>
          </a:p>
        </p:txBody>
      </p:sp>
      <p:sp>
        <p:nvSpPr>
          <p:cNvPr id="79" name="TextBox 78"/>
          <p:cNvSpPr txBox="1"/>
          <p:nvPr/>
        </p:nvSpPr>
        <p:spPr>
          <a:xfrm>
            <a:off x="8138160" y="5705856"/>
            <a:ext cx="1371600" cy="274320"/>
          </a:xfrm>
          <a:prstGeom prst="rect">
            <a:avLst/>
          </a:prstGeom>
          <a:noFill/>
        </p:spPr>
        <p:txBody>
          <a:bodyPr wrap="square">
            <a:spAutoFit/>
          </a:bodyPr>
          <a:lstStyle/>
          <a:p>
            <a:pPr algn="l">
              <a:spcAft>
                <a:spcPts val="400"/>
              </a:spcAft>
            </a:pPr>
            <a:r>
              <a:rPr sz="1250" b="0">
                <a:solidFill>
                  <a:srgbClr val="6B6B6B"/>
                </a:solidFill>
                <a:latin typeface="Arial"/>
              </a:rPr>
              <a:t>100.0%</a:t>
            </a:r>
          </a:p>
        </p:txBody>
      </p:sp>
      <p:sp>
        <p:nvSpPr>
          <p:cNvPr id="80" name="TextBox 79"/>
          <p:cNvSpPr txBox="1"/>
          <p:nvPr/>
        </p:nvSpPr>
        <p:spPr>
          <a:xfrm>
            <a:off x="9601200" y="5705856"/>
            <a:ext cx="2103120" cy="384048"/>
          </a:xfrm>
          <a:prstGeom prst="rect">
            <a:avLst/>
          </a:prstGeom>
          <a:noFill/>
        </p:spPr>
        <p:txBody>
          <a:bodyPr wrap="square">
            <a:spAutoFit/>
          </a:bodyPr>
          <a:lstStyle/>
          <a:p>
            <a:pPr algn="l">
              <a:spcAft>
                <a:spcPts val="400"/>
              </a:spcAft>
            </a:pPr>
            <a:r>
              <a:rPr sz="950" b="0">
                <a:solidFill>
                  <a:srgbClr val="6B6B6B"/>
                </a:solidFill>
                <a:latin typeface="Arial"/>
              </a:rPr>
              <a:t>CheckSohuServerNoErrorLogTestCase</a:t>
            </a:r>
          </a:p>
        </p:txBody>
      </p:sp>
      <p:sp>
        <p:nvSpPr>
          <p:cNvPr id="81" name="TextBox 80"/>
          <p:cNvSpPr txBox="1"/>
          <p:nvPr/>
        </p:nvSpPr>
        <p:spPr>
          <a:xfrm>
            <a:off x="548640" y="6172200"/>
            <a:ext cx="11094415" cy="457200"/>
          </a:xfrm>
          <a:prstGeom prst="rect">
            <a:avLst/>
          </a:prstGeom>
          <a:noFill/>
        </p:spPr>
        <p:txBody>
          <a:bodyPr wrap="square">
            <a:spAutoFit/>
          </a:bodyPr>
          <a:lstStyle/>
          <a:p>
            <a:pPr algn="l">
              <a:spcAft>
                <a:spcPts val="400"/>
              </a:spcAft>
            </a:pPr>
            <a:r>
              <a:rPr sz="1050" b="0">
                <a:solidFill>
                  <a:srgbClr val="6B6B6B"/>
                </a:solidFill>
                <a:latin typeface="Arial"/>
              </a:rPr>
              <a:t>Greyed rows ran fewer than 20 first-time units this week — too few to read a yield from.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685800"/>
          </a:xfrm>
          <a:prstGeom prst="rect">
            <a:avLst/>
          </a:prstGeom>
          <a:noFill/>
        </p:spPr>
        <p:txBody>
          <a:bodyPr wrap="none">
            <a:spAutoFit/>
          </a:bodyPr>
          <a:lstStyle/>
          <a:p>
            <a:r>
              <a:rPr sz="3000" b="1">
                <a:solidFill>
                  <a:srgbClr val="141414"/>
                </a:solidFill>
                <a:latin typeface="Arial"/>
              </a:rPr>
              <a:t>Where MLT and HTT lose units</a:t>
            </a:r>
          </a:p>
          <a:p>
            <a:r>
              <a:rPr sz="1300">
                <a:solidFill>
                  <a:srgbClr val="6B6B6B"/>
                </a:solidFill>
                <a:latin typeface="Arial"/>
              </a:rPr>
              <a:t>failure signatures, seven days, containers excluded</a:t>
            </a:r>
          </a:p>
        </p:txBody>
      </p:sp>
      <p:sp>
        <p:nvSpPr>
          <p:cNvPr id="3" name="Rectangle 2"/>
          <p:cNvSpPr/>
          <p:nvPr/>
        </p:nvSpPr>
        <p:spPr>
          <a:xfrm>
            <a:off x="548640" y="1298448"/>
            <a:ext cx="11094415" cy="1524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5486400" cy="365760"/>
          </a:xfrm>
          <a:prstGeom prst="rect">
            <a:avLst/>
          </a:prstGeom>
          <a:noFill/>
        </p:spPr>
        <p:txBody>
          <a:bodyPr wrap="square">
            <a:spAutoFit/>
          </a:bodyPr>
          <a:lstStyle/>
          <a:p>
            <a:pPr algn="l">
              <a:spcAft>
                <a:spcPts val="400"/>
              </a:spcAft>
            </a:pPr>
            <a:r>
              <a:rPr sz="1900" b="1">
                <a:solidFill>
                  <a:srgbClr val="141414"/>
                </a:solidFill>
                <a:latin typeface="Arial"/>
              </a:rPr>
              <a:t>MLT</a:t>
            </a:r>
            <a:r>
              <a:rPr sz="1100" b="0">
                <a:solidFill>
                  <a:srgbClr val="6B6B6B"/>
                </a:solidFill>
                <a:latin typeface="Arial"/>
              </a:rPr>
              <a:t>   first pass 65.5% · after retest 74.6% · 45 of 228 units retested</a:t>
            </a:r>
          </a:p>
        </p:txBody>
      </p:sp>
      <p:sp>
        <p:nvSpPr>
          <p:cNvPr id="5" name="TextBox 4"/>
          <p:cNvSpPr txBox="1"/>
          <p:nvPr/>
        </p:nvSpPr>
        <p:spPr>
          <a:xfrm>
            <a:off x="548640" y="2148840"/>
            <a:ext cx="5486400" cy="329184"/>
          </a:xfrm>
          <a:prstGeom prst="rect">
            <a:avLst/>
          </a:prstGeom>
          <a:noFill/>
        </p:spPr>
        <p:txBody>
          <a:bodyPr wrap="square">
            <a:spAutoFit/>
          </a:bodyPr>
          <a:lstStyle/>
          <a:p>
            <a:pPr algn="l">
              <a:spcAft>
                <a:spcPts val="400"/>
              </a:spcAft>
            </a:pPr>
            <a:r>
              <a:rPr sz="1200" b="0">
                <a:solidFill>
                  <a:srgbClr val="141414"/>
                </a:solidFill>
                <a:latin typeface="Courier New"/>
              </a:rPr>
              <a:t>SohuPowerVirusTestCase</a:t>
            </a:r>
            <a:r>
              <a:rPr sz="1200" b="1">
                <a:solidFill>
                  <a:srgbClr val="141414"/>
                </a:solidFill>
                <a:latin typeface="Arial"/>
              </a:rPr>
              <a:t>   ×140</a:t>
            </a:r>
            <a:r>
              <a:rPr sz="1050" b="0">
                <a:solidFill>
                  <a:srgbClr val="6B6B6B"/>
                </a:solidFill>
                <a:latin typeface="Arial"/>
              </a:rPr>
              <a:t>   Power Virus / Thermal</a:t>
            </a:r>
          </a:p>
        </p:txBody>
      </p:sp>
      <p:sp>
        <p:nvSpPr>
          <p:cNvPr id="6" name="TextBox 5"/>
          <p:cNvSpPr txBox="1"/>
          <p:nvPr/>
        </p:nvSpPr>
        <p:spPr>
          <a:xfrm>
            <a:off x="548640" y="2532888"/>
            <a:ext cx="5486400" cy="329184"/>
          </a:xfrm>
          <a:prstGeom prst="rect">
            <a:avLst/>
          </a:prstGeom>
          <a:noFill/>
        </p:spPr>
        <p:txBody>
          <a:bodyPr wrap="square">
            <a:spAutoFit/>
          </a:bodyPr>
          <a:lstStyle/>
          <a:p>
            <a:pPr algn="l">
              <a:spcAft>
                <a:spcPts val="400"/>
              </a:spcAft>
            </a:pPr>
            <a:r>
              <a:rPr sz="1200" b="0">
                <a:solidFill>
                  <a:srgbClr val="141414"/>
                </a:solidFill>
                <a:latin typeface="Courier New"/>
              </a:rPr>
              <a:t>C2cLinkupTestCase</a:t>
            </a:r>
            <a:r>
              <a:rPr sz="1200" b="1">
                <a:solidFill>
                  <a:srgbClr val="141414"/>
                </a:solidFill>
                <a:latin typeface="Arial"/>
              </a:rPr>
              <a:t>   ×125</a:t>
            </a:r>
            <a:r>
              <a:rPr sz="1050" b="0">
                <a:solidFill>
                  <a:srgbClr val="6B6B6B"/>
                </a:solidFill>
                <a:latin typeface="Arial"/>
              </a:rPr>
              <a:t>   C2C</a:t>
            </a:r>
          </a:p>
        </p:txBody>
      </p:sp>
      <p:sp>
        <p:nvSpPr>
          <p:cNvPr id="7" name="TextBox 6"/>
          <p:cNvSpPr txBox="1"/>
          <p:nvPr/>
        </p:nvSpPr>
        <p:spPr>
          <a:xfrm>
            <a:off x="548640" y="2916936"/>
            <a:ext cx="5486400" cy="329184"/>
          </a:xfrm>
          <a:prstGeom prst="rect">
            <a:avLst/>
          </a:prstGeom>
          <a:noFill/>
        </p:spPr>
        <p:txBody>
          <a:bodyPr wrap="square">
            <a:spAutoFit/>
          </a:bodyPr>
          <a:lstStyle/>
          <a:p>
            <a:pPr algn="l">
              <a:spcAft>
                <a:spcPts val="400"/>
              </a:spcAft>
            </a:pPr>
            <a:r>
              <a:rPr sz="1200" b="0">
                <a:solidFill>
                  <a:srgbClr val="141414"/>
                </a:solidFill>
                <a:latin typeface="Courier New"/>
              </a:rPr>
              <a:t>SohuPmbistTestCase</a:t>
            </a:r>
            <a:r>
              <a:rPr sz="1200" b="1">
                <a:solidFill>
                  <a:srgbClr val="141414"/>
                </a:solidFill>
                <a:latin typeface="Arial"/>
              </a:rPr>
              <a:t>   ×100</a:t>
            </a:r>
            <a:r>
              <a:rPr sz="1050" b="0">
                <a:solidFill>
                  <a:srgbClr val="6B6B6B"/>
                </a:solidFill>
                <a:latin typeface="Arial"/>
              </a:rPr>
              <a:t>   PMBIST</a:t>
            </a:r>
          </a:p>
        </p:txBody>
      </p:sp>
      <p:sp>
        <p:nvSpPr>
          <p:cNvPr id="8" name="TextBox 7"/>
          <p:cNvSpPr txBox="1"/>
          <p:nvPr/>
        </p:nvSpPr>
        <p:spPr>
          <a:xfrm>
            <a:off x="548640" y="3300984"/>
            <a:ext cx="5486400" cy="329184"/>
          </a:xfrm>
          <a:prstGeom prst="rect">
            <a:avLst/>
          </a:prstGeom>
          <a:noFill/>
        </p:spPr>
        <p:txBody>
          <a:bodyPr wrap="square">
            <a:spAutoFit/>
          </a:bodyPr>
          <a:lstStyle/>
          <a:p>
            <a:pPr algn="l">
              <a:spcAft>
                <a:spcPts val="400"/>
              </a:spcAft>
            </a:pPr>
            <a:r>
              <a:rPr sz="1200" b="0">
                <a:solidFill>
                  <a:srgbClr val="141414"/>
                </a:solidFill>
                <a:latin typeface="Courier New"/>
              </a:rPr>
              <a:t>SohuSaScreeningTestCase</a:t>
            </a:r>
            <a:r>
              <a:rPr sz="1200" b="1">
                <a:solidFill>
                  <a:srgbClr val="141414"/>
                </a:solidFill>
                <a:latin typeface="Arial"/>
              </a:rPr>
              <a:t>   ×93</a:t>
            </a:r>
            <a:r>
              <a:rPr sz="1050" b="0">
                <a:solidFill>
                  <a:srgbClr val="6B6B6B"/>
                </a:solidFill>
                <a:latin typeface="Arial"/>
              </a:rPr>
              <a:t>   Other</a:t>
            </a:r>
          </a:p>
        </p:txBody>
      </p:sp>
      <p:sp>
        <p:nvSpPr>
          <p:cNvPr id="9" name="TextBox 8"/>
          <p:cNvSpPr txBox="1"/>
          <p:nvPr/>
        </p:nvSpPr>
        <p:spPr>
          <a:xfrm>
            <a:off x="548640" y="3685032"/>
            <a:ext cx="5486400" cy="329184"/>
          </a:xfrm>
          <a:prstGeom prst="rect">
            <a:avLst/>
          </a:prstGeom>
          <a:noFill/>
        </p:spPr>
        <p:txBody>
          <a:bodyPr wrap="square">
            <a:spAutoFit/>
          </a:bodyPr>
          <a:lstStyle/>
          <a:p>
            <a:pPr algn="l">
              <a:spcAft>
                <a:spcPts val="400"/>
              </a:spcAft>
            </a:pPr>
            <a:r>
              <a:rPr sz="1200" b="0">
                <a:solidFill>
                  <a:srgbClr val="141414"/>
                </a:solidFill>
                <a:latin typeface="Courier New"/>
              </a:rPr>
              <a:t>SohuLlamaMttTestCase</a:t>
            </a:r>
            <a:r>
              <a:rPr sz="1200" b="1">
                <a:solidFill>
                  <a:srgbClr val="141414"/>
                </a:solidFill>
                <a:latin typeface="Arial"/>
              </a:rPr>
              <a:t>   ×90</a:t>
            </a:r>
            <a:r>
              <a:rPr sz="1050" b="0">
                <a:solidFill>
                  <a:srgbClr val="6B6B6B"/>
                </a:solidFill>
                <a:latin typeface="Arial"/>
              </a:rPr>
              <a:t>   Llama / SaSort</a:t>
            </a:r>
          </a:p>
        </p:txBody>
      </p:sp>
      <p:sp>
        <p:nvSpPr>
          <p:cNvPr id="10" name="TextBox 9"/>
          <p:cNvSpPr txBox="1"/>
          <p:nvPr/>
        </p:nvSpPr>
        <p:spPr>
          <a:xfrm>
            <a:off x="6492240" y="1600200"/>
            <a:ext cx="5486400" cy="365760"/>
          </a:xfrm>
          <a:prstGeom prst="rect">
            <a:avLst/>
          </a:prstGeom>
          <a:noFill/>
        </p:spPr>
        <p:txBody>
          <a:bodyPr wrap="square">
            <a:spAutoFit/>
          </a:bodyPr>
          <a:lstStyle/>
          <a:p>
            <a:pPr algn="l">
              <a:spcAft>
                <a:spcPts val="400"/>
              </a:spcAft>
            </a:pPr>
            <a:r>
              <a:rPr sz="1900" b="1">
                <a:solidFill>
                  <a:srgbClr val="141414"/>
                </a:solidFill>
                <a:latin typeface="Arial"/>
              </a:rPr>
              <a:t>HTT</a:t>
            </a:r>
            <a:r>
              <a:rPr sz="1100" b="0">
                <a:solidFill>
                  <a:srgbClr val="6B6B6B"/>
                </a:solidFill>
                <a:latin typeface="Arial"/>
              </a:rPr>
              <a:t>   first pass 54.3% · after retest 68.8% · 47 of 170 units retested</a:t>
            </a:r>
          </a:p>
        </p:txBody>
      </p:sp>
      <p:sp>
        <p:nvSpPr>
          <p:cNvPr id="11" name="TextBox 10"/>
          <p:cNvSpPr txBox="1"/>
          <p:nvPr/>
        </p:nvSpPr>
        <p:spPr>
          <a:xfrm>
            <a:off x="6492240" y="2148840"/>
            <a:ext cx="5486400" cy="329184"/>
          </a:xfrm>
          <a:prstGeom prst="rect">
            <a:avLst/>
          </a:prstGeom>
          <a:noFill/>
        </p:spPr>
        <p:txBody>
          <a:bodyPr wrap="square">
            <a:spAutoFit/>
          </a:bodyPr>
          <a:lstStyle/>
          <a:p>
            <a:pPr algn="l">
              <a:spcAft>
                <a:spcPts val="400"/>
              </a:spcAft>
            </a:pPr>
            <a:r>
              <a:rPr sz="1200" b="0">
                <a:solidFill>
                  <a:srgbClr val="141414"/>
                </a:solidFill>
                <a:latin typeface="Courier New"/>
              </a:rPr>
              <a:t>SohuRdqsSweepTrainingTestCase</a:t>
            </a:r>
            <a:r>
              <a:rPr sz="1200" b="1">
                <a:solidFill>
                  <a:srgbClr val="141414"/>
                </a:solidFill>
                <a:latin typeface="Arial"/>
              </a:rPr>
              <a:t>   ×49</a:t>
            </a:r>
            <a:r>
              <a:rPr sz="1050" b="0">
                <a:solidFill>
                  <a:srgbClr val="6B6B6B"/>
                </a:solidFill>
                <a:latin typeface="Arial"/>
              </a:rPr>
              <a:t>   RDQS Training</a:t>
            </a:r>
          </a:p>
        </p:txBody>
      </p:sp>
      <p:sp>
        <p:nvSpPr>
          <p:cNvPr id="12" name="TextBox 11"/>
          <p:cNvSpPr txBox="1"/>
          <p:nvPr/>
        </p:nvSpPr>
        <p:spPr>
          <a:xfrm>
            <a:off x="6492240" y="2532888"/>
            <a:ext cx="5486400" cy="329184"/>
          </a:xfrm>
          <a:prstGeom prst="rect">
            <a:avLst/>
          </a:prstGeom>
          <a:noFill/>
        </p:spPr>
        <p:txBody>
          <a:bodyPr wrap="square">
            <a:spAutoFit/>
          </a:bodyPr>
          <a:lstStyle/>
          <a:p>
            <a:pPr algn="l">
              <a:spcAft>
                <a:spcPts val="400"/>
              </a:spcAft>
            </a:pPr>
            <a:r>
              <a:rPr sz="1200" b="0">
                <a:solidFill>
                  <a:srgbClr val="141414"/>
                </a:solidFill>
                <a:latin typeface="Courier New"/>
              </a:rPr>
              <a:t>SohuLlamaForwardIteratedTestCase</a:t>
            </a:r>
            <a:r>
              <a:rPr sz="1200" b="1">
                <a:solidFill>
                  <a:srgbClr val="141414"/>
                </a:solidFill>
                <a:latin typeface="Arial"/>
              </a:rPr>
              <a:t>   ×46</a:t>
            </a:r>
            <a:r>
              <a:rPr sz="1050" b="0">
                <a:solidFill>
                  <a:srgbClr val="6B6B6B"/>
                </a:solidFill>
                <a:latin typeface="Arial"/>
              </a:rPr>
              <a:t>   Llama / SaSort</a:t>
            </a:r>
          </a:p>
        </p:txBody>
      </p:sp>
      <p:sp>
        <p:nvSpPr>
          <p:cNvPr id="13" name="TextBox 12"/>
          <p:cNvSpPr txBox="1"/>
          <p:nvPr/>
        </p:nvSpPr>
        <p:spPr>
          <a:xfrm>
            <a:off x="6492240" y="2916936"/>
            <a:ext cx="5486400" cy="329184"/>
          </a:xfrm>
          <a:prstGeom prst="rect">
            <a:avLst/>
          </a:prstGeom>
          <a:noFill/>
        </p:spPr>
        <p:txBody>
          <a:bodyPr wrap="square">
            <a:spAutoFit/>
          </a:bodyPr>
          <a:lstStyle/>
          <a:p>
            <a:pPr algn="l">
              <a:spcAft>
                <a:spcPts val="400"/>
              </a:spcAft>
            </a:pPr>
            <a:r>
              <a:rPr sz="1200" b="0">
                <a:solidFill>
                  <a:srgbClr val="141414"/>
                </a:solidFill>
                <a:latin typeface="Courier New"/>
              </a:rPr>
              <a:t>SohuLlamaInferenceMaxTestCase</a:t>
            </a:r>
            <a:r>
              <a:rPr sz="1200" b="1">
                <a:solidFill>
                  <a:srgbClr val="141414"/>
                </a:solidFill>
                <a:latin typeface="Arial"/>
              </a:rPr>
              <a:t>   ×44</a:t>
            </a:r>
            <a:r>
              <a:rPr sz="1050" b="0">
                <a:solidFill>
                  <a:srgbClr val="6B6B6B"/>
                </a:solidFill>
                <a:latin typeface="Arial"/>
              </a:rPr>
              <a:t>   Llama / SaSort</a:t>
            </a:r>
          </a:p>
        </p:txBody>
      </p:sp>
      <p:sp>
        <p:nvSpPr>
          <p:cNvPr id="14" name="TextBox 13"/>
          <p:cNvSpPr txBox="1"/>
          <p:nvPr/>
        </p:nvSpPr>
        <p:spPr>
          <a:xfrm>
            <a:off x="6492240" y="3300984"/>
            <a:ext cx="5486400" cy="329184"/>
          </a:xfrm>
          <a:prstGeom prst="rect">
            <a:avLst/>
          </a:prstGeom>
          <a:noFill/>
        </p:spPr>
        <p:txBody>
          <a:bodyPr wrap="square">
            <a:spAutoFit/>
          </a:bodyPr>
          <a:lstStyle/>
          <a:p>
            <a:pPr algn="l">
              <a:spcAft>
                <a:spcPts val="400"/>
              </a:spcAft>
            </a:pPr>
            <a:r>
              <a:rPr sz="1200" b="0">
                <a:solidFill>
                  <a:srgbClr val="141414"/>
                </a:solidFill>
                <a:latin typeface="Courier New"/>
              </a:rPr>
              <a:t>CheckFirmwareVersionTestCase</a:t>
            </a:r>
            <a:r>
              <a:rPr sz="1200" b="1">
                <a:solidFill>
                  <a:srgbClr val="141414"/>
                </a:solidFill>
                <a:latin typeface="Arial"/>
              </a:rPr>
              <a:t>   ×17</a:t>
            </a:r>
            <a:r>
              <a:rPr sz="1050" b="0">
                <a:solidFill>
                  <a:srgbClr val="6B6B6B"/>
                </a:solidFill>
                <a:latin typeface="Arial"/>
              </a:rPr>
              <a:t>   Other</a:t>
            </a:r>
          </a:p>
        </p:txBody>
      </p:sp>
      <p:sp>
        <p:nvSpPr>
          <p:cNvPr id="15" name="TextBox 14"/>
          <p:cNvSpPr txBox="1"/>
          <p:nvPr/>
        </p:nvSpPr>
        <p:spPr>
          <a:xfrm>
            <a:off x="6492240" y="3685032"/>
            <a:ext cx="5486400" cy="329184"/>
          </a:xfrm>
          <a:prstGeom prst="rect">
            <a:avLst/>
          </a:prstGeom>
          <a:noFill/>
        </p:spPr>
        <p:txBody>
          <a:bodyPr wrap="square">
            <a:spAutoFit/>
          </a:bodyPr>
          <a:lstStyle/>
          <a:p>
            <a:pPr algn="l">
              <a:spcAft>
                <a:spcPts val="400"/>
              </a:spcAft>
            </a:pPr>
            <a:r>
              <a:rPr sz="1200" b="0">
                <a:solidFill>
                  <a:srgbClr val="141414"/>
                </a:solidFill>
                <a:latin typeface="Courier New"/>
              </a:rPr>
              <a:t>SetPllGlitchFreqTestCase</a:t>
            </a:r>
            <a:r>
              <a:rPr sz="1200" b="1">
                <a:solidFill>
                  <a:srgbClr val="141414"/>
                </a:solidFill>
                <a:latin typeface="Arial"/>
              </a:rPr>
              <a:t>   ×17</a:t>
            </a:r>
            <a:r>
              <a:rPr sz="1050" b="0">
                <a:solidFill>
                  <a:srgbClr val="6B6B6B"/>
                </a:solidFill>
                <a:latin typeface="Arial"/>
              </a:rPr>
              <a:t>   Other</a:t>
            </a:r>
          </a:p>
        </p:txBody>
      </p:sp>
      <p:sp>
        <p:nvSpPr>
          <p:cNvPr id="16" name="TextBox 15"/>
          <p:cNvSpPr txBox="1"/>
          <p:nvPr/>
        </p:nvSpPr>
        <p:spPr>
          <a:xfrm>
            <a:off x="548640" y="4663440"/>
            <a:ext cx="11094415" cy="1463040"/>
          </a:xfrm>
          <a:prstGeom prst="rect">
            <a:avLst/>
          </a:prstGeom>
          <a:noFill/>
        </p:spPr>
        <p:txBody>
          <a:bodyPr wrap="square">
            <a:spAutoFit/>
          </a:bodyPr>
          <a:lstStyle/>
          <a:p>
            <a:pPr algn="l">
              <a:spcAft>
                <a:spcPts val="400"/>
              </a:spcAft>
            </a:pPr>
            <a:r>
              <a:rPr sz="1350" b="1">
                <a:solidFill>
                  <a:srgbClr val="141414"/>
                </a:solidFill>
                <a:latin typeface="Arial"/>
              </a:rPr>
              <a:t>Retest load is the number to act on. </a:t>
            </a:r>
            <a:r>
              <a:rPr sz="1350" b="0">
                <a:solidFill>
                  <a:srgbClr val="141414"/>
                </a:solidFill>
                <a:latin typeface="Arial"/>
              </a:rPr>
              <a:t>45 of 228 MLT units and 47 of 170 HTT units came back for a second run this week. Each one is a second occupancy of the stations that are already the line's constraint — the recovery to 74.6% and 68.8% is bought with station time, not won for free.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685800"/>
          </a:xfrm>
          <a:prstGeom prst="rect">
            <a:avLst/>
          </a:prstGeom>
          <a:noFill/>
        </p:spPr>
        <p:txBody>
          <a:bodyPr wrap="none">
            <a:spAutoFit/>
          </a:bodyPr>
          <a:lstStyle/>
          <a:p>
            <a:r>
              <a:rPr sz="3000" b="1">
                <a:solidFill>
                  <a:srgbClr val="141414"/>
                </a:solidFill>
                <a:latin typeface="Arial"/>
              </a:rPr>
              <a:t>Manufacturing readiness</a:t>
            </a:r>
          </a:p>
          <a:p>
            <a:r>
              <a:rPr sz="1300">
                <a:solidFill>
                  <a:srgbClr val="6B6B6B"/>
                </a:solidFill>
                <a:latin typeface="Arial"/>
              </a:rPr>
              <a:t>what the seven days say about shipping</a:t>
            </a:r>
          </a:p>
        </p:txBody>
      </p:sp>
      <p:sp>
        <p:nvSpPr>
          <p:cNvPr id="3" name="Rectangle 2"/>
          <p:cNvSpPr/>
          <p:nvPr/>
        </p:nvSpPr>
        <p:spPr>
          <a:xfrm>
            <a:off x="548640" y="1298448"/>
            <a:ext cx="11094415" cy="1524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91640"/>
            <a:ext cx="11094415" cy="1005840"/>
          </a:xfrm>
          <a:prstGeom prst="rect">
            <a:avLst/>
          </a:prstGeom>
          <a:noFill/>
        </p:spPr>
        <p:txBody>
          <a:bodyPr wrap="square">
            <a:spAutoFit/>
          </a:bodyPr>
          <a:lstStyle/>
          <a:p>
            <a:pPr algn="l">
              <a:spcAft>
                <a:spcPts val="200"/>
              </a:spcAft>
            </a:pPr>
            <a:r>
              <a:rPr sz="1500" b="1">
                <a:solidFill>
                  <a:srgbClr val="141414"/>
                </a:solidFill>
                <a:latin typeface="Arial"/>
              </a:rPr>
              <a:t>Module test is the constraint, and it is measurable.  </a:t>
            </a:r>
            <a:r>
              <a:rPr sz="1300" b="0">
                <a:solidFill>
                  <a:srgbClr val="141414"/>
                </a:solidFill>
                <a:latin typeface="Arial"/>
              </a:rPr>
              <a:t>MLT and HTT carry 398 of the week's 432 units. Both are instrumented per unit, per slot, per failing test case — the failure Pareto above is queryable, not anecdotal.</a:t>
            </a:r>
          </a:p>
        </p:txBody>
      </p:sp>
      <p:sp>
        <p:nvSpPr>
          <p:cNvPr id="5" name="TextBox 4"/>
          <p:cNvSpPr txBox="1"/>
          <p:nvPr/>
        </p:nvSpPr>
        <p:spPr>
          <a:xfrm>
            <a:off x="548640" y="2807208"/>
            <a:ext cx="11094415" cy="1005840"/>
          </a:xfrm>
          <a:prstGeom prst="rect">
            <a:avLst/>
          </a:prstGeom>
          <a:noFill/>
        </p:spPr>
        <p:txBody>
          <a:bodyPr wrap="square">
            <a:spAutoFit/>
          </a:bodyPr>
          <a:lstStyle/>
          <a:p>
            <a:pPr algn="l">
              <a:spcAft>
                <a:spcPts val="200"/>
              </a:spcAft>
            </a:pPr>
            <a:r>
              <a:rPr sz="1500" b="1">
                <a:solidFill>
                  <a:srgbClr val="141414"/>
                </a:solidFill>
                <a:latin typeface="Arial"/>
              </a:rPr>
              <a:t>L10 and L11 are not yet producing a signal.  </a:t>
            </a:r>
            <a:r>
              <a:rPr sz="1300" b="0">
                <a:solidFill>
                  <a:srgbClr val="141414"/>
                </a:solidFill>
                <a:latin typeface="Arial"/>
              </a:rPr>
              <a:t>L10 FAT 2u, L10 SFT 1u, L10 RIN 1u, L10 2U 3u, L11 Test 2u across four stages in seven days. Before anyone reads a yield off these, they need volume; the honest status is bring-up.</a:t>
            </a:r>
          </a:p>
        </p:txBody>
      </p:sp>
      <p:sp>
        <p:nvSpPr>
          <p:cNvPr id="6" name="TextBox 5"/>
          <p:cNvSpPr txBox="1"/>
          <p:nvPr/>
        </p:nvSpPr>
        <p:spPr>
          <a:xfrm>
            <a:off x="548640" y="3922776"/>
            <a:ext cx="11094415" cy="1005840"/>
          </a:xfrm>
          <a:prstGeom prst="rect">
            <a:avLst/>
          </a:prstGeom>
          <a:noFill/>
        </p:spPr>
        <p:txBody>
          <a:bodyPr wrap="square">
            <a:spAutoFit/>
          </a:bodyPr>
          <a:lstStyle/>
          <a:p>
            <a:pPr algn="l">
              <a:spcAft>
                <a:spcPts val="200"/>
              </a:spcAft>
            </a:pPr>
            <a:r>
              <a:rPr sz="1500" b="1">
                <a:solidFill>
                  <a:srgbClr val="141414"/>
                </a:solidFill>
                <a:latin typeface="Arial"/>
              </a:rPr>
              <a:t>Yield recovery is real but it is paid for in station time.  </a:t>
            </a:r>
            <a:r>
              <a:rPr sz="1300" b="0">
                <a:solidFill>
                  <a:srgbClr val="141414"/>
                </a:solidFill>
                <a:latin typeface="Arial"/>
              </a:rPr>
              <a:t>The gap between first-pass and after-retest is 9 points at MLT and 15 at HTT. That gap is capacity spent twice.</a:t>
            </a:r>
          </a:p>
        </p:txBody>
      </p:sp>
      <p:sp>
        <p:nvSpPr>
          <p:cNvPr id="7" name="TextBox 6"/>
          <p:cNvSpPr txBox="1"/>
          <p:nvPr/>
        </p:nvSpPr>
        <p:spPr>
          <a:xfrm>
            <a:off x="548640" y="5038344"/>
            <a:ext cx="11094415" cy="1005840"/>
          </a:xfrm>
          <a:prstGeom prst="rect">
            <a:avLst/>
          </a:prstGeom>
          <a:noFill/>
        </p:spPr>
        <p:txBody>
          <a:bodyPr wrap="square">
            <a:spAutoFit/>
          </a:bodyPr>
          <a:lstStyle/>
          <a:p>
            <a:pPr algn="l">
              <a:spcAft>
                <a:spcPts val="200"/>
              </a:spcAft>
            </a:pPr>
            <a:r>
              <a:rPr sz="1500" b="1">
                <a:solidFill>
                  <a:srgbClr val="141414"/>
                </a:solidFill>
                <a:latin typeface="Arial"/>
              </a:rPr>
              <a:t>The upstream half of the flow is still a manual handoff.  </a:t>
            </a:r>
            <a:r>
              <a:rPr sz="1300" b="0">
                <a:solidFill>
                  <a:srgbClr val="141414"/>
                </a:solidFill>
                <a:latin typeface="Arial"/>
              </a:rPr>
              <a:t>WST 35.3% and FT 84.3% arrive by Slack message. Joining Sigurd's die-level data to our module-level data needs one field — a chip serial on our rows. pega3 returns asic_lot_code and it is empty on every run.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685800"/>
          </a:xfrm>
          <a:prstGeom prst="rect">
            <a:avLst/>
          </a:prstGeom>
          <a:noFill/>
        </p:spPr>
        <p:txBody>
          <a:bodyPr wrap="none">
            <a:spAutoFit/>
          </a:bodyPr>
          <a:lstStyle/>
          <a:p>
            <a:r>
              <a:rPr sz="3000" b="1">
                <a:solidFill>
                  <a:srgbClr val="141414"/>
                </a:solidFill>
                <a:latin typeface="Arial"/>
              </a:rPr>
              <a:t>Data sources and definitions</a:t>
            </a:r>
          </a:p>
          <a:p>
            <a:r>
              <a:rPr sz="1300">
                <a:solidFill>
                  <a:srgbClr val="6B6B6B"/>
                </a:solidFill>
                <a:latin typeface="Arial"/>
              </a:rPr>
              <a:t>so every number here can be re-derived</a:t>
            </a:r>
          </a:p>
        </p:txBody>
      </p:sp>
      <p:sp>
        <p:nvSpPr>
          <p:cNvPr id="3" name="Rectangle 2"/>
          <p:cNvSpPr/>
          <p:nvPr/>
        </p:nvSpPr>
        <p:spPr>
          <a:xfrm>
            <a:off x="548640" y="1298448"/>
            <a:ext cx="11094415" cy="1524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94415" cy="731520"/>
          </a:xfrm>
          <a:prstGeom prst="rect">
            <a:avLst/>
          </a:prstGeom>
          <a:noFill/>
        </p:spPr>
        <p:txBody>
          <a:bodyPr wrap="square">
            <a:spAutoFit/>
          </a:bodyPr>
          <a:lstStyle/>
          <a:p>
            <a:pPr algn="l">
              <a:spcAft>
                <a:spcPts val="200"/>
              </a:spcAft>
            </a:pPr>
            <a:r>
              <a:rPr sz="1250" b="1">
                <a:solidFill>
                  <a:srgbClr val="141414"/>
                </a:solidFill>
                <a:latin typeface="Arial"/>
              </a:rPr>
              <a:t>First-pass yield  —  </a:t>
            </a:r>
            <a:r>
              <a:rPr sz="1200" b="0">
                <a:solidFill>
                  <a:srgbClr val="141414"/>
                </a:solidFill>
                <a:latin typeface="Arial"/>
              </a:rPr>
              <a:t>units whose first ever run at that step passed, over units seeing that step for the first time in the window. Attempts are numbered over 30 days of history, so a unit returning this week counts as a retest, not a fresh pass.</a:t>
            </a:r>
          </a:p>
        </p:txBody>
      </p:sp>
      <p:sp>
        <p:nvSpPr>
          <p:cNvPr id="5" name="TextBox 4"/>
          <p:cNvSpPr txBox="1"/>
          <p:nvPr/>
        </p:nvSpPr>
        <p:spPr>
          <a:xfrm>
            <a:off x="548640" y="2395728"/>
            <a:ext cx="11094415" cy="731520"/>
          </a:xfrm>
          <a:prstGeom prst="rect">
            <a:avLst/>
          </a:prstGeom>
          <a:noFill/>
        </p:spPr>
        <p:txBody>
          <a:bodyPr wrap="square">
            <a:spAutoFit/>
          </a:bodyPr>
          <a:lstStyle/>
          <a:p>
            <a:pPr algn="l">
              <a:spcAft>
                <a:spcPts val="200"/>
              </a:spcAft>
            </a:pPr>
            <a:r>
              <a:rPr sz="1250" b="1">
                <a:solidFill>
                  <a:srgbClr val="141414"/>
                </a:solidFill>
                <a:latin typeface="Arial"/>
              </a:rPr>
              <a:t>After retest  —  </a:t>
            </a:r>
            <a:r>
              <a:rPr sz="1200" b="0">
                <a:solidFill>
                  <a:srgbClr val="141414"/>
                </a:solidFill>
                <a:latin typeface="Arial"/>
              </a:rPr>
              <a:t>units that passed at least once in the window, over all units tested in it.</a:t>
            </a:r>
          </a:p>
        </p:txBody>
      </p:sp>
      <p:sp>
        <p:nvSpPr>
          <p:cNvPr id="6" name="TextBox 5"/>
          <p:cNvSpPr txBox="1"/>
          <p:nvPr/>
        </p:nvSpPr>
        <p:spPr>
          <a:xfrm>
            <a:off x="548640" y="3145536"/>
            <a:ext cx="11094415" cy="731520"/>
          </a:xfrm>
          <a:prstGeom prst="rect">
            <a:avLst/>
          </a:prstGeom>
          <a:noFill/>
        </p:spPr>
        <p:txBody>
          <a:bodyPr wrap="square">
            <a:spAutoFit/>
          </a:bodyPr>
          <a:lstStyle/>
          <a:p>
            <a:pPr algn="l">
              <a:spcAft>
                <a:spcPts val="200"/>
              </a:spcAft>
            </a:pPr>
            <a:r>
              <a:rPr sz="1250" b="1">
                <a:solidFill>
                  <a:srgbClr val="141414"/>
                </a:solidFill>
                <a:latin typeface="Arial"/>
              </a:rPr>
              <a:t>Retest load  —  </a:t>
            </a:r>
            <a:r>
              <a:rPr sz="1200" b="0">
                <a:solidFill>
                  <a:srgbClr val="141414"/>
                </a:solidFill>
                <a:latin typeface="Arial"/>
              </a:rPr>
              <a:t>units that needed more than one run in the window. Not reported for VBB provisioning, where the eight repeat runs are a provisioning sequence rather than second attempts.</a:t>
            </a:r>
          </a:p>
        </p:txBody>
      </p:sp>
      <p:sp>
        <p:nvSpPr>
          <p:cNvPr id="7" name="TextBox 6"/>
          <p:cNvSpPr txBox="1"/>
          <p:nvPr/>
        </p:nvSpPr>
        <p:spPr>
          <a:xfrm>
            <a:off x="548640" y="3895344"/>
            <a:ext cx="11094415" cy="731520"/>
          </a:xfrm>
          <a:prstGeom prst="rect">
            <a:avLst/>
          </a:prstGeom>
          <a:noFill/>
        </p:spPr>
        <p:txBody>
          <a:bodyPr wrap="square">
            <a:spAutoFit/>
          </a:bodyPr>
          <a:lstStyle/>
          <a:p>
            <a:pPr algn="l">
              <a:spcAft>
                <a:spcPts val="200"/>
              </a:spcAft>
            </a:pPr>
            <a:r>
              <a:rPr sz="1250" b="1">
                <a:solidFill>
                  <a:srgbClr val="141414"/>
                </a:solidFill>
                <a:latin typeface="Arial"/>
              </a:rPr>
              <a:t>Rolled first-pass  —  </a:t>
            </a:r>
            <a:r>
              <a:rPr sz="1200" b="0">
                <a:solidFill>
                  <a:srgbClr val="141414"/>
                </a:solidFill>
                <a:latin typeface="Arial"/>
              </a:rPr>
              <a:t>the product of the first-pass yields of the stages named on it. Stages with fewer than 20 first-time units are excluded, because a 0% on one unit would report the line at zero.</a:t>
            </a:r>
          </a:p>
        </p:txBody>
      </p:sp>
      <p:sp>
        <p:nvSpPr>
          <p:cNvPr id="8" name="TextBox 7"/>
          <p:cNvSpPr txBox="1"/>
          <p:nvPr/>
        </p:nvSpPr>
        <p:spPr>
          <a:xfrm>
            <a:off x="548640" y="4645152"/>
            <a:ext cx="11094415" cy="731520"/>
          </a:xfrm>
          <a:prstGeom prst="rect">
            <a:avLst/>
          </a:prstGeom>
          <a:noFill/>
        </p:spPr>
        <p:txBody>
          <a:bodyPr wrap="square">
            <a:spAutoFit/>
          </a:bodyPr>
          <a:lstStyle/>
          <a:p>
            <a:pPr algn="l">
              <a:spcAft>
                <a:spcPts val="200"/>
              </a:spcAft>
            </a:pPr>
            <a:r>
              <a:rPr sz="1250" b="1">
                <a:solidFill>
                  <a:srgbClr val="141414"/>
                </a:solidFill>
                <a:latin typeface="Arial"/>
              </a:rPr>
              <a:t>MLT / HTT / L10 / L11  —  </a:t>
            </a:r>
            <a:r>
              <a:rPr sz="1200" b="0">
                <a:solidFill>
                  <a:srgbClr val="141414"/>
                </a:solidFill>
                <a:latin typeface="Arial"/>
              </a:rPr>
              <a:t>read directly from the station controllers (pega2–pega5), one row per unit rather than one per fixture. This is the same source the daily tracker is rebuilt from, and it does not match OCP Logs — the discrepancy is documented on the station page.</a:t>
            </a:r>
          </a:p>
        </p:txBody>
      </p:sp>
      <p:sp>
        <p:nvSpPr>
          <p:cNvPr id="9" name="TextBox 8"/>
          <p:cNvSpPr txBox="1"/>
          <p:nvPr/>
        </p:nvSpPr>
        <p:spPr>
          <a:xfrm>
            <a:off x="548640" y="5394960"/>
            <a:ext cx="11094415" cy="731520"/>
          </a:xfrm>
          <a:prstGeom prst="rect">
            <a:avLst/>
          </a:prstGeom>
          <a:noFill/>
        </p:spPr>
        <p:txBody>
          <a:bodyPr wrap="square">
            <a:spAutoFit/>
          </a:bodyPr>
          <a:lstStyle/>
          <a:p>
            <a:pPr algn="l">
              <a:spcAft>
                <a:spcPts val="200"/>
              </a:spcAft>
            </a:pPr>
            <a:r>
              <a:rPr sz="1250" b="1">
                <a:solidFill>
                  <a:srgbClr val="141414"/>
                </a:solidFill>
                <a:latin typeface="Arial"/>
              </a:rPr>
              <a:t>WST / FT  —  </a:t>
            </a:r>
            <a:r>
              <a:rPr sz="1200" b="0">
                <a:solidFill>
                  <a:srgbClr val="141414"/>
                </a:solidFill>
                <a:latin typeface="Arial"/>
              </a:rPr>
              <a:t>reported by Sigurd in #production-test-eng, as of 2026-08-14. Hand-entered here; not collected by this pipeline.</a:t>
            </a:r>
          </a:p>
        </p:txBody>
      </p:sp>
      <p:sp>
        <p:nvSpPr>
          <p:cNvPr id="10" name="TextBox 9"/>
          <p:cNvSpPr txBox="1"/>
          <p:nvPr/>
        </p:nvSpPr>
        <p:spPr>
          <a:xfrm>
            <a:off x="548640" y="6309360"/>
            <a:ext cx="11094415" cy="365760"/>
          </a:xfrm>
          <a:prstGeom prst="rect">
            <a:avLst/>
          </a:prstGeom>
          <a:noFill/>
        </p:spPr>
        <p:txBody>
          <a:bodyPr wrap="square">
            <a:spAutoFit/>
          </a:bodyPr>
          <a:lstStyle/>
          <a:p>
            <a:pPr algn="l">
              <a:spcAft>
                <a:spcPts val="400"/>
              </a:spcAft>
            </a:pPr>
            <a:r>
              <a:rPr sz="1000" b="0">
                <a:solidFill>
                  <a:srgbClr val="6B6B6B"/>
                </a:solidFill>
                <a:latin typeface="Arial"/>
              </a:rPr>
              <a:t>Built 2026-08-15 21:05:44 UTC from a1ce804 · live page: 32x-production.i.etched.com/fpy.html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