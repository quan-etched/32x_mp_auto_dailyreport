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85855" cy="731520"/>
          </a:xfrm>
          <a:prstGeom prst="rect">
            <a:avLst/>
          </a:prstGeom>
          <a:noFill/>
        </p:spPr>
        <p:txBody>
          <a:bodyPr wrap="square" lIns="0" rIns="0" tIns="0" bIns="0">
            <a:spAutoFit/>
          </a:bodyPr>
          <a:lstStyle/>
          <a:p>
            <a:pPr algn="l">
              <a:spcAft>
                <a:spcPts val="100"/>
              </a:spcAft>
            </a:pPr>
            <a:r>
              <a:rPr sz="2700" b="1">
                <a:solidFill>
                  <a:srgbClr val="141414"/>
                </a:solidFill>
                <a:latin typeface="Arial"/>
              </a:rPr>
              <a:t>How to read this</a:t>
            </a:r>
          </a:p>
          <a:p>
            <a:pPr algn="l">
              <a:spcAft>
                <a:spcPts val="100"/>
              </a:spcAft>
            </a:pPr>
            <a:r>
              <a:rPr sz="1250" b="0">
                <a:solidFill>
                  <a:srgbClr val="6B6B6B"/>
                </a:solidFill>
                <a:latin typeface="Arial"/>
              </a:rPr>
              <a:t>three numbers, and why the table on the next pages is broken out by test step</a:t>
            </a:r>
          </a:p>
        </p:txBody>
      </p:sp>
      <p:sp>
        <p:nvSpPr>
          <p:cNvPr id="3" name="Rectangle 2"/>
          <p:cNvSpPr/>
          <p:nvPr/>
        </p:nvSpPr>
        <p:spPr>
          <a:xfrm>
            <a:off x="502920" y="1170432"/>
            <a:ext cx="11185855" cy="1397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81328"/>
            <a:ext cx="2331720" cy="1005840"/>
          </a:xfrm>
          <a:prstGeom prst="rect">
            <a:avLst/>
          </a:prstGeom>
          <a:noFill/>
        </p:spPr>
        <p:txBody>
          <a:bodyPr wrap="square" lIns="0" rIns="0" tIns="0" bIns="0">
            <a:spAutoFit/>
          </a:bodyPr>
          <a:lstStyle/>
          <a:p>
            <a:pPr algn="l">
              <a:spcAft>
                <a:spcPts val="200"/>
              </a:spcAft>
            </a:pPr>
            <a:r>
              <a:rPr sz="1700" b="1">
                <a:solidFill>
                  <a:srgbClr val="141414"/>
                </a:solidFill>
                <a:latin typeface="Arial"/>
              </a:rPr>
              <a:t>1.  Capacity</a:t>
            </a:r>
          </a:p>
          <a:p>
            <a:pPr algn="l">
              <a:spcAft>
                <a:spcPts val="200"/>
              </a:spcAft>
            </a:pPr>
            <a:r>
              <a:rPr sz="1150" b="0">
                <a:solidFill>
                  <a:srgbClr val="6B6B6B"/>
                </a:solidFill>
                <a:latin typeface="Arial"/>
              </a:rPr>
              <a:t>How many units a step can put through in a week.</a:t>
            </a:r>
          </a:p>
        </p:txBody>
      </p:sp>
      <p:sp>
        <p:nvSpPr>
          <p:cNvPr id="5" name="TextBox 4"/>
          <p:cNvSpPr txBox="1"/>
          <p:nvPr/>
        </p:nvSpPr>
        <p:spPr>
          <a:xfrm>
            <a:off x="3063240" y="1517904"/>
            <a:ext cx="4206240" cy="1188720"/>
          </a:xfrm>
          <a:prstGeom prst="rect">
            <a:avLst/>
          </a:prstGeom>
          <a:noFill/>
        </p:spPr>
        <p:txBody>
          <a:bodyPr wrap="square" lIns="0" rIns="0" tIns="0" bIns="0">
            <a:spAutoFit/>
          </a:bodyPr>
          <a:lstStyle/>
          <a:p>
            <a:pPr algn="l">
              <a:spcAft>
                <a:spcPts val="0"/>
              </a:spcAft>
            </a:pPr>
            <a:r>
              <a:rPr sz="1200" b="0">
                <a:solidFill>
                  <a:srgbClr val="141414"/>
                </a:solidFill>
                <a:latin typeface="Arial"/>
              </a:rPr>
              <a:t>Counted here as units and runs at each step: 407 step-visits across 573 runs this week. Runs exceed visits because a unit can occupy a station more than once — which is why capacity and retest are the same conversation.</a:t>
            </a:r>
          </a:p>
        </p:txBody>
      </p:sp>
      <p:sp>
        <p:nvSpPr>
          <p:cNvPr id="6" name="TextBox 5"/>
          <p:cNvSpPr txBox="1"/>
          <p:nvPr/>
        </p:nvSpPr>
        <p:spPr>
          <a:xfrm>
            <a:off x="7543800" y="1517904"/>
            <a:ext cx="4114800" cy="1188720"/>
          </a:xfrm>
          <a:prstGeom prst="rect">
            <a:avLst/>
          </a:prstGeom>
          <a:noFill/>
        </p:spPr>
        <p:txBody>
          <a:bodyPr wrap="square" lIns="0" rIns="0" tIns="0" bIns="0">
            <a:spAutoFit/>
          </a:bodyPr>
          <a:lstStyle/>
          <a:p>
            <a:pPr algn="l">
              <a:spcAft>
                <a:spcPts val="0"/>
              </a:spcAft>
            </a:pPr>
            <a:r>
              <a:rPr sz="1200" b="1">
                <a:solidFill>
                  <a:srgbClr val="141414"/>
                </a:solidFill>
                <a:latin typeface="Arial"/>
              </a:rPr>
              <a:t>Why it matters.  </a:t>
            </a:r>
            <a:r>
              <a:rPr sz="1200" b="0">
                <a:solidFill>
                  <a:srgbClr val="141414"/>
                </a:solidFill>
                <a:latin typeface="Arial"/>
              </a:rPr>
              <a:t>It sets the schedule. A station cannot ship what it cannot test, and every re-run is a slot a new unit did not get.</a:t>
            </a:r>
          </a:p>
        </p:txBody>
      </p:sp>
      <p:sp>
        <p:nvSpPr>
          <p:cNvPr id="7" name="TextBox 6"/>
          <p:cNvSpPr txBox="1"/>
          <p:nvPr/>
        </p:nvSpPr>
        <p:spPr>
          <a:xfrm>
            <a:off x="566928" y="2926080"/>
            <a:ext cx="2331720" cy="1005840"/>
          </a:xfrm>
          <a:prstGeom prst="rect">
            <a:avLst/>
          </a:prstGeom>
          <a:noFill/>
        </p:spPr>
        <p:txBody>
          <a:bodyPr wrap="square" lIns="0" rIns="0" tIns="0" bIns="0">
            <a:spAutoFit/>
          </a:bodyPr>
          <a:lstStyle/>
          <a:p>
            <a:pPr algn="l">
              <a:spcAft>
                <a:spcPts val="200"/>
              </a:spcAft>
            </a:pPr>
            <a:r>
              <a:rPr sz="1700" b="1">
                <a:solidFill>
                  <a:srgbClr val="141414"/>
                </a:solidFill>
                <a:latin typeface="Arial"/>
              </a:rPr>
              <a:t>2.  Yield</a:t>
            </a:r>
          </a:p>
          <a:p>
            <a:pPr algn="l">
              <a:spcAft>
                <a:spcPts val="200"/>
              </a:spcAft>
            </a:pPr>
            <a:r>
              <a:rPr sz="1150" b="0">
                <a:solidFill>
                  <a:srgbClr val="6B6B6B"/>
                </a:solidFill>
                <a:latin typeface="Arial"/>
              </a:rPr>
              <a:t>The share of units that pass.</a:t>
            </a:r>
          </a:p>
        </p:txBody>
      </p:sp>
      <p:sp>
        <p:nvSpPr>
          <p:cNvPr id="8" name="TextBox 7"/>
          <p:cNvSpPr txBox="1"/>
          <p:nvPr/>
        </p:nvSpPr>
        <p:spPr>
          <a:xfrm>
            <a:off x="3063240" y="2962656"/>
            <a:ext cx="4206240" cy="1188720"/>
          </a:xfrm>
          <a:prstGeom prst="rect">
            <a:avLst/>
          </a:prstGeom>
          <a:noFill/>
        </p:spPr>
        <p:txBody>
          <a:bodyPr wrap="square" lIns="0" rIns="0" tIns="0" bIns="0">
            <a:spAutoFit/>
          </a:bodyPr>
          <a:lstStyle/>
          <a:p>
            <a:pPr algn="l">
              <a:spcAft>
                <a:spcPts val="0"/>
              </a:spcAft>
            </a:pPr>
            <a:r>
              <a:rPr sz="1200" b="0">
                <a:solidFill>
                  <a:srgbClr val="141414"/>
                </a:solidFill>
                <a:latin typeface="Arial"/>
              </a:rPr>
              <a:t>First-pass yield counts units that passed on their first attempt (65.5% at MLT). Yield after retest counts units that passed eventually (74.6%). The gap between them is work done twice.</a:t>
            </a:r>
          </a:p>
        </p:txBody>
      </p:sp>
      <p:sp>
        <p:nvSpPr>
          <p:cNvPr id="9" name="TextBox 8"/>
          <p:cNvSpPr txBox="1"/>
          <p:nvPr/>
        </p:nvSpPr>
        <p:spPr>
          <a:xfrm>
            <a:off x="7543800" y="2962656"/>
            <a:ext cx="4114800" cy="1188720"/>
          </a:xfrm>
          <a:prstGeom prst="rect">
            <a:avLst/>
          </a:prstGeom>
          <a:noFill/>
        </p:spPr>
        <p:txBody>
          <a:bodyPr wrap="square" lIns="0" rIns="0" tIns="0" bIns="0">
            <a:spAutoFit/>
          </a:bodyPr>
          <a:lstStyle/>
          <a:p>
            <a:pPr algn="l">
              <a:spcAft>
                <a:spcPts val="0"/>
              </a:spcAft>
            </a:pPr>
            <a:r>
              <a:rPr sz="1200" b="1">
                <a:solidFill>
                  <a:srgbClr val="141414"/>
                </a:solidFill>
                <a:latin typeface="Arial"/>
              </a:rPr>
              <a:t>Why it matters.  </a:t>
            </a:r>
            <a:r>
              <a:rPr sz="1200" b="0">
                <a:solidFill>
                  <a:srgbClr val="141414"/>
                </a:solidFill>
                <a:latin typeface="Arial"/>
              </a:rPr>
              <a:t>It sets how many units you must start to ship one. At a rolled 35.6% through MLT and HTT, roughly three modules are started for every one that comes out clean first time.</a:t>
            </a:r>
          </a:p>
        </p:txBody>
      </p:sp>
      <p:sp>
        <p:nvSpPr>
          <p:cNvPr id="10" name="TextBox 9"/>
          <p:cNvSpPr txBox="1"/>
          <p:nvPr/>
        </p:nvSpPr>
        <p:spPr>
          <a:xfrm>
            <a:off x="566928" y="4370832"/>
            <a:ext cx="2331720" cy="1005840"/>
          </a:xfrm>
          <a:prstGeom prst="rect">
            <a:avLst/>
          </a:prstGeom>
          <a:noFill/>
        </p:spPr>
        <p:txBody>
          <a:bodyPr wrap="square" lIns="0" rIns="0" tIns="0" bIns="0">
            <a:spAutoFit/>
          </a:bodyPr>
          <a:lstStyle/>
          <a:p>
            <a:pPr algn="l">
              <a:spcAft>
                <a:spcPts val="200"/>
              </a:spcAft>
            </a:pPr>
            <a:r>
              <a:rPr sz="1700" b="1">
                <a:solidFill>
                  <a:srgbClr val="141414"/>
                </a:solidFill>
                <a:latin typeface="Arial"/>
              </a:rPr>
              <a:t>3.  Retest</a:t>
            </a:r>
          </a:p>
          <a:p>
            <a:pPr algn="l">
              <a:spcAft>
                <a:spcPts val="200"/>
              </a:spcAft>
            </a:pPr>
            <a:r>
              <a:rPr sz="1150" b="0">
                <a:solidFill>
                  <a:srgbClr val="6B6B6B"/>
                </a:solidFill>
                <a:latin typeface="Arial"/>
              </a:rPr>
              <a:t>The share of units that had to be run again.</a:t>
            </a:r>
          </a:p>
        </p:txBody>
      </p:sp>
      <p:sp>
        <p:nvSpPr>
          <p:cNvPr id="11" name="TextBox 10"/>
          <p:cNvSpPr txBox="1"/>
          <p:nvPr/>
        </p:nvSpPr>
        <p:spPr>
          <a:xfrm>
            <a:off x="3063240" y="4407408"/>
            <a:ext cx="4206240" cy="1188720"/>
          </a:xfrm>
          <a:prstGeom prst="rect">
            <a:avLst/>
          </a:prstGeom>
          <a:noFill/>
        </p:spPr>
        <p:txBody>
          <a:bodyPr wrap="square" lIns="0" rIns="0" tIns="0" bIns="0">
            <a:spAutoFit/>
          </a:bodyPr>
          <a:lstStyle/>
          <a:p>
            <a:pPr algn="l">
              <a:spcAft>
                <a:spcPts val="0"/>
              </a:spcAft>
            </a:pPr>
            <a:r>
              <a:rPr sz="1200" b="0">
                <a:solidFill>
                  <a:srgbClr val="141414"/>
                </a:solidFill>
                <a:latin typeface="Arial"/>
              </a:rPr>
              <a:t>19.7% of units at MLT and 27.6% at HTT came back for a second run — 45 and 47 units. Not the same as failures: a unit can be re-run and pass, and most are.</a:t>
            </a:r>
          </a:p>
        </p:txBody>
      </p:sp>
      <p:sp>
        <p:nvSpPr>
          <p:cNvPr id="12" name="TextBox 11"/>
          <p:cNvSpPr txBox="1"/>
          <p:nvPr/>
        </p:nvSpPr>
        <p:spPr>
          <a:xfrm>
            <a:off x="7543800" y="4407408"/>
            <a:ext cx="4114800" cy="1188720"/>
          </a:xfrm>
          <a:prstGeom prst="rect">
            <a:avLst/>
          </a:prstGeom>
          <a:noFill/>
        </p:spPr>
        <p:txBody>
          <a:bodyPr wrap="square" lIns="0" rIns="0" tIns="0" bIns="0">
            <a:spAutoFit/>
          </a:bodyPr>
          <a:lstStyle/>
          <a:p>
            <a:pPr algn="l">
              <a:spcAft>
                <a:spcPts val="0"/>
              </a:spcAft>
            </a:pPr>
            <a:r>
              <a:rPr sz="1200" b="1">
                <a:solidFill>
                  <a:srgbClr val="141414"/>
                </a:solidFill>
                <a:latin typeface="Arial"/>
              </a:rPr>
              <a:t>Why it matters.  </a:t>
            </a:r>
            <a:r>
              <a:rPr sz="1200" b="0">
                <a:solidFill>
                  <a:srgbClr val="141414"/>
                </a:solidFill>
                <a:latin typeface="Arial"/>
              </a:rPr>
              <a:t>It is where yield loss turns into capacity loss. Recovering a unit on the second try protects the shipment and costs the station time it will not get back.</a:t>
            </a:r>
          </a:p>
        </p:txBody>
      </p:sp>
      <p:sp>
        <p:nvSpPr>
          <p:cNvPr id="13" name="Rectangle 12"/>
          <p:cNvSpPr/>
          <p:nvPr/>
        </p:nvSpPr>
        <p:spPr>
          <a:xfrm>
            <a:off x="566928" y="5779008"/>
            <a:ext cx="11057839" cy="1270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5943600"/>
            <a:ext cx="11057839" cy="640080"/>
          </a:xfrm>
          <a:prstGeom prst="rect">
            <a:avLst/>
          </a:prstGeom>
          <a:noFill/>
        </p:spPr>
        <p:txBody>
          <a:bodyPr wrap="square" lIns="0" rIns="0" tIns="0" bIns="0">
            <a:spAutoFit/>
          </a:bodyPr>
          <a:lstStyle/>
          <a:p>
            <a:pPr algn="l">
              <a:spcAft>
                <a:spcPts val="0"/>
              </a:spcAft>
            </a:pPr>
            <a:r>
              <a:rPr sz="1300" b="1">
                <a:solidFill>
                  <a:srgbClr val="141414"/>
                </a:solidFill>
                <a:latin typeface="Arial"/>
              </a:rPr>
              <a:t>Why it is broken out by test step:  </a:t>
            </a:r>
            <a:r>
              <a:rPr sz="1300" b="0">
                <a:solidFill>
                  <a:srgbClr val="141414"/>
                </a:solidFill>
                <a:latin typeface="Arial"/>
              </a:rPr>
              <a:t>a line ships at the rate of its worst step, not its average — so the only useful version of these three numbers is one per step, in the order a unit travels.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85855" cy="731520"/>
          </a:xfrm>
          <a:prstGeom prst="rect">
            <a:avLst/>
          </a:prstGeom>
          <a:noFill/>
        </p:spPr>
        <p:txBody>
          <a:bodyPr wrap="square" lIns="0" rIns="0" tIns="0" bIns="0">
            <a:spAutoFit/>
          </a:bodyPr>
          <a:lstStyle/>
          <a:p>
            <a:pPr algn="l">
              <a:spcAft>
                <a:spcPts val="100"/>
              </a:spcAft>
            </a:pPr>
            <a:r>
              <a:rPr sz="2700" b="1">
                <a:solidFill>
                  <a:srgbClr val="141414"/>
                </a:solidFill>
                <a:latin typeface="Arial"/>
              </a:rPr>
              <a:t>Production test flow — yield and quantity</a:t>
            </a:r>
          </a:p>
          <a:p>
            <a:pPr algn="l">
              <a:spcAft>
                <a:spcPts val="100"/>
              </a:spcAft>
            </a:pPr>
            <a:r>
              <a:rPr sz="1250" b="0">
                <a:solidFill>
                  <a:srgbClr val="6B6B6B"/>
                </a:solidFill>
                <a:latin typeface="Arial"/>
              </a:rPr>
              <a:t>2026-W33 · 2026-08-10 to 2026-08-16, week still running · UTC · first-pass yield and units, under each step</a:t>
            </a:r>
          </a:p>
        </p:txBody>
      </p:sp>
      <p:sp>
        <p:nvSpPr>
          <p:cNvPr id="3" name="Rectangle 2"/>
          <p:cNvSpPr/>
          <p:nvPr/>
        </p:nvSpPr>
        <p:spPr>
          <a:xfrm>
            <a:off x="502920" y="1170432"/>
            <a:ext cx="11185855" cy="1397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roduction-test-flow.png"/>
          <p:cNvPicPr>
            <a:picLocks noChangeAspect="1"/>
          </p:cNvPicPr>
          <p:nvPr/>
        </p:nvPicPr>
        <p:blipFill>
          <a:blip r:embed="rId2"/>
          <a:stretch>
            <a:fillRect/>
          </a:stretch>
        </p:blipFill>
        <p:spPr>
          <a:xfrm>
            <a:off x="274320" y="1188720"/>
            <a:ext cx="9580924" cy="5303520"/>
          </a:xfrm>
          <a:prstGeom prst="rect">
            <a:avLst/>
          </a:prstGeom>
        </p:spPr>
      </p:pic>
      <p:sp>
        <p:nvSpPr>
          <p:cNvPr id="5" name="TextBox 4"/>
          <p:cNvSpPr txBox="1"/>
          <p:nvPr/>
        </p:nvSpPr>
        <p:spPr>
          <a:xfrm>
            <a:off x="643459" y="3661774"/>
            <a:ext cx="1141012" cy="219456"/>
          </a:xfrm>
          <a:prstGeom prst="rect">
            <a:avLst/>
          </a:prstGeom>
          <a:solidFill>
            <a:srgbClr val="FFFFFF"/>
          </a:solidFill>
          <a:ln w="7620">
            <a:solidFill>
              <a:srgbClr val="C8C6C0"/>
            </a:solidFill>
          </a:ln>
          <a:effectLst/>
        </p:spPr>
        <p:txBody>
          <a:bodyPr wrap="square" lIns="0" rIns="0" tIns="0" bIns="0">
            <a:spAutoFit/>
          </a:bodyPr>
          <a:lstStyle/>
          <a:p>
            <a:pPr algn="ctr">
              <a:spcAft>
                <a:spcPts val="0"/>
              </a:spcAft>
            </a:pPr>
            <a:r>
              <a:rPr sz="1100" b="1">
                <a:solidFill>
                  <a:srgbClr val="B3281E"/>
                </a:solidFill>
                <a:latin typeface="Arial"/>
              </a:rPr>
              <a:t>35.3%</a:t>
            </a:r>
            <a:r>
              <a:rPr sz="800" b="0">
                <a:solidFill>
                  <a:srgbClr val="6B6B6B"/>
                </a:solidFill>
                <a:latin typeface="Arial"/>
              </a:rPr>
              <a:t>  reported</a:t>
            </a:r>
          </a:p>
        </p:txBody>
      </p:sp>
      <p:sp>
        <p:nvSpPr>
          <p:cNvPr id="6" name="TextBox 5"/>
          <p:cNvSpPr txBox="1"/>
          <p:nvPr/>
        </p:nvSpPr>
        <p:spPr>
          <a:xfrm>
            <a:off x="643459" y="4393890"/>
            <a:ext cx="1141012" cy="219456"/>
          </a:xfrm>
          <a:prstGeom prst="rect">
            <a:avLst/>
          </a:prstGeom>
          <a:solidFill>
            <a:srgbClr val="FFFFFF"/>
          </a:solidFill>
          <a:ln w="7620">
            <a:solidFill>
              <a:srgbClr val="C8C6C0"/>
            </a:solidFill>
          </a:ln>
          <a:effectLst/>
        </p:spPr>
        <p:txBody>
          <a:bodyPr wrap="square" lIns="0" rIns="0" tIns="0" bIns="0">
            <a:spAutoFit/>
          </a:bodyPr>
          <a:lstStyle/>
          <a:p>
            <a:pPr algn="ctr">
              <a:spcAft>
                <a:spcPts val="0"/>
              </a:spcAft>
            </a:pPr>
            <a:r>
              <a:rPr sz="1100" b="1">
                <a:solidFill>
                  <a:srgbClr val="B56B00"/>
                </a:solidFill>
                <a:latin typeface="Arial"/>
              </a:rPr>
              <a:t>84.3%</a:t>
            </a:r>
            <a:r>
              <a:rPr sz="800" b="0">
                <a:solidFill>
                  <a:srgbClr val="6B6B6B"/>
                </a:solidFill>
                <a:latin typeface="Arial"/>
              </a:rPr>
              <a:t>  reported</a:t>
            </a:r>
          </a:p>
        </p:txBody>
      </p:sp>
      <p:sp>
        <p:nvSpPr>
          <p:cNvPr id="7" name="TextBox 6"/>
          <p:cNvSpPr txBox="1"/>
          <p:nvPr/>
        </p:nvSpPr>
        <p:spPr>
          <a:xfrm>
            <a:off x="626165" y="5120242"/>
            <a:ext cx="1141012" cy="219456"/>
          </a:xfrm>
          <a:prstGeom prst="rect">
            <a:avLst/>
          </a:prstGeom>
          <a:solidFill>
            <a:srgbClr val="FFFFFF"/>
          </a:solidFill>
          <a:ln w="7620">
            <a:solidFill>
              <a:srgbClr val="C8C6C0"/>
            </a:solidFill>
          </a:ln>
          <a:effectLst/>
        </p:spPr>
        <p:txBody>
          <a:bodyPr wrap="square" lIns="0" rIns="0" tIns="0" bIns="0">
            <a:spAutoFit/>
          </a:bodyPr>
          <a:lstStyle/>
          <a:p>
            <a:pPr algn="ctr">
              <a:spcAft>
                <a:spcPts val="0"/>
              </a:spcAft>
            </a:pPr>
            <a:r>
              <a:rPr sz="800" b="0">
                <a:solidFill>
                  <a:srgbClr val="6B6B6B"/>
                </a:solidFill>
                <a:latin typeface="Arial"/>
              </a:rPr>
              <a:t>at Sigurd — not collected here</a:t>
            </a:r>
          </a:p>
        </p:txBody>
      </p:sp>
      <p:sp>
        <p:nvSpPr>
          <p:cNvPr id="8" name="TextBox 7"/>
          <p:cNvSpPr txBox="1"/>
          <p:nvPr/>
        </p:nvSpPr>
        <p:spPr>
          <a:xfrm>
            <a:off x="2949337" y="4111420"/>
            <a:ext cx="1141012" cy="219456"/>
          </a:xfrm>
          <a:prstGeom prst="rect">
            <a:avLst/>
          </a:prstGeom>
          <a:solidFill>
            <a:srgbClr val="FFFFFF"/>
          </a:solidFill>
          <a:ln w="7620">
            <a:solidFill>
              <a:srgbClr val="C8C6C0"/>
            </a:solidFill>
          </a:ln>
          <a:effectLst/>
        </p:spPr>
        <p:txBody>
          <a:bodyPr wrap="square" lIns="0" rIns="0" tIns="0" bIns="0">
            <a:spAutoFit/>
          </a:bodyPr>
          <a:lstStyle/>
          <a:p>
            <a:pPr algn="ctr">
              <a:spcAft>
                <a:spcPts val="0"/>
              </a:spcAft>
            </a:pPr>
            <a:r>
              <a:rPr sz="1200" b="1">
                <a:solidFill>
                  <a:srgbClr val="B56B00"/>
                </a:solidFill>
                <a:latin typeface="Arial"/>
              </a:rPr>
              <a:t>65.5%</a:t>
            </a:r>
            <a:r>
              <a:rPr sz="850" b="0">
                <a:solidFill>
                  <a:srgbClr val="6B6B6B"/>
                </a:solidFill>
                <a:latin typeface="Arial"/>
              </a:rPr>
              <a:t>  228 units</a:t>
            </a:r>
          </a:p>
        </p:txBody>
      </p:sp>
      <p:sp>
        <p:nvSpPr>
          <p:cNvPr id="9" name="TextBox 8"/>
          <p:cNvSpPr txBox="1"/>
          <p:nvPr/>
        </p:nvSpPr>
        <p:spPr>
          <a:xfrm>
            <a:off x="2949337" y="3385069"/>
            <a:ext cx="1141012" cy="219456"/>
          </a:xfrm>
          <a:prstGeom prst="rect">
            <a:avLst/>
          </a:prstGeom>
          <a:solidFill>
            <a:srgbClr val="FFFFFF"/>
          </a:solidFill>
          <a:ln w="7620">
            <a:solidFill>
              <a:srgbClr val="C8C6C0"/>
            </a:solidFill>
          </a:ln>
          <a:effectLst/>
        </p:spPr>
        <p:txBody>
          <a:bodyPr wrap="square" lIns="0" rIns="0" tIns="0" bIns="0">
            <a:spAutoFit/>
          </a:bodyPr>
          <a:lstStyle/>
          <a:p>
            <a:pPr algn="ctr">
              <a:spcAft>
                <a:spcPts val="0"/>
              </a:spcAft>
            </a:pPr>
            <a:r>
              <a:rPr sz="1200" b="1">
                <a:solidFill>
                  <a:srgbClr val="B3281E"/>
                </a:solidFill>
                <a:latin typeface="Arial"/>
              </a:rPr>
              <a:t>54.3%</a:t>
            </a:r>
            <a:r>
              <a:rPr sz="850" b="0">
                <a:solidFill>
                  <a:srgbClr val="6B6B6B"/>
                </a:solidFill>
                <a:latin typeface="Arial"/>
              </a:rPr>
              <a:t>  170 units</a:t>
            </a:r>
          </a:p>
        </p:txBody>
      </p:sp>
      <p:sp>
        <p:nvSpPr>
          <p:cNvPr id="10" name="TextBox 9"/>
          <p:cNvSpPr txBox="1"/>
          <p:nvPr/>
        </p:nvSpPr>
        <p:spPr>
          <a:xfrm>
            <a:off x="1980868" y="5391183"/>
            <a:ext cx="973836" cy="219456"/>
          </a:xfrm>
          <a:prstGeom prst="rect">
            <a:avLst/>
          </a:prstGeom>
          <a:solidFill>
            <a:srgbClr val="FFFFFF"/>
          </a:solidFill>
          <a:ln w="7620">
            <a:solidFill>
              <a:srgbClr val="C8C6C0"/>
            </a:solidFill>
          </a:ln>
          <a:effectLst/>
        </p:spPr>
        <p:txBody>
          <a:bodyPr wrap="square" lIns="0" rIns="0" tIns="0" bIns="0">
            <a:spAutoFit/>
          </a:bodyPr>
          <a:lstStyle/>
          <a:p>
            <a:pPr algn="ctr">
              <a:spcAft>
                <a:spcPts val="0"/>
              </a:spcAft>
            </a:pPr>
            <a:r>
              <a:rPr sz="800" b="0">
                <a:solidFill>
                  <a:srgbClr val="6B6B6B"/>
                </a:solidFill>
                <a:latin typeface="Arial"/>
              </a:rPr>
              <a:t>VBB — outside the yield view</a:t>
            </a:r>
          </a:p>
        </p:txBody>
      </p:sp>
      <p:sp>
        <p:nvSpPr>
          <p:cNvPr id="11" name="TextBox 10"/>
          <p:cNvSpPr txBox="1"/>
          <p:nvPr/>
        </p:nvSpPr>
        <p:spPr>
          <a:xfrm>
            <a:off x="6275566" y="3667539"/>
            <a:ext cx="1141012" cy="219456"/>
          </a:xfrm>
          <a:prstGeom prst="rect">
            <a:avLst/>
          </a:prstGeom>
          <a:solidFill>
            <a:srgbClr val="FFFFFF"/>
          </a:solidFill>
          <a:ln w="7620">
            <a:solidFill>
              <a:srgbClr val="C8C6C0"/>
            </a:solidFill>
          </a:ln>
          <a:effectLst/>
        </p:spPr>
        <p:txBody>
          <a:bodyPr wrap="square" lIns="0" rIns="0" tIns="0" bIns="0">
            <a:spAutoFit/>
          </a:bodyPr>
          <a:lstStyle/>
          <a:p>
            <a:pPr algn="ctr">
              <a:spcAft>
                <a:spcPts val="0"/>
              </a:spcAft>
            </a:pPr>
            <a:r>
              <a:rPr sz="1000" b="1">
                <a:solidFill>
                  <a:srgbClr val="141414"/>
                </a:solidFill>
                <a:latin typeface="Arial"/>
              </a:rPr>
              <a:t>FAT 2u · SFT 1u</a:t>
            </a:r>
            <a:r>
              <a:rPr sz="800" b="0">
                <a:solidFill>
                  <a:srgbClr val="6B6B6B"/>
                </a:solidFill>
                <a:latin typeface="Arial"/>
              </a:rPr>
              <a:t>  quantity only</a:t>
            </a:r>
          </a:p>
        </p:txBody>
      </p:sp>
      <p:sp>
        <p:nvSpPr>
          <p:cNvPr id="12" name="TextBox 11"/>
          <p:cNvSpPr txBox="1"/>
          <p:nvPr/>
        </p:nvSpPr>
        <p:spPr>
          <a:xfrm>
            <a:off x="6275566" y="4468831"/>
            <a:ext cx="1141012" cy="219456"/>
          </a:xfrm>
          <a:prstGeom prst="rect">
            <a:avLst/>
          </a:prstGeom>
          <a:solidFill>
            <a:srgbClr val="FFFFFF"/>
          </a:solidFill>
          <a:ln w="7620">
            <a:solidFill>
              <a:srgbClr val="C8C6C0"/>
            </a:solidFill>
          </a:ln>
          <a:effectLst/>
        </p:spPr>
        <p:txBody>
          <a:bodyPr wrap="square" lIns="0" rIns="0" tIns="0" bIns="0">
            <a:spAutoFit/>
          </a:bodyPr>
          <a:lstStyle/>
          <a:p>
            <a:pPr algn="ctr">
              <a:spcAft>
                <a:spcPts val="0"/>
              </a:spcAft>
            </a:pPr>
            <a:r>
              <a:rPr sz="1000" b="1">
                <a:solidFill>
                  <a:srgbClr val="141414"/>
                </a:solidFill>
                <a:latin typeface="Arial"/>
              </a:rPr>
              <a:t>3 units</a:t>
            </a:r>
            <a:r>
              <a:rPr sz="800" b="0">
                <a:solidFill>
                  <a:srgbClr val="6B6B6B"/>
                </a:solidFill>
                <a:latin typeface="Arial"/>
              </a:rPr>
              <a:t>  quantity only</a:t>
            </a:r>
          </a:p>
        </p:txBody>
      </p:sp>
      <p:sp>
        <p:nvSpPr>
          <p:cNvPr id="13" name="TextBox 12"/>
          <p:cNvSpPr txBox="1"/>
          <p:nvPr/>
        </p:nvSpPr>
        <p:spPr>
          <a:xfrm>
            <a:off x="7336270" y="3667539"/>
            <a:ext cx="1141012" cy="219456"/>
          </a:xfrm>
          <a:prstGeom prst="rect">
            <a:avLst/>
          </a:prstGeom>
          <a:solidFill>
            <a:srgbClr val="FFFFFF"/>
          </a:solidFill>
          <a:ln w="7620">
            <a:solidFill>
              <a:srgbClr val="C8C6C0"/>
            </a:solidFill>
          </a:ln>
          <a:effectLst/>
        </p:spPr>
        <p:txBody>
          <a:bodyPr wrap="square" lIns="0" rIns="0" tIns="0" bIns="0">
            <a:spAutoFit/>
          </a:bodyPr>
          <a:lstStyle/>
          <a:p>
            <a:pPr algn="ctr">
              <a:spcAft>
                <a:spcPts val="0"/>
              </a:spcAft>
            </a:pPr>
            <a:r>
              <a:rPr sz="1000" b="1">
                <a:solidFill>
                  <a:srgbClr val="141414"/>
                </a:solidFill>
                <a:latin typeface="Arial"/>
              </a:rPr>
              <a:t>1 unit</a:t>
            </a:r>
            <a:r>
              <a:rPr sz="800" b="0">
                <a:solidFill>
                  <a:srgbClr val="6B6B6B"/>
                </a:solidFill>
                <a:latin typeface="Arial"/>
              </a:rPr>
              <a:t>  quantity only</a:t>
            </a:r>
          </a:p>
        </p:txBody>
      </p:sp>
      <p:sp>
        <p:nvSpPr>
          <p:cNvPr id="14" name="TextBox 13"/>
          <p:cNvSpPr txBox="1"/>
          <p:nvPr/>
        </p:nvSpPr>
        <p:spPr>
          <a:xfrm>
            <a:off x="8443092" y="4520714"/>
            <a:ext cx="1141012" cy="219456"/>
          </a:xfrm>
          <a:prstGeom prst="rect">
            <a:avLst/>
          </a:prstGeom>
          <a:solidFill>
            <a:srgbClr val="FFFFFF"/>
          </a:solidFill>
          <a:ln w="7620">
            <a:solidFill>
              <a:srgbClr val="C8C6C0"/>
            </a:solidFill>
          </a:ln>
          <a:effectLst/>
        </p:spPr>
        <p:txBody>
          <a:bodyPr wrap="square" lIns="0" rIns="0" tIns="0" bIns="0">
            <a:spAutoFit/>
          </a:bodyPr>
          <a:lstStyle/>
          <a:p>
            <a:pPr algn="ctr">
              <a:spcAft>
                <a:spcPts val="0"/>
              </a:spcAft>
            </a:pPr>
            <a:r>
              <a:rPr sz="1000" b="1">
                <a:solidFill>
                  <a:srgbClr val="141414"/>
                </a:solidFill>
                <a:latin typeface="Arial"/>
              </a:rPr>
              <a:t>2 units</a:t>
            </a:r>
            <a:r>
              <a:rPr sz="800" b="0">
                <a:solidFill>
                  <a:srgbClr val="6B6B6B"/>
                </a:solidFill>
                <a:latin typeface="Arial"/>
              </a:rPr>
              <a:t>  quantity only</a:t>
            </a:r>
          </a:p>
        </p:txBody>
      </p:sp>
      <p:sp>
        <p:nvSpPr>
          <p:cNvPr id="15" name="TextBox 14"/>
          <p:cNvSpPr txBox="1"/>
          <p:nvPr/>
        </p:nvSpPr>
        <p:spPr>
          <a:xfrm>
            <a:off x="8443092" y="5379653"/>
            <a:ext cx="1141012" cy="219456"/>
          </a:xfrm>
          <a:prstGeom prst="rect">
            <a:avLst/>
          </a:prstGeom>
          <a:solidFill>
            <a:srgbClr val="FFFFFF"/>
          </a:solidFill>
          <a:ln w="7620">
            <a:solidFill>
              <a:srgbClr val="C8C6C0"/>
            </a:solidFill>
          </a:ln>
          <a:effectLst/>
        </p:spPr>
        <p:txBody>
          <a:bodyPr wrap="square" lIns="0" rIns="0" tIns="0" bIns="0">
            <a:spAutoFit/>
          </a:bodyPr>
          <a:lstStyle/>
          <a:p>
            <a:pPr algn="ctr">
              <a:spcAft>
                <a:spcPts val="0"/>
              </a:spcAft>
            </a:pPr>
            <a:r>
              <a:rPr sz="800" b="0">
                <a:solidFill>
                  <a:srgbClr val="6B6B6B"/>
                </a:solidFill>
                <a:latin typeface="Arial"/>
              </a:rPr>
              <a:t>counted with FAT / SFT</a:t>
            </a:r>
          </a:p>
        </p:txBody>
      </p:sp>
      <p:sp>
        <p:nvSpPr>
          <p:cNvPr id="16" name="TextBox 15"/>
          <p:cNvSpPr txBox="1"/>
          <p:nvPr/>
        </p:nvSpPr>
        <p:spPr>
          <a:xfrm>
            <a:off x="10001548" y="1298448"/>
            <a:ext cx="2011680" cy="914400"/>
          </a:xfrm>
          <a:prstGeom prst="rect">
            <a:avLst/>
          </a:prstGeom>
          <a:noFill/>
        </p:spPr>
        <p:txBody>
          <a:bodyPr wrap="square" lIns="0" rIns="0" tIns="0" bIns="0">
            <a:spAutoFit/>
          </a:bodyPr>
          <a:lstStyle/>
          <a:p>
            <a:pPr algn="l">
              <a:spcAft>
                <a:spcPts val="100"/>
              </a:spcAft>
            </a:pPr>
            <a:r>
              <a:rPr sz="1000" b="0">
                <a:solidFill>
                  <a:srgbClr val="6B6B6B"/>
                </a:solidFill>
                <a:latin typeface="Arial"/>
              </a:rPr>
              <a:t>Rolled first-pass</a:t>
            </a:r>
          </a:p>
          <a:p>
            <a:pPr algn="l">
              <a:spcAft>
                <a:spcPts val="100"/>
              </a:spcAft>
            </a:pPr>
            <a:r>
              <a:rPr sz="2600" b="1">
                <a:solidFill>
                  <a:srgbClr val="1C62B8"/>
                </a:solidFill>
                <a:latin typeface="Arial"/>
              </a:rPr>
              <a:t>35.6%</a:t>
            </a:r>
          </a:p>
          <a:p>
            <a:pPr algn="l">
              <a:spcAft>
                <a:spcPts val="100"/>
              </a:spcAft>
            </a:pPr>
            <a:r>
              <a:rPr sz="900" b="0">
                <a:solidFill>
                  <a:srgbClr val="6B6B6B"/>
                </a:solidFill>
                <a:latin typeface="Arial"/>
              </a:rPr>
              <a:t>MLT × HTT</a:t>
            </a:r>
          </a:p>
        </p:txBody>
      </p:sp>
      <p:sp>
        <p:nvSpPr>
          <p:cNvPr id="17" name="TextBox 16"/>
          <p:cNvSpPr txBox="1"/>
          <p:nvPr/>
        </p:nvSpPr>
        <p:spPr>
          <a:xfrm>
            <a:off x="10001548" y="2487168"/>
            <a:ext cx="2011680" cy="914400"/>
          </a:xfrm>
          <a:prstGeom prst="rect">
            <a:avLst/>
          </a:prstGeom>
          <a:noFill/>
        </p:spPr>
        <p:txBody>
          <a:bodyPr wrap="square" lIns="0" rIns="0" tIns="0" bIns="0">
            <a:spAutoFit/>
          </a:bodyPr>
          <a:lstStyle/>
          <a:p>
            <a:pPr algn="l">
              <a:spcAft>
                <a:spcPts val="100"/>
              </a:spcAft>
            </a:pPr>
            <a:r>
              <a:rPr sz="1000" b="0">
                <a:solidFill>
                  <a:srgbClr val="6B6B6B"/>
                </a:solidFill>
                <a:latin typeface="Arial"/>
              </a:rPr>
              <a:t>Through the line</a:t>
            </a:r>
          </a:p>
          <a:p>
            <a:pPr algn="l">
              <a:spcAft>
                <a:spcPts val="100"/>
              </a:spcAft>
            </a:pPr>
            <a:r>
              <a:rPr sz="1800" b="1">
                <a:solidFill>
                  <a:srgbClr val="141414"/>
                </a:solidFill>
                <a:latin typeface="Arial"/>
              </a:rPr>
              <a:t>407 units</a:t>
            </a:r>
          </a:p>
          <a:p>
            <a:pPr algn="l">
              <a:spcAft>
                <a:spcPts val="100"/>
              </a:spcAft>
            </a:pPr>
            <a:r>
              <a:rPr sz="900" b="0">
                <a:solidFill>
                  <a:srgbClr val="6B6B6B"/>
                </a:solidFill>
                <a:latin typeface="Arial"/>
              </a:rPr>
              <a:t>573 runs across 7 steps</a:t>
            </a:r>
          </a:p>
        </p:txBody>
      </p:sp>
      <p:sp>
        <p:nvSpPr>
          <p:cNvPr id="18" name="TextBox 17"/>
          <p:cNvSpPr txBox="1"/>
          <p:nvPr/>
        </p:nvSpPr>
        <p:spPr>
          <a:xfrm>
            <a:off x="10001548" y="3520440"/>
            <a:ext cx="2011680" cy="2651760"/>
          </a:xfrm>
          <a:prstGeom prst="rect">
            <a:avLst/>
          </a:prstGeom>
          <a:noFill/>
        </p:spPr>
        <p:txBody>
          <a:bodyPr wrap="square" lIns="0" rIns="0" tIns="0" bIns="0">
            <a:spAutoFit/>
          </a:bodyPr>
          <a:lstStyle/>
          <a:p>
            <a:pPr algn="l">
              <a:spcAft>
                <a:spcPts val="500"/>
              </a:spcAft>
            </a:pPr>
            <a:r>
              <a:rPr sz="1000" b="1">
                <a:solidFill>
                  <a:srgbClr val="6B6B6B"/>
                </a:solidFill>
                <a:latin typeface="Arial"/>
              </a:rPr>
              <a:t>Reading the numbers</a:t>
            </a:r>
          </a:p>
          <a:p>
            <a:pPr algn="l">
              <a:spcAft>
                <a:spcPts val="500"/>
              </a:spcAft>
            </a:pPr>
            <a:r>
              <a:rPr sz="850" b="0">
                <a:solidFill>
                  <a:srgbClr val="141414"/>
                </a:solidFill>
                <a:latin typeface="Arial"/>
              </a:rPr>
              <a:t>A percentage is a first-pass yield: units that passed at their first attempt that week.</a:t>
            </a:r>
          </a:p>
          <a:p>
            <a:pPr algn="l">
              <a:spcAft>
                <a:spcPts val="500"/>
              </a:spcAft>
            </a:pPr>
            <a:r>
              <a:rPr sz="850" b="0">
                <a:solidFill>
                  <a:srgbClr val="141414"/>
                </a:solidFill>
                <a:latin typeface="Arial"/>
              </a:rPr>
              <a:t>A count means no yield is reported. L10 FAT, L10 SFT, L10 RIN, L10 2U, L11 Test are chassis and rack level and in bring-up — a percentage over three units swings 33 points on one of them.</a:t>
            </a:r>
          </a:p>
          <a:p>
            <a:pPr algn="l">
              <a:spcAft>
                <a:spcPts val="500"/>
              </a:spcAft>
            </a:pPr>
            <a:r>
              <a:rPr sz="850" b="0">
                <a:solidFill>
                  <a:srgbClr val="141414"/>
                </a:solidFill>
                <a:latin typeface="Arial"/>
              </a:rPr>
              <a:t>WST and FT are reported by Sigurd. VBB is drawn for the flow and left out of the yield view.</a:t>
            </a:r>
          </a:p>
          <a:p>
            <a:pPr algn="l">
              <a:spcAft>
                <a:spcPts val="500"/>
              </a:spcAft>
            </a:pPr>
            <a:r>
              <a:rPr sz="800" b="0">
                <a:solidFill>
                  <a:srgbClr val="6B6B6B"/>
                </a:solidFill>
                <a:latin typeface="Arial"/>
              </a:rPr>
              <a:t>Source: pega2 – pega5 (ESVM), one row per unit.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85855" cy="731520"/>
          </a:xfrm>
          <a:prstGeom prst="rect">
            <a:avLst/>
          </a:prstGeom>
          <a:noFill/>
        </p:spPr>
        <p:txBody>
          <a:bodyPr wrap="square" lIns="0" rIns="0" tIns="0" bIns="0">
            <a:spAutoFit/>
          </a:bodyPr>
          <a:lstStyle/>
          <a:p>
            <a:pPr algn="l">
              <a:spcAft>
                <a:spcPts val="100"/>
              </a:spcAft>
            </a:pPr>
            <a:r>
              <a:rPr sz="2700" b="1">
                <a:solidFill>
                  <a:srgbClr val="141414"/>
                </a:solidFill>
                <a:latin typeface="Arial"/>
              </a:rPr>
              <a:t>Every step, with the retest rate</a:t>
            </a:r>
          </a:p>
          <a:p>
            <a:pPr algn="l">
              <a:spcAft>
                <a:spcPts val="100"/>
              </a:spcAft>
            </a:pPr>
            <a:r>
              <a:rPr sz="1250" b="0">
                <a:solidFill>
                  <a:srgbClr val="6B6B6B"/>
                </a:solidFill>
                <a:latin typeface="Arial"/>
              </a:rPr>
              <a:t>2026-W33 · retest rate is the share of units that had to be run again</a:t>
            </a:r>
          </a:p>
        </p:txBody>
      </p:sp>
      <p:sp>
        <p:nvSpPr>
          <p:cNvPr id="3" name="Rectangle 2"/>
          <p:cNvSpPr/>
          <p:nvPr/>
        </p:nvSpPr>
        <p:spPr>
          <a:xfrm>
            <a:off x="502920" y="1170432"/>
            <a:ext cx="11185855" cy="1397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17320"/>
            <a:ext cx="2194560" cy="274320"/>
          </a:xfrm>
          <a:prstGeom prst="rect">
            <a:avLst/>
          </a:prstGeom>
          <a:noFill/>
        </p:spPr>
        <p:txBody>
          <a:bodyPr wrap="square" lIns="0" rIns="0" tIns="0" bIns="0">
            <a:spAutoFit/>
          </a:bodyPr>
          <a:lstStyle/>
          <a:p>
            <a:pPr algn="l">
              <a:spcAft>
                <a:spcPts val="300"/>
              </a:spcAft>
            </a:pPr>
            <a:r>
              <a:rPr sz="1050" b="1">
                <a:solidFill>
                  <a:srgbClr val="6B6B6B"/>
                </a:solidFill>
                <a:latin typeface="Arial"/>
              </a:rPr>
              <a:t>Test step</a:t>
            </a:r>
          </a:p>
        </p:txBody>
      </p:sp>
      <p:sp>
        <p:nvSpPr>
          <p:cNvPr id="5" name="TextBox 4"/>
          <p:cNvSpPr txBox="1"/>
          <p:nvPr/>
        </p:nvSpPr>
        <p:spPr>
          <a:xfrm>
            <a:off x="2788920" y="1417320"/>
            <a:ext cx="914400" cy="274320"/>
          </a:xfrm>
          <a:prstGeom prst="rect">
            <a:avLst/>
          </a:prstGeom>
          <a:noFill/>
        </p:spPr>
        <p:txBody>
          <a:bodyPr wrap="square" lIns="0" rIns="0" tIns="0" bIns="0">
            <a:spAutoFit/>
          </a:bodyPr>
          <a:lstStyle/>
          <a:p>
            <a:pPr algn="l">
              <a:spcAft>
                <a:spcPts val="300"/>
              </a:spcAft>
            </a:pPr>
            <a:r>
              <a:rPr sz="1050" b="1">
                <a:solidFill>
                  <a:srgbClr val="6B6B6B"/>
                </a:solidFill>
                <a:latin typeface="Arial"/>
              </a:rPr>
              <a:t>Units</a:t>
            </a:r>
          </a:p>
        </p:txBody>
      </p:sp>
      <p:sp>
        <p:nvSpPr>
          <p:cNvPr id="6" name="TextBox 5"/>
          <p:cNvSpPr txBox="1"/>
          <p:nvPr/>
        </p:nvSpPr>
        <p:spPr>
          <a:xfrm>
            <a:off x="3794760" y="1417320"/>
            <a:ext cx="1005840" cy="274320"/>
          </a:xfrm>
          <a:prstGeom prst="rect">
            <a:avLst/>
          </a:prstGeom>
          <a:noFill/>
        </p:spPr>
        <p:txBody>
          <a:bodyPr wrap="square" lIns="0" rIns="0" tIns="0" bIns="0">
            <a:spAutoFit/>
          </a:bodyPr>
          <a:lstStyle/>
          <a:p>
            <a:pPr algn="l">
              <a:spcAft>
                <a:spcPts val="300"/>
              </a:spcAft>
            </a:pPr>
            <a:r>
              <a:rPr sz="1050" b="1">
                <a:solidFill>
                  <a:srgbClr val="6B6B6B"/>
                </a:solidFill>
                <a:latin typeface="Arial"/>
              </a:rPr>
              <a:t>Runs</a:t>
            </a:r>
          </a:p>
        </p:txBody>
      </p:sp>
      <p:sp>
        <p:nvSpPr>
          <p:cNvPr id="7" name="TextBox 6"/>
          <p:cNvSpPr txBox="1"/>
          <p:nvPr/>
        </p:nvSpPr>
        <p:spPr>
          <a:xfrm>
            <a:off x="4892040" y="1417320"/>
            <a:ext cx="1371600" cy="274320"/>
          </a:xfrm>
          <a:prstGeom prst="rect">
            <a:avLst/>
          </a:prstGeom>
          <a:noFill/>
        </p:spPr>
        <p:txBody>
          <a:bodyPr wrap="square" lIns="0" rIns="0" tIns="0" bIns="0">
            <a:spAutoFit/>
          </a:bodyPr>
          <a:lstStyle/>
          <a:p>
            <a:pPr algn="l">
              <a:spcAft>
                <a:spcPts val="300"/>
              </a:spcAft>
            </a:pPr>
            <a:r>
              <a:rPr sz="1050" b="1">
                <a:solidFill>
                  <a:srgbClr val="6B6B6B"/>
                </a:solidFill>
                <a:latin typeface="Arial"/>
              </a:rPr>
              <a:t>First pass</a:t>
            </a:r>
          </a:p>
        </p:txBody>
      </p:sp>
      <p:sp>
        <p:nvSpPr>
          <p:cNvPr id="8" name="TextBox 7"/>
          <p:cNvSpPr txBox="1"/>
          <p:nvPr/>
        </p:nvSpPr>
        <p:spPr>
          <a:xfrm>
            <a:off x="6400800" y="1417320"/>
            <a:ext cx="1463040" cy="274320"/>
          </a:xfrm>
          <a:prstGeom prst="rect">
            <a:avLst/>
          </a:prstGeom>
          <a:noFill/>
        </p:spPr>
        <p:txBody>
          <a:bodyPr wrap="square" lIns="0" rIns="0" tIns="0" bIns="0">
            <a:spAutoFit/>
          </a:bodyPr>
          <a:lstStyle/>
          <a:p>
            <a:pPr algn="l">
              <a:spcAft>
                <a:spcPts val="300"/>
              </a:spcAft>
            </a:pPr>
            <a:r>
              <a:rPr sz="1050" b="1">
                <a:solidFill>
                  <a:srgbClr val="6B6B6B"/>
                </a:solidFill>
                <a:latin typeface="Arial"/>
              </a:rPr>
              <a:t>After retest</a:t>
            </a:r>
          </a:p>
        </p:txBody>
      </p:sp>
      <p:sp>
        <p:nvSpPr>
          <p:cNvPr id="9" name="TextBox 8"/>
          <p:cNvSpPr txBox="1"/>
          <p:nvPr/>
        </p:nvSpPr>
        <p:spPr>
          <a:xfrm>
            <a:off x="8001000" y="1417320"/>
            <a:ext cx="1691640" cy="274320"/>
          </a:xfrm>
          <a:prstGeom prst="rect">
            <a:avLst/>
          </a:prstGeom>
          <a:noFill/>
        </p:spPr>
        <p:txBody>
          <a:bodyPr wrap="square" lIns="0" rIns="0" tIns="0" bIns="0">
            <a:spAutoFit/>
          </a:bodyPr>
          <a:lstStyle/>
          <a:p>
            <a:pPr algn="l">
              <a:spcAft>
                <a:spcPts val="300"/>
              </a:spcAft>
            </a:pPr>
            <a:r>
              <a:rPr sz="1050" b="1">
                <a:solidFill>
                  <a:srgbClr val="6B6B6B"/>
                </a:solidFill>
                <a:latin typeface="Arial"/>
              </a:rPr>
              <a:t>Retest rate</a:t>
            </a:r>
          </a:p>
        </p:txBody>
      </p:sp>
      <p:sp>
        <p:nvSpPr>
          <p:cNvPr id="10" name="TextBox 9"/>
          <p:cNvSpPr txBox="1"/>
          <p:nvPr/>
        </p:nvSpPr>
        <p:spPr>
          <a:xfrm>
            <a:off x="9784080" y="1417320"/>
            <a:ext cx="1920240" cy="274320"/>
          </a:xfrm>
          <a:prstGeom prst="rect">
            <a:avLst/>
          </a:prstGeom>
          <a:noFill/>
        </p:spPr>
        <p:txBody>
          <a:bodyPr wrap="square" lIns="0" rIns="0" tIns="0" bIns="0">
            <a:spAutoFit/>
          </a:bodyPr>
          <a:lstStyle/>
          <a:p>
            <a:pPr algn="l">
              <a:spcAft>
                <a:spcPts val="300"/>
              </a:spcAft>
            </a:pPr>
            <a:r>
              <a:rPr sz="1050" b="1">
                <a:solidFill>
                  <a:srgbClr val="6B6B6B"/>
                </a:solidFill>
                <a:latin typeface="Arial"/>
              </a:rPr>
              <a:t>Top failure</a:t>
            </a:r>
          </a:p>
        </p:txBody>
      </p:sp>
      <p:sp>
        <p:nvSpPr>
          <p:cNvPr id="11" name="TextBox 10"/>
          <p:cNvSpPr txBox="1"/>
          <p:nvPr/>
        </p:nvSpPr>
        <p:spPr>
          <a:xfrm>
            <a:off x="502920" y="1783080"/>
            <a:ext cx="2194560" cy="365760"/>
          </a:xfrm>
          <a:prstGeom prst="rect">
            <a:avLst/>
          </a:prstGeom>
          <a:noFill/>
        </p:spPr>
        <p:txBody>
          <a:bodyPr wrap="square" lIns="0" rIns="0" tIns="0" bIns="0">
            <a:spAutoFit/>
          </a:bodyPr>
          <a:lstStyle/>
          <a:p>
            <a:pPr algn="l">
              <a:spcAft>
                <a:spcPts val="300"/>
              </a:spcAft>
            </a:pPr>
            <a:r>
              <a:rPr sz="1300" b="1">
                <a:solidFill>
                  <a:srgbClr val="141414"/>
                </a:solidFill>
                <a:latin typeface="Arial"/>
              </a:rPr>
              <a:t>WST</a:t>
            </a:r>
            <a:r>
              <a:rPr sz="900" b="0">
                <a:solidFill>
                  <a:srgbClr val="6B6B6B"/>
                </a:solidFill>
                <a:latin typeface="Arial"/>
              </a:rPr>
              <a:t>  reported</a:t>
            </a:r>
          </a:p>
        </p:txBody>
      </p:sp>
      <p:sp>
        <p:nvSpPr>
          <p:cNvPr id="12" name="TextBox 11"/>
          <p:cNvSpPr txBox="1"/>
          <p:nvPr/>
        </p:nvSpPr>
        <p:spPr>
          <a:xfrm>
            <a:off x="4892040" y="1783080"/>
            <a:ext cx="1371600" cy="274320"/>
          </a:xfrm>
          <a:prstGeom prst="rect">
            <a:avLst/>
          </a:prstGeom>
          <a:noFill/>
        </p:spPr>
        <p:txBody>
          <a:bodyPr wrap="square" lIns="0" rIns="0" tIns="0" bIns="0">
            <a:spAutoFit/>
          </a:bodyPr>
          <a:lstStyle/>
          <a:p>
            <a:pPr algn="l">
              <a:spcAft>
                <a:spcPts val="300"/>
              </a:spcAft>
            </a:pPr>
            <a:r>
              <a:rPr sz="1400" b="1">
                <a:solidFill>
                  <a:srgbClr val="B3281E"/>
                </a:solidFill>
                <a:latin typeface="Arial"/>
              </a:rPr>
              <a:t>35.3%</a:t>
            </a:r>
          </a:p>
        </p:txBody>
      </p:sp>
      <p:sp>
        <p:nvSpPr>
          <p:cNvPr id="13" name="TextBox 12"/>
          <p:cNvSpPr txBox="1"/>
          <p:nvPr/>
        </p:nvSpPr>
        <p:spPr>
          <a:xfrm>
            <a:off x="9784080" y="1783080"/>
            <a:ext cx="1920240" cy="365760"/>
          </a:xfrm>
          <a:prstGeom prst="rect">
            <a:avLst/>
          </a:prstGeom>
          <a:noFill/>
        </p:spPr>
        <p:txBody>
          <a:bodyPr wrap="square" lIns="0" rIns="0" tIns="0" bIns="0">
            <a:spAutoFit/>
          </a:bodyPr>
          <a:lstStyle/>
          <a:p>
            <a:pPr algn="l">
              <a:spcAft>
                <a:spcPts val="300"/>
              </a:spcAft>
            </a:pPr>
            <a:r>
              <a:rPr sz="900" b="0">
                <a:solidFill>
                  <a:srgbClr val="6B6B6B"/>
                </a:solidFill>
                <a:latin typeface="Arial"/>
              </a:rPr>
              <a:t>Sigurd, as of 2026-08-14</a:t>
            </a:r>
          </a:p>
        </p:txBody>
      </p:sp>
      <p:sp>
        <p:nvSpPr>
          <p:cNvPr id="14" name="TextBox 13"/>
          <p:cNvSpPr txBox="1"/>
          <p:nvPr/>
        </p:nvSpPr>
        <p:spPr>
          <a:xfrm>
            <a:off x="502920" y="2240280"/>
            <a:ext cx="2194560" cy="365760"/>
          </a:xfrm>
          <a:prstGeom prst="rect">
            <a:avLst/>
          </a:prstGeom>
          <a:noFill/>
        </p:spPr>
        <p:txBody>
          <a:bodyPr wrap="square" lIns="0" rIns="0" tIns="0" bIns="0">
            <a:spAutoFit/>
          </a:bodyPr>
          <a:lstStyle/>
          <a:p>
            <a:pPr algn="l">
              <a:spcAft>
                <a:spcPts val="300"/>
              </a:spcAft>
            </a:pPr>
            <a:r>
              <a:rPr sz="1300" b="1">
                <a:solidFill>
                  <a:srgbClr val="141414"/>
                </a:solidFill>
                <a:latin typeface="Arial"/>
              </a:rPr>
              <a:t>FT</a:t>
            </a:r>
            <a:r>
              <a:rPr sz="900" b="0">
                <a:solidFill>
                  <a:srgbClr val="6B6B6B"/>
                </a:solidFill>
                <a:latin typeface="Arial"/>
              </a:rPr>
              <a:t>  reported</a:t>
            </a:r>
          </a:p>
        </p:txBody>
      </p:sp>
      <p:sp>
        <p:nvSpPr>
          <p:cNvPr id="15" name="TextBox 14"/>
          <p:cNvSpPr txBox="1"/>
          <p:nvPr/>
        </p:nvSpPr>
        <p:spPr>
          <a:xfrm>
            <a:off x="4892040" y="2240280"/>
            <a:ext cx="1371600" cy="274320"/>
          </a:xfrm>
          <a:prstGeom prst="rect">
            <a:avLst/>
          </a:prstGeom>
          <a:noFill/>
        </p:spPr>
        <p:txBody>
          <a:bodyPr wrap="square" lIns="0" rIns="0" tIns="0" bIns="0">
            <a:spAutoFit/>
          </a:bodyPr>
          <a:lstStyle/>
          <a:p>
            <a:pPr algn="l">
              <a:spcAft>
                <a:spcPts val="300"/>
              </a:spcAft>
            </a:pPr>
            <a:r>
              <a:rPr sz="1400" b="1">
                <a:solidFill>
                  <a:srgbClr val="B56B00"/>
                </a:solidFill>
                <a:latin typeface="Arial"/>
              </a:rPr>
              <a:t>84.3%</a:t>
            </a:r>
          </a:p>
        </p:txBody>
      </p:sp>
      <p:sp>
        <p:nvSpPr>
          <p:cNvPr id="16" name="TextBox 15"/>
          <p:cNvSpPr txBox="1"/>
          <p:nvPr/>
        </p:nvSpPr>
        <p:spPr>
          <a:xfrm>
            <a:off x="9784080" y="2240280"/>
            <a:ext cx="1920240" cy="365760"/>
          </a:xfrm>
          <a:prstGeom prst="rect">
            <a:avLst/>
          </a:prstGeom>
          <a:noFill/>
        </p:spPr>
        <p:txBody>
          <a:bodyPr wrap="square" lIns="0" rIns="0" tIns="0" bIns="0">
            <a:spAutoFit/>
          </a:bodyPr>
          <a:lstStyle/>
          <a:p>
            <a:pPr algn="l">
              <a:spcAft>
                <a:spcPts val="300"/>
              </a:spcAft>
            </a:pPr>
            <a:r>
              <a:rPr sz="900" b="0">
                <a:solidFill>
                  <a:srgbClr val="6B6B6B"/>
                </a:solidFill>
                <a:latin typeface="Arial"/>
              </a:rPr>
              <a:t>Sigurd, as of 2026-08-14</a:t>
            </a:r>
          </a:p>
        </p:txBody>
      </p:sp>
      <p:sp>
        <p:nvSpPr>
          <p:cNvPr id="17" name="TextBox 16"/>
          <p:cNvSpPr txBox="1"/>
          <p:nvPr/>
        </p:nvSpPr>
        <p:spPr>
          <a:xfrm>
            <a:off x="502920" y="2697480"/>
            <a:ext cx="2194560" cy="365760"/>
          </a:xfrm>
          <a:prstGeom prst="rect">
            <a:avLst/>
          </a:prstGeom>
          <a:noFill/>
        </p:spPr>
        <p:txBody>
          <a:bodyPr wrap="square" lIns="0" rIns="0" tIns="0" bIns="0">
            <a:spAutoFit/>
          </a:bodyPr>
          <a:lstStyle/>
          <a:p>
            <a:pPr algn="l">
              <a:spcAft>
                <a:spcPts val="300"/>
              </a:spcAft>
            </a:pPr>
            <a:r>
              <a:rPr sz="1300" b="1">
                <a:solidFill>
                  <a:srgbClr val="141414"/>
                </a:solidFill>
                <a:latin typeface="Arial"/>
              </a:rPr>
              <a:t>MLT</a:t>
            </a:r>
            <a:r>
              <a:rPr sz="900" b="0">
                <a:solidFill>
                  <a:srgbClr val="6B6B6B"/>
                </a:solidFill>
                <a:latin typeface="Arial"/>
              </a:rPr>
              <a:t>  pega3</a:t>
            </a:r>
          </a:p>
        </p:txBody>
      </p:sp>
      <p:sp>
        <p:nvSpPr>
          <p:cNvPr id="18" name="TextBox 17"/>
          <p:cNvSpPr txBox="1"/>
          <p:nvPr/>
        </p:nvSpPr>
        <p:spPr>
          <a:xfrm>
            <a:off x="2788920" y="2697480"/>
            <a:ext cx="914400" cy="274320"/>
          </a:xfrm>
          <a:prstGeom prst="rect">
            <a:avLst/>
          </a:prstGeom>
          <a:noFill/>
        </p:spPr>
        <p:txBody>
          <a:bodyPr wrap="square" lIns="0" rIns="0" tIns="0" bIns="0">
            <a:spAutoFit/>
          </a:bodyPr>
          <a:lstStyle/>
          <a:p>
            <a:pPr algn="l">
              <a:spcAft>
                <a:spcPts val="300"/>
              </a:spcAft>
            </a:pPr>
            <a:r>
              <a:rPr sz="1250" b="0">
                <a:solidFill>
                  <a:srgbClr val="141414"/>
                </a:solidFill>
                <a:latin typeface="Arial"/>
              </a:rPr>
              <a:t>228</a:t>
            </a:r>
          </a:p>
        </p:txBody>
      </p:sp>
      <p:sp>
        <p:nvSpPr>
          <p:cNvPr id="19" name="TextBox 18"/>
          <p:cNvSpPr txBox="1"/>
          <p:nvPr/>
        </p:nvSpPr>
        <p:spPr>
          <a:xfrm>
            <a:off x="3794760" y="2697480"/>
            <a:ext cx="1005840" cy="274320"/>
          </a:xfrm>
          <a:prstGeom prst="rect">
            <a:avLst/>
          </a:prstGeom>
          <a:noFill/>
        </p:spPr>
        <p:txBody>
          <a:bodyPr wrap="square" lIns="0" rIns="0" tIns="0" bIns="0">
            <a:spAutoFit/>
          </a:bodyPr>
          <a:lstStyle/>
          <a:p>
            <a:pPr algn="l">
              <a:spcAft>
                <a:spcPts val="300"/>
              </a:spcAft>
            </a:pPr>
            <a:r>
              <a:rPr sz="1250" b="0">
                <a:solidFill>
                  <a:srgbClr val="141414"/>
                </a:solidFill>
                <a:latin typeface="Arial"/>
              </a:rPr>
              <a:t>279</a:t>
            </a:r>
          </a:p>
        </p:txBody>
      </p:sp>
      <p:sp>
        <p:nvSpPr>
          <p:cNvPr id="20" name="TextBox 19"/>
          <p:cNvSpPr txBox="1"/>
          <p:nvPr/>
        </p:nvSpPr>
        <p:spPr>
          <a:xfrm>
            <a:off x="4892040" y="2697480"/>
            <a:ext cx="1371600" cy="274320"/>
          </a:xfrm>
          <a:prstGeom prst="rect">
            <a:avLst/>
          </a:prstGeom>
          <a:noFill/>
        </p:spPr>
        <p:txBody>
          <a:bodyPr wrap="square" lIns="0" rIns="0" tIns="0" bIns="0">
            <a:spAutoFit/>
          </a:bodyPr>
          <a:lstStyle/>
          <a:p>
            <a:pPr algn="l">
              <a:spcAft>
                <a:spcPts val="300"/>
              </a:spcAft>
            </a:pPr>
            <a:r>
              <a:rPr sz="1400" b="1">
                <a:solidFill>
                  <a:srgbClr val="B56B00"/>
                </a:solidFill>
                <a:latin typeface="Arial"/>
              </a:rPr>
              <a:t>65.5%</a:t>
            </a:r>
          </a:p>
        </p:txBody>
      </p:sp>
      <p:sp>
        <p:nvSpPr>
          <p:cNvPr id="21" name="TextBox 20"/>
          <p:cNvSpPr txBox="1"/>
          <p:nvPr/>
        </p:nvSpPr>
        <p:spPr>
          <a:xfrm>
            <a:off x="6400800" y="2697480"/>
            <a:ext cx="1463040" cy="274320"/>
          </a:xfrm>
          <a:prstGeom prst="rect">
            <a:avLst/>
          </a:prstGeom>
          <a:noFill/>
        </p:spPr>
        <p:txBody>
          <a:bodyPr wrap="square" lIns="0" rIns="0" tIns="0" bIns="0">
            <a:spAutoFit/>
          </a:bodyPr>
          <a:lstStyle/>
          <a:p>
            <a:pPr algn="l">
              <a:spcAft>
                <a:spcPts val="300"/>
              </a:spcAft>
            </a:pPr>
            <a:r>
              <a:rPr sz="1250" b="0">
                <a:solidFill>
                  <a:srgbClr val="141414"/>
                </a:solidFill>
                <a:latin typeface="Arial"/>
              </a:rPr>
              <a:t>74.6%</a:t>
            </a:r>
          </a:p>
        </p:txBody>
      </p:sp>
      <p:sp>
        <p:nvSpPr>
          <p:cNvPr id="22" name="TextBox 21"/>
          <p:cNvSpPr txBox="1"/>
          <p:nvPr/>
        </p:nvSpPr>
        <p:spPr>
          <a:xfrm>
            <a:off x="8001000" y="2697480"/>
            <a:ext cx="1691640" cy="402336"/>
          </a:xfrm>
          <a:prstGeom prst="rect">
            <a:avLst/>
          </a:prstGeom>
          <a:noFill/>
        </p:spPr>
        <p:txBody>
          <a:bodyPr wrap="square" lIns="0" rIns="0" tIns="0" bIns="0">
            <a:spAutoFit/>
          </a:bodyPr>
          <a:lstStyle/>
          <a:p>
            <a:pPr algn="l">
              <a:spcAft>
                <a:spcPts val="0"/>
              </a:spcAft>
            </a:pPr>
            <a:r>
              <a:rPr sz="1400" b="1">
                <a:solidFill>
                  <a:srgbClr val="141414"/>
                </a:solidFill>
                <a:latin typeface="Arial"/>
              </a:rPr>
              <a:t>19.7%</a:t>
            </a:r>
          </a:p>
          <a:p>
            <a:pPr algn="l">
              <a:spcAft>
                <a:spcPts val="0"/>
              </a:spcAft>
            </a:pPr>
            <a:r>
              <a:rPr sz="850" b="0">
                <a:solidFill>
                  <a:srgbClr val="6B6B6B"/>
                </a:solidFill>
                <a:latin typeface="Arial"/>
              </a:rPr>
              <a:t>45 of 228 units re-run</a:t>
            </a:r>
          </a:p>
        </p:txBody>
      </p:sp>
      <p:sp>
        <p:nvSpPr>
          <p:cNvPr id="23" name="TextBox 22"/>
          <p:cNvSpPr txBox="1"/>
          <p:nvPr/>
        </p:nvSpPr>
        <p:spPr>
          <a:xfrm>
            <a:off x="9784080" y="2697480"/>
            <a:ext cx="1920240" cy="402336"/>
          </a:xfrm>
          <a:prstGeom prst="rect">
            <a:avLst/>
          </a:prstGeom>
          <a:noFill/>
        </p:spPr>
        <p:txBody>
          <a:bodyPr wrap="square" lIns="0" rIns="0" tIns="0" bIns="0">
            <a:spAutoFit/>
          </a:bodyPr>
          <a:lstStyle/>
          <a:p>
            <a:pPr algn="l">
              <a:spcAft>
                <a:spcPts val="300"/>
              </a:spcAft>
            </a:pPr>
            <a:r>
              <a:rPr sz="850" b="0">
                <a:solidFill>
                  <a:srgbClr val="6B6B6B"/>
                </a:solidFill>
                <a:latin typeface="Courier New"/>
              </a:rPr>
              <a:t>SohuPowerVirusTestCase</a:t>
            </a:r>
          </a:p>
        </p:txBody>
      </p:sp>
      <p:sp>
        <p:nvSpPr>
          <p:cNvPr id="24" name="TextBox 23"/>
          <p:cNvSpPr txBox="1"/>
          <p:nvPr/>
        </p:nvSpPr>
        <p:spPr>
          <a:xfrm>
            <a:off x="502920" y="3154680"/>
            <a:ext cx="2194560" cy="365760"/>
          </a:xfrm>
          <a:prstGeom prst="rect">
            <a:avLst/>
          </a:prstGeom>
          <a:noFill/>
        </p:spPr>
        <p:txBody>
          <a:bodyPr wrap="square" lIns="0" rIns="0" tIns="0" bIns="0">
            <a:spAutoFit/>
          </a:bodyPr>
          <a:lstStyle/>
          <a:p>
            <a:pPr algn="l">
              <a:spcAft>
                <a:spcPts val="300"/>
              </a:spcAft>
            </a:pPr>
            <a:r>
              <a:rPr sz="1300" b="1">
                <a:solidFill>
                  <a:srgbClr val="141414"/>
                </a:solidFill>
                <a:latin typeface="Arial"/>
              </a:rPr>
              <a:t>HTT</a:t>
            </a:r>
            <a:r>
              <a:rPr sz="900" b="0">
                <a:solidFill>
                  <a:srgbClr val="6B6B6B"/>
                </a:solidFill>
                <a:latin typeface="Arial"/>
              </a:rPr>
              <a:t>  pega3</a:t>
            </a:r>
          </a:p>
        </p:txBody>
      </p:sp>
      <p:sp>
        <p:nvSpPr>
          <p:cNvPr id="25" name="TextBox 24"/>
          <p:cNvSpPr txBox="1"/>
          <p:nvPr/>
        </p:nvSpPr>
        <p:spPr>
          <a:xfrm>
            <a:off x="2788920" y="3154680"/>
            <a:ext cx="914400" cy="274320"/>
          </a:xfrm>
          <a:prstGeom prst="rect">
            <a:avLst/>
          </a:prstGeom>
          <a:noFill/>
        </p:spPr>
        <p:txBody>
          <a:bodyPr wrap="square" lIns="0" rIns="0" tIns="0" bIns="0">
            <a:spAutoFit/>
          </a:bodyPr>
          <a:lstStyle/>
          <a:p>
            <a:pPr algn="l">
              <a:spcAft>
                <a:spcPts val="300"/>
              </a:spcAft>
            </a:pPr>
            <a:r>
              <a:rPr sz="1250" b="0">
                <a:solidFill>
                  <a:srgbClr val="141414"/>
                </a:solidFill>
                <a:latin typeface="Arial"/>
              </a:rPr>
              <a:t>170</a:t>
            </a:r>
          </a:p>
        </p:txBody>
      </p:sp>
      <p:sp>
        <p:nvSpPr>
          <p:cNvPr id="26" name="TextBox 25"/>
          <p:cNvSpPr txBox="1"/>
          <p:nvPr/>
        </p:nvSpPr>
        <p:spPr>
          <a:xfrm>
            <a:off x="3794760" y="3154680"/>
            <a:ext cx="1005840" cy="274320"/>
          </a:xfrm>
          <a:prstGeom prst="rect">
            <a:avLst/>
          </a:prstGeom>
          <a:noFill/>
        </p:spPr>
        <p:txBody>
          <a:bodyPr wrap="square" lIns="0" rIns="0" tIns="0" bIns="0">
            <a:spAutoFit/>
          </a:bodyPr>
          <a:lstStyle/>
          <a:p>
            <a:pPr algn="l">
              <a:spcAft>
                <a:spcPts val="300"/>
              </a:spcAft>
            </a:pPr>
            <a:r>
              <a:rPr sz="1250" b="0">
                <a:solidFill>
                  <a:srgbClr val="141414"/>
                </a:solidFill>
                <a:latin typeface="Arial"/>
              </a:rPr>
              <a:t>234</a:t>
            </a:r>
          </a:p>
        </p:txBody>
      </p:sp>
      <p:sp>
        <p:nvSpPr>
          <p:cNvPr id="27" name="TextBox 26"/>
          <p:cNvSpPr txBox="1"/>
          <p:nvPr/>
        </p:nvSpPr>
        <p:spPr>
          <a:xfrm>
            <a:off x="4892040" y="3154680"/>
            <a:ext cx="1371600" cy="274320"/>
          </a:xfrm>
          <a:prstGeom prst="rect">
            <a:avLst/>
          </a:prstGeom>
          <a:noFill/>
        </p:spPr>
        <p:txBody>
          <a:bodyPr wrap="square" lIns="0" rIns="0" tIns="0" bIns="0">
            <a:spAutoFit/>
          </a:bodyPr>
          <a:lstStyle/>
          <a:p>
            <a:pPr algn="l">
              <a:spcAft>
                <a:spcPts val="300"/>
              </a:spcAft>
            </a:pPr>
            <a:r>
              <a:rPr sz="1400" b="1">
                <a:solidFill>
                  <a:srgbClr val="B3281E"/>
                </a:solidFill>
                <a:latin typeface="Arial"/>
              </a:rPr>
              <a:t>54.3%</a:t>
            </a:r>
          </a:p>
        </p:txBody>
      </p:sp>
      <p:sp>
        <p:nvSpPr>
          <p:cNvPr id="28" name="TextBox 27"/>
          <p:cNvSpPr txBox="1"/>
          <p:nvPr/>
        </p:nvSpPr>
        <p:spPr>
          <a:xfrm>
            <a:off x="6400800" y="3154680"/>
            <a:ext cx="1463040" cy="274320"/>
          </a:xfrm>
          <a:prstGeom prst="rect">
            <a:avLst/>
          </a:prstGeom>
          <a:noFill/>
        </p:spPr>
        <p:txBody>
          <a:bodyPr wrap="square" lIns="0" rIns="0" tIns="0" bIns="0">
            <a:spAutoFit/>
          </a:bodyPr>
          <a:lstStyle/>
          <a:p>
            <a:pPr algn="l">
              <a:spcAft>
                <a:spcPts val="300"/>
              </a:spcAft>
            </a:pPr>
            <a:r>
              <a:rPr sz="1250" b="0">
                <a:solidFill>
                  <a:srgbClr val="141414"/>
                </a:solidFill>
                <a:latin typeface="Arial"/>
              </a:rPr>
              <a:t>68.8%</a:t>
            </a:r>
          </a:p>
        </p:txBody>
      </p:sp>
      <p:sp>
        <p:nvSpPr>
          <p:cNvPr id="29" name="TextBox 28"/>
          <p:cNvSpPr txBox="1"/>
          <p:nvPr/>
        </p:nvSpPr>
        <p:spPr>
          <a:xfrm>
            <a:off x="8001000" y="3154680"/>
            <a:ext cx="1691640" cy="402336"/>
          </a:xfrm>
          <a:prstGeom prst="rect">
            <a:avLst/>
          </a:prstGeom>
          <a:noFill/>
        </p:spPr>
        <p:txBody>
          <a:bodyPr wrap="square" lIns="0" rIns="0" tIns="0" bIns="0">
            <a:spAutoFit/>
          </a:bodyPr>
          <a:lstStyle/>
          <a:p>
            <a:pPr algn="l">
              <a:spcAft>
                <a:spcPts val="0"/>
              </a:spcAft>
            </a:pPr>
            <a:r>
              <a:rPr sz="1400" b="1">
                <a:solidFill>
                  <a:srgbClr val="B3281E"/>
                </a:solidFill>
                <a:latin typeface="Arial"/>
              </a:rPr>
              <a:t>27.6%</a:t>
            </a:r>
          </a:p>
          <a:p>
            <a:pPr algn="l">
              <a:spcAft>
                <a:spcPts val="0"/>
              </a:spcAft>
            </a:pPr>
            <a:r>
              <a:rPr sz="850" b="0">
                <a:solidFill>
                  <a:srgbClr val="6B6B6B"/>
                </a:solidFill>
                <a:latin typeface="Arial"/>
              </a:rPr>
              <a:t>47 of 170 units re-run</a:t>
            </a:r>
          </a:p>
        </p:txBody>
      </p:sp>
      <p:sp>
        <p:nvSpPr>
          <p:cNvPr id="30" name="TextBox 29"/>
          <p:cNvSpPr txBox="1"/>
          <p:nvPr/>
        </p:nvSpPr>
        <p:spPr>
          <a:xfrm>
            <a:off x="9784080" y="3154680"/>
            <a:ext cx="1920240" cy="402336"/>
          </a:xfrm>
          <a:prstGeom prst="rect">
            <a:avLst/>
          </a:prstGeom>
          <a:noFill/>
        </p:spPr>
        <p:txBody>
          <a:bodyPr wrap="square" lIns="0" rIns="0" tIns="0" bIns="0">
            <a:spAutoFit/>
          </a:bodyPr>
          <a:lstStyle/>
          <a:p>
            <a:pPr algn="l">
              <a:spcAft>
                <a:spcPts val="300"/>
              </a:spcAft>
            </a:pPr>
            <a:r>
              <a:rPr sz="850" b="0">
                <a:solidFill>
                  <a:srgbClr val="6B6B6B"/>
                </a:solidFill>
                <a:latin typeface="Courier New"/>
              </a:rPr>
              <a:t>SohuRdqsSweepTrainingTestCase</a:t>
            </a:r>
          </a:p>
        </p:txBody>
      </p:sp>
      <p:sp>
        <p:nvSpPr>
          <p:cNvPr id="31" name="TextBox 30"/>
          <p:cNvSpPr txBox="1"/>
          <p:nvPr/>
        </p:nvSpPr>
        <p:spPr>
          <a:xfrm>
            <a:off x="502920" y="3611880"/>
            <a:ext cx="2194560" cy="365760"/>
          </a:xfrm>
          <a:prstGeom prst="rect">
            <a:avLst/>
          </a:prstGeom>
          <a:noFill/>
        </p:spPr>
        <p:txBody>
          <a:bodyPr wrap="square" lIns="0" rIns="0" tIns="0" bIns="0">
            <a:spAutoFit/>
          </a:bodyPr>
          <a:lstStyle/>
          <a:p>
            <a:pPr algn="l">
              <a:spcAft>
                <a:spcPts val="300"/>
              </a:spcAft>
            </a:pPr>
            <a:r>
              <a:rPr sz="1300" b="1">
                <a:solidFill>
                  <a:srgbClr val="6B6B6B"/>
                </a:solidFill>
                <a:latin typeface="Arial"/>
              </a:rPr>
              <a:t>L10 FAT</a:t>
            </a:r>
            <a:r>
              <a:rPr sz="900" b="0">
                <a:solidFill>
                  <a:srgbClr val="6B6B6B"/>
                </a:solidFill>
                <a:latin typeface="Arial"/>
              </a:rPr>
              <a:t>  pega4</a:t>
            </a:r>
          </a:p>
        </p:txBody>
      </p:sp>
      <p:sp>
        <p:nvSpPr>
          <p:cNvPr id="32" name="TextBox 31"/>
          <p:cNvSpPr txBox="1"/>
          <p:nvPr/>
        </p:nvSpPr>
        <p:spPr>
          <a:xfrm>
            <a:off x="2788920" y="3611880"/>
            <a:ext cx="91440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2</a:t>
            </a:r>
          </a:p>
        </p:txBody>
      </p:sp>
      <p:sp>
        <p:nvSpPr>
          <p:cNvPr id="33" name="TextBox 32"/>
          <p:cNvSpPr txBox="1"/>
          <p:nvPr/>
        </p:nvSpPr>
        <p:spPr>
          <a:xfrm>
            <a:off x="3794760" y="3611880"/>
            <a:ext cx="10058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15</a:t>
            </a:r>
          </a:p>
        </p:txBody>
      </p:sp>
      <p:sp>
        <p:nvSpPr>
          <p:cNvPr id="34" name="TextBox 33"/>
          <p:cNvSpPr txBox="1"/>
          <p:nvPr/>
        </p:nvSpPr>
        <p:spPr>
          <a:xfrm>
            <a:off x="4892040" y="3611880"/>
            <a:ext cx="1371600" cy="274320"/>
          </a:xfrm>
          <a:prstGeom prst="rect">
            <a:avLst/>
          </a:prstGeom>
          <a:noFill/>
        </p:spPr>
        <p:txBody>
          <a:bodyPr wrap="square" lIns="0" rIns="0" tIns="0" bIns="0">
            <a:spAutoFit/>
          </a:bodyPr>
          <a:lstStyle/>
          <a:p>
            <a:pPr algn="l">
              <a:spcAft>
                <a:spcPts val="300"/>
              </a:spcAft>
            </a:pPr>
            <a:r>
              <a:rPr sz="1000" b="0">
                <a:solidFill>
                  <a:srgbClr val="6B6B6B"/>
                </a:solidFill>
                <a:latin typeface="Arial"/>
              </a:rPr>
              <a:t>quantity only</a:t>
            </a:r>
          </a:p>
        </p:txBody>
      </p:sp>
      <p:sp>
        <p:nvSpPr>
          <p:cNvPr id="35" name="TextBox 34"/>
          <p:cNvSpPr txBox="1"/>
          <p:nvPr/>
        </p:nvSpPr>
        <p:spPr>
          <a:xfrm>
            <a:off x="6400800" y="3611880"/>
            <a:ext cx="14630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a:t>
            </a:r>
          </a:p>
        </p:txBody>
      </p:sp>
      <p:sp>
        <p:nvSpPr>
          <p:cNvPr id="36" name="TextBox 35"/>
          <p:cNvSpPr txBox="1"/>
          <p:nvPr/>
        </p:nvSpPr>
        <p:spPr>
          <a:xfrm>
            <a:off x="8001000" y="3611880"/>
            <a:ext cx="1691640" cy="402336"/>
          </a:xfrm>
          <a:prstGeom prst="rect">
            <a:avLst/>
          </a:prstGeom>
          <a:noFill/>
        </p:spPr>
        <p:txBody>
          <a:bodyPr wrap="square" lIns="0" rIns="0" tIns="0" bIns="0">
            <a:spAutoFit/>
          </a:bodyPr>
          <a:lstStyle/>
          <a:p>
            <a:pPr algn="l">
              <a:spcAft>
                <a:spcPts val="0"/>
              </a:spcAft>
            </a:pPr>
            <a:r>
              <a:rPr sz="1400" b="1">
                <a:solidFill>
                  <a:srgbClr val="141414"/>
                </a:solidFill>
                <a:latin typeface="Arial"/>
              </a:rPr>
              <a:t>—</a:t>
            </a:r>
          </a:p>
          <a:p>
            <a:pPr algn="l">
              <a:spcAft>
                <a:spcPts val="0"/>
              </a:spcAft>
            </a:pPr>
            <a:r>
              <a:rPr sz="850" b="0">
                <a:solidFill>
                  <a:srgbClr val="6B6B6B"/>
                </a:solidFill>
                <a:latin typeface="Arial"/>
              </a:rPr>
              <a:t>chassis and rack level, in bring-up — quantity only</a:t>
            </a:r>
          </a:p>
        </p:txBody>
      </p:sp>
      <p:sp>
        <p:nvSpPr>
          <p:cNvPr id="37" name="TextBox 36"/>
          <p:cNvSpPr txBox="1"/>
          <p:nvPr/>
        </p:nvSpPr>
        <p:spPr>
          <a:xfrm>
            <a:off x="9784080" y="3611880"/>
            <a:ext cx="1920240" cy="402336"/>
          </a:xfrm>
          <a:prstGeom prst="rect">
            <a:avLst/>
          </a:prstGeom>
          <a:noFill/>
        </p:spPr>
        <p:txBody>
          <a:bodyPr wrap="square" lIns="0" rIns="0" tIns="0" bIns="0">
            <a:spAutoFit/>
          </a:bodyPr>
          <a:lstStyle/>
          <a:p>
            <a:pPr algn="l">
              <a:spcAft>
                <a:spcPts val="300"/>
              </a:spcAft>
            </a:pPr>
            <a:r>
              <a:rPr sz="850" b="0">
                <a:solidFill>
                  <a:srgbClr val="6B6B6B"/>
                </a:solidFill>
                <a:latin typeface="Courier New"/>
              </a:rPr>
              <a:t>SohuHostRebootTestCase</a:t>
            </a:r>
          </a:p>
        </p:txBody>
      </p:sp>
      <p:sp>
        <p:nvSpPr>
          <p:cNvPr id="38" name="TextBox 37"/>
          <p:cNvSpPr txBox="1"/>
          <p:nvPr/>
        </p:nvSpPr>
        <p:spPr>
          <a:xfrm>
            <a:off x="502920" y="4069080"/>
            <a:ext cx="2194560" cy="365760"/>
          </a:xfrm>
          <a:prstGeom prst="rect">
            <a:avLst/>
          </a:prstGeom>
          <a:noFill/>
        </p:spPr>
        <p:txBody>
          <a:bodyPr wrap="square" lIns="0" rIns="0" tIns="0" bIns="0">
            <a:spAutoFit/>
          </a:bodyPr>
          <a:lstStyle/>
          <a:p>
            <a:pPr algn="l">
              <a:spcAft>
                <a:spcPts val="300"/>
              </a:spcAft>
            </a:pPr>
            <a:r>
              <a:rPr sz="1300" b="1">
                <a:solidFill>
                  <a:srgbClr val="6B6B6B"/>
                </a:solidFill>
                <a:latin typeface="Arial"/>
              </a:rPr>
              <a:t>L10 SFT</a:t>
            </a:r>
            <a:r>
              <a:rPr sz="900" b="0">
                <a:solidFill>
                  <a:srgbClr val="6B6B6B"/>
                </a:solidFill>
                <a:latin typeface="Arial"/>
              </a:rPr>
              <a:t>  pega4</a:t>
            </a:r>
          </a:p>
        </p:txBody>
      </p:sp>
      <p:sp>
        <p:nvSpPr>
          <p:cNvPr id="39" name="TextBox 38"/>
          <p:cNvSpPr txBox="1"/>
          <p:nvPr/>
        </p:nvSpPr>
        <p:spPr>
          <a:xfrm>
            <a:off x="2788920" y="4069080"/>
            <a:ext cx="91440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1</a:t>
            </a:r>
          </a:p>
        </p:txBody>
      </p:sp>
      <p:sp>
        <p:nvSpPr>
          <p:cNvPr id="40" name="TextBox 39"/>
          <p:cNvSpPr txBox="1"/>
          <p:nvPr/>
        </p:nvSpPr>
        <p:spPr>
          <a:xfrm>
            <a:off x="3794760" y="4069080"/>
            <a:ext cx="10058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6</a:t>
            </a:r>
          </a:p>
        </p:txBody>
      </p:sp>
      <p:sp>
        <p:nvSpPr>
          <p:cNvPr id="41" name="TextBox 40"/>
          <p:cNvSpPr txBox="1"/>
          <p:nvPr/>
        </p:nvSpPr>
        <p:spPr>
          <a:xfrm>
            <a:off x="4892040" y="4069080"/>
            <a:ext cx="1371600" cy="274320"/>
          </a:xfrm>
          <a:prstGeom prst="rect">
            <a:avLst/>
          </a:prstGeom>
          <a:noFill/>
        </p:spPr>
        <p:txBody>
          <a:bodyPr wrap="square" lIns="0" rIns="0" tIns="0" bIns="0">
            <a:spAutoFit/>
          </a:bodyPr>
          <a:lstStyle/>
          <a:p>
            <a:pPr algn="l">
              <a:spcAft>
                <a:spcPts val="300"/>
              </a:spcAft>
            </a:pPr>
            <a:r>
              <a:rPr sz="1000" b="0">
                <a:solidFill>
                  <a:srgbClr val="6B6B6B"/>
                </a:solidFill>
                <a:latin typeface="Arial"/>
              </a:rPr>
              <a:t>quantity only</a:t>
            </a:r>
          </a:p>
        </p:txBody>
      </p:sp>
      <p:sp>
        <p:nvSpPr>
          <p:cNvPr id="42" name="TextBox 41"/>
          <p:cNvSpPr txBox="1"/>
          <p:nvPr/>
        </p:nvSpPr>
        <p:spPr>
          <a:xfrm>
            <a:off x="6400800" y="4069080"/>
            <a:ext cx="14630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a:t>
            </a:r>
          </a:p>
        </p:txBody>
      </p:sp>
      <p:sp>
        <p:nvSpPr>
          <p:cNvPr id="43" name="TextBox 42"/>
          <p:cNvSpPr txBox="1"/>
          <p:nvPr/>
        </p:nvSpPr>
        <p:spPr>
          <a:xfrm>
            <a:off x="8001000" y="4069080"/>
            <a:ext cx="1691640" cy="402336"/>
          </a:xfrm>
          <a:prstGeom prst="rect">
            <a:avLst/>
          </a:prstGeom>
          <a:noFill/>
        </p:spPr>
        <p:txBody>
          <a:bodyPr wrap="square" lIns="0" rIns="0" tIns="0" bIns="0">
            <a:spAutoFit/>
          </a:bodyPr>
          <a:lstStyle/>
          <a:p>
            <a:pPr algn="l">
              <a:spcAft>
                <a:spcPts val="0"/>
              </a:spcAft>
            </a:pPr>
            <a:r>
              <a:rPr sz="1400" b="1">
                <a:solidFill>
                  <a:srgbClr val="141414"/>
                </a:solidFill>
                <a:latin typeface="Arial"/>
              </a:rPr>
              <a:t>—</a:t>
            </a:r>
          </a:p>
          <a:p>
            <a:pPr algn="l">
              <a:spcAft>
                <a:spcPts val="0"/>
              </a:spcAft>
            </a:pPr>
            <a:r>
              <a:rPr sz="850" b="0">
                <a:solidFill>
                  <a:srgbClr val="6B6B6B"/>
                </a:solidFill>
                <a:latin typeface="Arial"/>
              </a:rPr>
              <a:t>chassis and rack level, in bring-up — quantity only</a:t>
            </a:r>
          </a:p>
        </p:txBody>
      </p:sp>
      <p:sp>
        <p:nvSpPr>
          <p:cNvPr id="44" name="TextBox 43"/>
          <p:cNvSpPr txBox="1"/>
          <p:nvPr/>
        </p:nvSpPr>
        <p:spPr>
          <a:xfrm>
            <a:off x="9784080" y="4069080"/>
            <a:ext cx="1920240" cy="402336"/>
          </a:xfrm>
          <a:prstGeom prst="rect">
            <a:avLst/>
          </a:prstGeom>
          <a:noFill/>
        </p:spPr>
        <p:txBody>
          <a:bodyPr wrap="square" lIns="0" rIns="0" tIns="0" bIns="0">
            <a:spAutoFit/>
          </a:bodyPr>
          <a:lstStyle/>
          <a:p>
            <a:pPr algn="l">
              <a:spcAft>
                <a:spcPts val="300"/>
              </a:spcAft>
            </a:pPr>
            <a:r>
              <a:rPr sz="850" b="0">
                <a:solidFill>
                  <a:srgbClr val="6B6B6B"/>
                </a:solidFill>
                <a:latin typeface="Courier New"/>
              </a:rPr>
              <a:t>SohuLlama70bHp8ForwardIteratedTestCase</a:t>
            </a:r>
          </a:p>
        </p:txBody>
      </p:sp>
      <p:sp>
        <p:nvSpPr>
          <p:cNvPr id="45" name="TextBox 44"/>
          <p:cNvSpPr txBox="1"/>
          <p:nvPr/>
        </p:nvSpPr>
        <p:spPr>
          <a:xfrm>
            <a:off x="502920" y="4526280"/>
            <a:ext cx="2194560" cy="365760"/>
          </a:xfrm>
          <a:prstGeom prst="rect">
            <a:avLst/>
          </a:prstGeom>
          <a:noFill/>
        </p:spPr>
        <p:txBody>
          <a:bodyPr wrap="square" lIns="0" rIns="0" tIns="0" bIns="0">
            <a:spAutoFit/>
          </a:bodyPr>
          <a:lstStyle/>
          <a:p>
            <a:pPr algn="l">
              <a:spcAft>
                <a:spcPts val="300"/>
              </a:spcAft>
            </a:pPr>
            <a:r>
              <a:rPr sz="1300" b="1">
                <a:solidFill>
                  <a:srgbClr val="6B6B6B"/>
                </a:solidFill>
                <a:latin typeface="Arial"/>
              </a:rPr>
              <a:t>L10 RIN</a:t>
            </a:r>
            <a:r>
              <a:rPr sz="900" b="0">
                <a:solidFill>
                  <a:srgbClr val="6B6B6B"/>
                </a:solidFill>
                <a:latin typeface="Arial"/>
              </a:rPr>
              <a:t>  pega4</a:t>
            </a:r>
          </a:p>
        </p:txBody>
      </p:sp>
      <p:sp>
        <p:nvSpPr>
          <p:cNvPr id="46" name="TextBox 45"/>
          <p:cNvSpPr txBox="1"/>
          <p:nvPr/>
        </p:nvSpPr>
        <p:spPr>
          <a:xfrm>
            <a:off x="2788920" y="4526280"/>
            <a:ext cx="91440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1</a:t>
            </a:r>
          </a:p>
        </p:txBody>
      </p:sp>
      <p:sp>
        <p:nvSpPr>
          <p:cNvPr id="47" name="TextBox 46"/>
          <p:cNvSpPr txBox="1"/>
          <p:nvPr/>
        </p:nvSpPr>
        <p:spPr>
          <a:xfrm>
            <a:off x="3794760" y="4526280"/>
            <a:ext cx="10058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4</a:t>
            </a:r>
          </a:p>
        </p:txBody>
      </p:sp>
      <p:sp>
        <p:nvSpPr>
          <p:cNvPr id="48" name="TextBox 47"/>
          <p:cNvSpPr txBox="1"/>
          <p:nvPr/>
        </p:nvSpPr>
        <p:spPr>
          <a:xfrm>
            <a:off x="4892040" y="4526280"/>
            <a:ext cx="1371600" cy="274320"/>
          </a:xfrm>
          <a:prstGeom prst="rect">
            <a:avLst/>
          </a:prstGeom>
          <a:noFill/>
        </p:spPr>
        <p:txBody>
          <a:bodyPr wrap="square" lIns="0" rIns="0" tIns="0" bIns="0">
            <a:spAutoFit/>
          </a:bodyPr>
          <a:lstStyle/>
          <a:p>
            <a:pPr algn="l">
              <a:spcAft>
                <a:spcPts val="300"/>
              </a:spcAft>
            </a:pPr>
            <a:r>
              <a:rPr sz="1000" b="0">
                <a:solidFill>
                  <a:srgbClr val="6B6B6B"/>
                </a:solidFill>
                <a:latin typeface="Arial"/>
              </a:rPr>
              <a:t>quantity only</a:t>
            </a:r>
          </a:p>
        </p:txBody>
      </p:sp>
      <p:sp>
        <p:nvSpPr>
          <p:cNvPr id="49" name="TextBox 48"/>
          <p:cNvSpPr txBox="1"/>
          <p:nvPr/>
        </p:nvSpPr>
        <p:spPr>
          <a:xfrm>
            <a:off x="6400800" y="4526280"/>
            <a:ext cx="14630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a:t>
            </a:r>
          </a:p>
        </p:txBody>
      </p:sp>
      <p:sp>
        <p:nvSpPr>
          <p:cNvPr id="50" name="TextBox 49"/>
          <p:cNvSpPr txBox="1"/>
          <p:nvPr/>
        </p:nvSpPr>
        <p:spPr>
          <a:xfrm>
            <a:off x="8001000" y="4526280"/>
            <a:ext cx="1691640" cy="402336"/>
          </a:xfrm>
          <a:prstGeom prst="rect">
            <a:avLst/>
          </a:prstGeom>
          <a:noFill/>
        </p:spPr>
        <p:txBody>
          <a:bodyPr wrap="square" lIns="0" rIns="0" tIns="0" bIns="0">
            <a:spAutoFit/>
          </a:bodyPr>
          <a:lstStyle/>
          <a:p>
            <a:pPr algn="l">
              <a:spcAft>
                <a:spcPts val="0"/>
              </a:spcAft>
            </a:pPr>
            <a:r>
              <a:rPr sz="1400" b="1">
                <a:solidFill>
                  <a:srgbClr val="141414"/>
                </a:solidFill>
                <a:latin typeface="Arial"/>
              </a:rPr>
              <a:t>—</a:t>
            </a:r>
          </a:p>
          <a:p>
            <a:pPr algn="l">
              <a:spcAft>
                <a:spcPts val="0"/>
              </a:spcAft>
            </a:pPr>
            <a:r>
              <a:rPr sz="850" b="0">
                <a:solidFill>
                  <a:srgbClr val="6B6B6B"/>
                </a:solidFill>
                <a:latin typeface="Arial"/>
              </a:rPr>
              <a:t>chassis and rack level, in bring-up — quantity only</a:t>
            </a:r>
          </a:p>
        </p:txBody>
      </p:sp>
      <p:sp>
        <p:nvSpPr>
          <p:cNvPr id="51" name="TextBox 50"/>
          <p:cNvSpPr txBox="1"/>
          <p:nvPr/>
        </p:nvSpPr>
        <p:spPr>
          <a:xfrm>
            <a:off x="9784080" y="4526280"/>
            <a:ext cx="1920240" cy="402336"/>
          </a:xfrm>
          <a:prstGeom prst="rect">
            <a:avLst/>
          </a:prstGeom>
          <a:noFill/>
        </p:spPr>
        <p:txBody>
          <a:bodyPr wrap="square" lIns="0" rIns="0" tIns="0" bIns="0">
            <a:spAutoFit/>
          </a:bodyPr>
          <a:lstStyle/>
          <a:p>
            <a:pPr algn="l">
              <a:spcAft>
                <a:spcPts val="300"/>
              </a:spcAft>
            </a:pPr>
            <a:r>
              <a:rPr sz="850" b="0">
                <a:solidFill>
                  <a:srgbClr val="6B6B6B"/>
                </a:solidFill>
                <a:latin typeface="Courier New"/>
              </a:rPr>
              <a:t>RunInStress</a:t>
            </a:r>
          </a:p>
        </p:txBody>
      </p:sp>
      <p:sp>
        <p:nvSpPr>
          <p:cNvPr id="52" name="TextBox 51"/>
          <p:cNvSpPr txBox="1"/>
          <p:nvPr/>
        </p:nvSpPr>
        <p:spPr>
          <a:xfrm>
            <a:off x="502920" y="4983480"/>
            <a:ext cx="2194560" cy="365760"/>
          </a:xfrm>
          <a:prstGeom prst="rect">
            <a:avLst/>
          </a:prstGeom>
          <a:noFill/>
        </p:spPr>
        <p:txBody>
          <a:bodyPr wrap="square" lIns="0" rIns="0" tIns="0" bIns="0">
            <a:spAutoFit/>
          </a:bodyPr>
          <a:lstStyle/>
          <a:p>
            <a:pPr algn="l">
              <a:spcAft>
                <a:spcPts val="300"/>
              </a:spcAft>
            </a:pPr>
            <a:r>
              <a:rPr sz="1300" b="1">
                <a:solidFill>
                  <a:srgbClr val="6B6B6B"/>
                </a:solidFill>
                <a:latin typeface="Arial"/>
              </a:rPr>
              <a:t>L10 2U</a:t>
            </a:r>
            <a:r>
              <a:rPr sz="900" b="0">
                <a:solidFill>
                  <a:srgbClr val="6B6B6B"/>
                </a:solidFill>
                <a:latin typeface="Arial"/>
              </a:rPr>
              <a:t>  pega4</a:t>
            </a:r>
          </a:p>
        </p:txBody>
      </p:sp>
      <p:sp>
        <p:nvSpPr>
          <p:cNvPr id="53" name="TextBox 52"/>
          <p:cNvSpPr txBox="1"/>
          <p:nvPr/>
        </p:nvSpPr>
        <p:spPr>
          <a:xfrm>
            <a:off x="2788920" y="4983480"/>
            <a:ext cx="91440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3</a:t>
            </a:r>
          </a:p>
        </p:txBody>
      </p:sp>
      <p:sp>
        <p:nvSpPr>
          <p:cNvPr id="54" name="TextBox 53"/>
          <p:cNvSpPr txBox="1"/>
          <p:nvPr/>
        </p:nvSpPr>
        <p:spPr>
          <a:xfrm>
            <a:off x="3794760" y="4983480"/>
            <a:ext cx="10058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19</a:t>
            </a:r>
          </a:p>
        </p:txBody>
      </p:sp>
      <p:sp>
        <p:nvSpPr>
          <p:cNvPr id="55" name="TextBox 54"/>
          <p:cNvSpPr txBox="1"/>
          <p:nvPr/>
        </p:nvSpPr>
        <p:spPr>
          <a:xfrm>
            <a:off x="4892040" y="4983480"/>
            <a:ext cx="1371600" cy="274320"/>
          </a:xfrm>
          <a:prstGeom prst="rect">
            <a:avLst/>
          </a:prstGeom>
          <a:noFill/>
        </p:spPr>
        <p:txBody>
          <a:bodyPr wrap="square" lIns="0" rIns="0" tIns="0" bIns="0">
            <a:spAutoFit/>
          </a:bodyPr>
          <a:lstStyle/>
          <a:p>
            <a:pPr algn="l">
              <a:spcAft>
                <a:spcPts val="300"/>
              </a:spcAft>
            </a:pPr>
            <a:r>
              <a:rPr sz="1000" b="0">
                <a:solidFill>
                  <a:srgbClr val="6B6B6B"/>
                </a:solidFill>
                <a:latin typeface="Arial"/>
              </a:rPr>
              <a:t>quantity only</a:t>
            </a:r>
          </a:p>
        </p:txBody>
      </p:sp>
      <p:sp>
        <p:nvSpPr>
          <p:cNvPr id="56" name="TextBox 55"/>
          <p:cNvSpPr txBox="1"/>
          <p:nvPr/>
        </p:nvSpPr>
        <p:spPr>
          <a:xfrm>
            <a:off x="6400800" y="4983480"/>
            <a:ext cx="14630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a:t>
            </a:r>
          </a:p>
        </p:txBody>
      </p:sp>
      <p:sp>
        <p:nvSpPr>
          <p:cNvPr id="57" name="TextBox 56"/>
          <p:cNvSpPr txBox="1"/>
          <p:nvPr/>
        </p:nvSpPr>
        <p:spPr>
          <a:xfrm>
            <a:off x="8001000" y="4983480"/>
            <a:ext cx="1691640" cy="402336"/>
          </a:xfrm>
          <a:prstGeom prst="rect">
            <a:avLst/>
          </a:prstGeom>
          <a:noFill/>
        </p:spPr>
        <p:txBody>
          <a:bodyPr wrap="square" lIns="0" rIns="0" tIns="0" bIns="0">
            <a:spAutoFit/>
          </a:bodyPr>
          <a:lstStyle/>
          <a:p>
            <a:pPr algn="l">
              <a:spcAft>
                <a:spcPts val="0"/>
              </a:spcAft>
            </a:pPr>
            <a:r>
              <a:rPr sz="1400" b="1">
                <a:solidFill>
                  <a:srgbClr val="141414"/>
                </a:solidFill>
                <a:latin typeface="Arial"/>
              </a:rPr>
              <a:t>—</a:t>
            </a:r>
          </a:p>
          <a:p>
            <a:pPr algn="l">
              <a:spcAft>
                <a:spcPts val="0"/>
              </a:spcAft>
            </a:pPr>
            <a:r>
              <a:rPr sz="850" b="0">
                <a:solidFill>
                  <a:srgbClr val="6B6B6B"/>
                </a:solidFill>
                <a:latin typeface="Arial"/>
              </a:rPr>
              <a:t>chassis and rack level, in bring-up — quantity only</a:t>
            </a:r>
          </a:p>
        </p:txBody>
      </p:sp>
      <p:sp>
        <p:nvSpPr>
          <p:cNvPr id="58" name="TextBox 57"/>
          <p:cNvSpPr txBox="1"/>
          <p:nvPr/>
        </p:nvSpPr>
        <p:spPr>
          <a:xfrm>
            <a:off x="9784080" y="4983480"/>
            <a:ext cx="1920240" cy="402336"/>
          </a:xfrm>
          <a:prstGeom prst="rect">
            <a:avLst/>
          </a:prstGeom>
          <a:noFill/>
        </p:spPr>
        <p:txBody>
          <a:bodyPr wrap="square" lIns="0" rIns="0" tIns="0" bIns="0">
            <a:spAutoFit/>
          </a:bodyPr>
          <a:lstStyle/>
          <a:p>
            <a:pPr algn="l">
              <a:spcAft>
                <a:spcPts val="300"/>
              </a:spcAft>
            </a:pPr>
            <a:r>
              <a:rPr sz="850" b="0">
                <a:solidFill>
                  <a:srgbClr val="6B6B6B"/>
                </a:solidFill>
                <a:latin typeface="Courier New"/>
              </a:rPr>
              <a:t>BmcCheck</a:t>
            </a:r>
          </a:p>
        </p:txBody>
      </p:sp>
      <p:sp>
        <p:nvSpPr>
          <p:cNvPr id="59" name="TextBox 58"/>
          <p:cNvSpPr txBox="1"/>
          <p:nvPr/>
        </p:nvSpPr>
        <p:spPr>
          <a:xfrm>
            <a:off x="502920" y="5440680"/>
            <a:ext cx="2194560" cy="365760"/>
          </a:xfrm>
          <a:prstGeom prst="rect">
            <a:avLst/>
          </a:prstGeom>
          <a:noFill/>
        </p:spPr>
        <p:txBody>
          <a:bodyPr wrap="square" lIns="0" rIns="0" tIns="0" bIns="0">
            <a:spAutoFit/>
          </a:bodyPr>
          <a:lstStyle/>
          <a:p>
            <a:pPr algn="l">
              <a:spcAft>
                <a:spcPts val="300"/>
              </a:spcAft>
            </a:pPr>
            <a:r>
              <a:rPr sz="1300" b="1">
                <a:solidFill>
                  <a:srgbClr val="6B6B6B"/>
                </a:solidFill>
                <a:latin typeface="Arial"/>
              </a:rPr>
              <a:t>L11 Test</a:t>
            </a:r>
            <a:r>
              <a:rPr sz="900" b="0">
                <a:solidFill>
                  <a:srgbClr val="6B6B6B"/>
                </a:solidFill>
                <a:latin typeface="Arial"/>
              </a:rPr>
              <a:t>  pega5</a:t>
            </a:r>
          </a:p>
        </p:txBody>
      </p:sp>
      <p:sp>
        <p:nvSpPr>
          <p:cNvPr id="60" name="TextBox 59"/>
          <p:cNvSpPr txBox="1"/>
          <p:nvPr/>
        </p:nvSpPr>
        <p:spPr>
          <a:xfrm>
            <a:off x="2788920" y="5440680"/>
            <a:ext cx="91440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2</a:t>
            </a:r>
          </a:p>
        </p:txBody>
      </p:sp>
      <p:sp>
        <p:nvSpPr>
          <p:cNvPr id="61" name="TextBox 60"/>
          <p:cNvSpPr txBox="1"/>
          <p:nvPr/>
        </p:nvSpPr>
        <p:spPr>
          <a:xfrm>
            <a:off x="3794760" y="5440680"/>
            <a:ext cx="10058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16</a:t>
            </a:r>
          </a:p>
        </p:txBody>
      </p:sp>
      <p:sp>
        <p:nvSpPr>
          <p:cNvPr id="62" name="TextBox 61"/>
          <p:cNvSpPr txBox="1"/>
          <p:nvPr/>
        </p:nvSpPr>
        <p:spPr>
          <a:xfrm>
            <a:off x="4892040" y="5440680"/>
            <a:ext cx="1371600" cy="274320"/>
          </a:xfrm>
          <a:prstGeom prst="rect">
            <a:avLst/>
          </a:prstGeom>
          <a:noFill/>
        </p:spPr>
        <p:txBody>
          <a:bodyPr wrap="square" lIns="0" rIns="0" tIns="0" bIns="0">
            <a:spAutoFit/>
          </a:bodyPr>
          <a:lstStyle/>
          <a:p>
            <a:pPr algn="l">
              <a:spcAft>
                <a:spcPts val="300"/>
              </a:spcAft>
            </a:pPr>
            <a:r>
              <a:rPr sz="1000" b="0">
                <a:solidFill>
                  <a:srgbClr val="6B6B6B"/>
                </a:solidFill>
                <a:latin typeface="Arial"/>
              </a:rPr>
              <a:t>quantity only</a:t>
            </a:r>
          </a:p>
        </p:txBody>
      </p:sp>
      <p:sp>
        <p:nvSpPr>
          <p:cNvPr id="63" name="TextBox 62"/>
          <p:cNvSpPr txBox="1"/>
          <p:nvPr/>
        </p:nvSpPr>
        <p:spPr>
          <a:xfrm>
            <a:off x="6400800" y="5440680"/>
            <a:ext cx="14630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a:t>
            </a:r>
          </a:p>
        </p:txBody>
      </p:sp>
      <p:sp>
        <p:nvSpPr>
          <p:cNvPr id="64" name="TextBox 63"/>
          <p:cNvSpPr txBox="1"/>
          <p:nvPr/>
        </p:nvSpPr>
        <p:spPr>
          <a:xfrm>
            <a:off x="8001000" y="5440680"/>
            <a:ext cx="1691640" cy="402336"/>
          </a:xfrm>
          <a:prstGeom prst="rect">
            <a:avLst/>
          </a:prstGeom>
          <a:noFill/>
        </p:spPr>
        <p:txBody>
          <a:bodyPr wrap="square" lIns="0" rIns="0" tIns="0" bIns="0">
            <a:spAutoFit/>
          </a:bodyPr>
          <a:lstStyle/>
          <a:p>
            <a:pPr algn="l">
              <a:spcAft>
                <a:spcPts val="0"/>
              </a:spcAft>
            </a:pPr>
            <a:r>
              <a:rPr sz="1400" b="1">
                <a:solidFill>
                  <a:srgbClr val="141414"/>
                </a:solidFill>
                <a:latin typeface="Arial"/>
              </a:rPr>
              <a:t>—</a:t>
            </a:r>
          </a:p>
          <a:p>
            <a:pPr algn="l">
              <a:spcAft>
                <a:spcPts val="0"/>
              </a:spcAft>
            </a:pPr>
            <a:r>
              <a:rPr sz="850" b="0">
                <a:solidFill>
                  <a:srgbClr val="6B6B6B"/>
                </a:solidFill>
                <a:latin typeface="Arial"/>
              </a:rPr>
              <a:t>chassis and rack level, in bring-up — quantity only</a:t>
            </a:r>
          </a:p>
        </p:txBody>
      </p:sp>
      <p:sp>
        <p:nvSpPr>
          <p:cNvPr id="65" name="TextBox 64"/>
          <p:cNvSpPr txBox="1"/>
          <p:nvPr/>
        </p:nvSpPr>
        <p:spPr>
          <a:xfrm>
            <a:off x="9784080" y="5440680"/>
            <a:ext cx="1920240" cy="402336"/>
          </a:xfrm>
          <a:prstGeom prst="rect">
            <a:avLst/>
          </a:prstGeom>
          <a:noFill/>
        </p:spPr>
        <p:txBody>
          <a:bodyPr wrap="square" lIns="0" rIns="0" tIns="0" bIns="0">
            <a:spAutoFit/>
          </a:bodyPr>
          <a:lstStyle/>
          <a:p>
            <a:pPr algn="l">
              <a:spcAft>
                <a:spcPts val="300"/>
              </a:spcAft>
            </a:pPr>
            <a:r>
              <a:rPr sz="850" b="0">
                <a:solidFill>
                  <a:srgbClr val="6B6B6B"/>
                </a:solidFill>
                <a:latin typeface="Courier New"/>
              </a:rPr>
              <a:t>CheckSohuServerNoErrorLogTestCase</a:t>
            </a:r>
          </a:p>
        </p:txBody>
      </p:sp>
      <p:sp>
        <p:nvSpPr>
          <p:cNvPr id="66" name="TextBox 65"/>
          <p:cNvSpPr txBox="1"/>
          <p:nvPr/>
        </p:nvSpPr>
        <p:spPr>
          <a:xfrm>
            <a:off x="502920" y="5943600"/>
            <a:ext cx="11185855" cy="640080"/>
          </a:xfrm>
          <a:prstGeom prst="rect">
            <a:avLst/>
          </a:prstGeom>
          <a:noFill/>
        </p:spPr>
        <p:txBody>
          <a:bodyPr wrap="square" lIns="0" rIns="0" tIns="0" bIns="0">
            <a:spAutoFit/>
          </a:bodyPr>
          <a:lstStyle/>
          <a:p>
            <a:pPr algn="l">
              <a:spcAft>
                <a:spcPts val="300"/>
              </a:spcAft>
            </a:pPr>
            <a:r>
              <a:rPr sz="1200" b="0">
                <a:solidFill>
                  <a:srgbClr val="141414"/>
                </a:solidFill>
                <a:latin typeface="Arial"/>
              </a:rPr>
              <a:t>Rolled first-pass across MLT × HTT: </a:t>
            </a:r>
            <a:r>
              <a:rPr sz="1400" b="1">
                <a:solidFill>
                  <a:srgbClr val="1C62B8"/>
                </a:solidFill>
                <a:latin typeface="Arial"/>
              </a:rPr>
              <a:t>35.6%</a:t>
            </a:r>
          </a:p>
          <a:p>
            <a:pPr algn="l">
              <a:spcAft>
                <a:spcPts val="300"/>
              </a:spcAft>
            </a:pPr>
            <a:r>
              <a:rPr sz="950" b="0">
                <a:solidFill>
                  <a:srgbClr val="6B6B6B"/>
                </a:solidFill>
                <a:latin typeface="Arial"/>
              </a:rPr>
              <a:t>Steps under 20 first-time units report counts only. Full unit-level source data, every serial and release with a link to its run: 32x-production.i.etched.com/week.html#week=2026-W33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85855" cy="731520"/>
          </a:xfrm>
          <a:prstGeom prst="rect">
            <a:avLst/>
          </a:prstGeom>
          <a:noFill/>
        </p:spPr>
        <p:txBody>
          <a:bodyPr wrap="square" lIns="0" rIns="0" tIns="0" bIns="0">
            <a:spAutoFit/>
          </a:bodyPr>
          <a:lstStyle/>
          <a:p>
            <a:pPr algn="l">
              <a:spcAft>
                <a:spcPts val="100"/>
              </a:spcAft>
            </a:pPr>
            <a:r>
              <a:rPr sz="2700" b="1">
                <a:solidFill>
                  <a:srgbClr val="141414"/>
                </a:solidFill>
                <a:latin typeface="Arial"/>
              </a:rPr>
              <a:t>What's next</a:t>
            </a:r>
          </a:p>
          <a:p>
            <a:pPr algn="l">
              <a:spcAft>
                <a:spcPts val="100"/>
              </a:spcAft>
            </a:pPr>
            <a:r>
              <a:rPr sz="1250" b="0">
                <a:solidFill>
                  <a:srgbClr val="6B6B6B"/>
                </a:solidFill>
                <a:latin typeface="Arial"/>
              </a:rPr>
              <a:t>against the programme's own gates — coverage, then stability, then efficiency; a station clears one before the next is worth measuring</a:t>
            </a:r>
          </a:p>
        </p:txBody>
      </p:sp>
      <p:sp>
        <p:nvSpPr>
          <p:cNvPr id="3" name="Rectangle 2"/>
          <p:cNvSpPr/>
          <p:nvPr/>
        </p:nvSpPr>
        <p:spPr>
          <a:xfrm>
            <a:off x="502920" y="1170432"/>
            <a:ext cx="11185855" cy="1397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66928" y="1481328"/>
            <a:ext cx="365760" cy="365760"/>
          </a:xfrm>
          <a:prstGeom prst="ellipse">
            <a:avLst/>
          </a:prstGeom>
          <a:solidFill>
            <a:srgbClr val="1C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45336"/>
            <a:ext cx="365760" cy="274320"/>
          </a:xfrm>
          <a:prstGeom prst="rect">
            <a:avLst/>
          </a:prstGeom>
          <a:noFill/>
        </p:spPr>
        <p:txBody>
          <a:bodyPr wrap="square" lIns="0" rIns="0" tIns="0" bIns="0">
            <a:spAutoFit/>
          </a:bodyPr>
          <a:lstStyle/>
          <a:p>
            <a:pPr algn="ctr">
              <a:spcAft>
                <a:spcPts val="0"/>
              </a:spcAft>
            </a:pPr>
            <a:r>
              <a:rPr sz="1400" b="1">
                <a:solidFill>
                  <a:srgbClr val="FFFFFF"/>
                </a:solidFill>
                <a:latin typeface="Arial"/>
              </a:rPr>
              <a:t>a</a:t>
            </a:r>
          </a:p>
        </p:txBody>
      </p:sp>
      <p:sp>
        <p:nvSpPr>
          <p:cNvPr id="6" name="TextBox 5"/>
          <p:cNvSpPr txBox="1"/>
          <p:nvPr/>
        </p:nvSpPr>
        <p:spPr>
          <a:xfrm>
            <a:off x="1078992" y="1481328"/>
            <a:ext cx="5486400" cy="640080"/>
          </a:xfrm>
          <a:prstGeom prst="rect">
            <a:avLst/>
          </a:prstGeom>
          <a:noFill/>
        </p:spPr>
        <p:txBody>
          <a:bodyPr wrap="square" lIns="0" rIns="0" tIns="0" bIns="0">
            <a:spAutoFit/>
          </a:bodyPr>
          <a:lstStyle/>
          <a:p>
            <a:pPr algn="l">
              <a:spcAft>
                <a:spcPts val="200"/>
              </a:spcAft>
            </a:pPr>
            <a:r>
              <a:rPr sz="1800" b="1">
                <a:solidFill>
                  <a:srgbClr val="141414"/>
                </a:solidFill>
                <a:latin typeface="Arial"/>
              </a:rPr>
              <a:t>Develop and maintain full coverage for L6</a:t>
            </a:r>
          </a:p>
          <a:p>
            <a:pPr algn="l">
              <a:spcAft>
                <a:spcPts val="200"/>
              </a:spcAft>
            </a:pPr>
            <a:r>
              <a:rPr sz="1100" b="0">
                <a:solidFill>
                  <a:srgbClr val="6B6B6B"/>
                </a:solidFill>
                <a:latin typeface="Arial"/>
              </a:rPr>
              <a:t>Gate: </a:t>
            </a:r>
            <a:r>
              <a:rPr sz="1100" b="1">
                <a:solidFill>
                  <a:srgbClr val="1C62B8"/>
                </a:solidFill>
                <a:latin typeface="Arial"/>
              </a:rPr>
              <a:t>Coverage</a:t>
            </a:r>
          </a:p>
        </p:txBody>
      </p:sp>
      <p:sp>
        <p:nvSpPr>
          <p:cNvPr id="7" name="TextBox 6"/>
          <p:cNvSpPr txBox="1"/>
          <p:nvPr/>
        </p:nvSpPr>
        <p:spPr>
          <a:xfrm>
            <a:off x="1078992" y="2194560"/>
            <a:ext cx="5120640" cy="1280160"/>
          </a:xfrm>
          <a:prstGeom prst="rect">
            <a:avLst/>
          </a:prstGeom>
          <a:noFill/>
        </p:spPr>
        <p:txBody>
          <a:bodyPr wrap="square" lIns="0" rIns="0" tIns="0" bIns="0">
            <a:spAutoFit/>
          </a:bodyPr>
          <a:lstStyle/>
          <a:p>
            <a:pPr algn="l">
              <a:spcAft>
                <a:spcPts val="0"/>
              </a:spcAft>
            </a:pPr>
            <a:r>
              <a:rPr sz="1150" b="1">
                <a:solidFill>
                  <a:srgbClr val="141414"/>
                </a:solidFill>
                <a:latin typeface="Arial"/>
              </a:rPr>
              <a:t>Why now.  </a:t>
            </a:r>
            <a:r>
              <a:rPr sz="1150" b="0">
                <a:solidFill>
                  <a:srgbClr val="141414"/>
                </a:solidFill>
                <a:latin typeface="Arial"/>
              </a:rPr>
              <a:t>MLT and HTT are the only steps with enough volume to read, and they are where the line loses most of its units: first pass 65.5% and 54.3%, recovered to 74.6% and 68.8% by re-running 45 and 47 units.</a:t>
            </a:r>
          </a:p>
        </p:txBody>
      </p:sp>
      <p:sp>
        <p:nvSpPr>
          <p:cNvPr id="8" name="TextBox 7"/>
          <p:cNvSpPr txBox="1"/>
          <p:nvPr/>
        </p:nvSpPr>
        <p:spPr>
          <a:xfrm>
            <a:off x="6492240" y="1499616"/>
            <a:ext cx="5120640" cy="1371600"/>
          </a:xfrm>
          <a:prstGeom prst="rect">
            <a:avLst/>
          </a:prstGeom>
          <a:noFill/>
        </p:spPr>
        <p:txBody>
          <a:bodyPr wrap="square" lIns="0" rIns="0" tIns="0" bIns="0">
            <a:spAutoFit/>
          </a:bodyPr>
          <a:lstStyle/>
          <a:p>
            <a:pPr algn="l">
              <a:spcAft>
                <a:spcPts val="600"/>
              </a:spcAft>
            </a:pPr>
            <a:r>
              <a:rPr sz="1150" b="1">
                <a:solidFill>
                  <a:srgbClr val="141414"/>
                </a:solidFill>
                <a:latin typeface="Arial"/>
              </a:rPr>
              <a:t>What good looks like.  </a:t>
            </a:r>
            <a:r>
              <a:rPr sz="1150" b="0">
                <a:solidFill>
                  <a:srgbClr val="141414"/>
                </a:solidFill>
                <a:latin typeface="Arial"/>
              </a:rPr>
              <a:t>Full, maintained coverage at L6 — every board, every condition, and the suite kept in step as releases land. Coverage is the first gate and the only one L6 has the volume to be measured against today.</a:t>
            </a:r>
          </a:p>
          <a:p>
            <a:pPr algn="l">
              <a:spcAft>
                <a:spcPts val="600"/>
              </a:spcAft>
            </a:pPr>
            <a:r>
              <a:rPr sz="1050" b="1">
                <a:solidFill>
                  <a:srgbClr val="6B6B6B"/>
                </a:solidFill>
                <a:latin typeface="Arial"/>
              </a:rPr>
              <a:t>Owner.  </a:t>
            </a:r>
            <a:r>
              <a:rPr sz="1050" b="0">
                <a:solidFill>
                  <a:srgbClr val="6B6B6B"/>
                </a:solidFill>
                <a:latin typeface="Arial"/>
              </a:rPr>
              <a:t>SW team leads define and execute the content; production involved.</a:t>
            </a:r>
          </a:p>
        </p:txBody>
      </p:sp>
      <p:sp>
        <p:nvSpPr>
          <p:cNvPr id="9" name="Oval 8"/>
          <p:cNvSpPr/>
          <p:nvPr/>
        </p:nvSpPr>
        <p:spPr>
          <a:xfrm>
            <a:off x="566928" y="3630168"/>
            <a:ext cx="365760" cy="365760"/>
          </a:xfrm>
          <a:prstGeom prst="ellipse">
            <a:avLst/>
          </a:prstGeom>
          <a:solidFill>
            <a:srgbClr val="1C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3694176"/>
            <a:ext cx="365760" cy="274320"/>
          </a:xfrm>
          <a:prstGeom prst="rect">
            <a:avLst/>
          </a:prstGeom>
          <a:noFill/>
        </p:spPr>
        <p:txBody>
          <a:bodyPr wrap="square" lIns="0" rIns="0" tIns="0" bIns="0">
            <a:spAutoFit/>
          </a:bodyPr>
          <a:lstStyle/>
          <a:p>
            <a:pPr algn="ctr">
              <a:spcAft>
                <a:spcPts val="0"/>
              </a:spcAft>
            </a:pPr>
            <a:r>
              <a:rPr sz="1400" b="1">
                <a:solidFill>
                  <a:srgbClr val="FFFFFF"/>
                </a:solidFill>
                <a:latin typeface="Arial"/>
              </a:rPr>
              <a:t>b</a:t>
            </a:r>
          </a:p>
        </p:txBody>
      </p:sp>
      <p:sp>
        <p:nvSpPr>
          <p:cNvPr id="11" name="TextBox 10"/>
          <p:cNvSpPr txBox="1"/>
          <p:nvPr/>
        </p:nvSpPr>
        <p:spPr>
          <a:xfrm>
            <a:off x="1078992" y="3630168"/>
            <a:ext cx="5486400" cy="640080"/>
          </a:xfrm>
          <a:prstGeom prst="rect">
            <a:avLst/>
          </a:prstGeom>
          <a:noFill/>
        </p:spPr>
        <p:txBody>
          <a:bodyPr wrap="square" lIns="0" rIns="0" tIns="0" bIns="0">
            <a:spAutoFit/>
          </a:bodyPr>
          <a:lstStyle/>
          <a:p>
            <a:pPr algn="l">
              <a:spcAft>
                <a:spcPts val="200"/>
              </a:spcAft>
            </a:pPr>
            <a:r>
              <a:rPr sz="1800" b="1">
                <a:solidFill>
                  <a:srgbClr val="141414"/>
                </a:solidFill>
                <a:latin typeface="Arial"/>
              </a:rPr>
              <a:t>Speed up development of multiple L10 test units</a:t>
            </a:r>
          </a:p>
          <a:p>
            <a:pPr algn="l">
              <a:spcAft>
                <a:spcPts val="200"/>
              </a:spcAft>
            </a:pPr>
            <a:r>
              <a:rPr sz="1100" b="0">
                <a:solidFill>
                  <a:srgbClr val="6B6B6B"/>
                </a:solidFill>
                <a:latin typeface="Arial"/>
              </a:rPr>
              <a:t>Gate: </a:t>
            </a:r>
            <a:r>
              <a:rPr sz="1100" b="1">
                <a:solidFill>
                  <a:srgbClr val="1C62B8"/>
                </a:solidFill>
                <a:latin typeface="Arial"/>
              </a:rPr>
              <a:t>Volume, before any gate</a:t>
            </a:r>
          </a:p>
        </p:txBody>
      </p:sp>
      <p:sp>
        <p:nvSpPr>
          <p:cNvPr id="12" name="TextBox 11"/>
          <p:cNvSpPr txBox="1"/>
          <p:nvPr/>
        </p:nvSpPr>
        <p:spPr>
          <a:xfrm>
            <a:off x="1078992" y="4343400"/>
            <a:ext cx="5120640" cy="1280160"/>
          </a:xfrm>
          <a:prstGeom prst="rect">
            <a:avLst/>
          </a:prstGeom>
          <a:noFill/>
        </p:spPr>
        <p:txBody>
          <a:bodyPr wrap="square" lIns="0" rIns="0" tIns="0" bIns="0">
            <a:spAutoFit/>
          </a:bodyPr>
          <a:lstStyle/>
          <a:p>
            <a:pPr algn="l">
              <a:spcAft>
                <a:spcPts val="0"/>
              </a:spcAft>
            </a:pPr>
            <a:r>
              <a:rPr sz="1150" b="1">
                <a:solidFill>
                  <a:srgbClr val="141414"/>
                </a:solidFill>
                <a:latin typeface="Arial"/>
              </a:rPr>
              <a:t>Why now.  </a:t>
            </a:r>
            <a:r>
              <a:rPr sz="1150" b="0">
                <a:solidFill>
                  <a:srgbClr val="141414"/>
                </a:solidFill>
                <a:latin typeface="Arial"/>
              </a:rPr>
              <a:t>L10 ran 7 units across its four steps all week — 2 at FAT, 1 at SFT, 1 at RIN, 3 at 2U. That is why every L10 box on this deck says quantity only: there is no yield to read, and no gate can be measured on single digits.</a:t>
            </a:r>
          </a:p>
        </p:txBody>
      </p:sp>
      <p:sp>
        <p:nvSpPr>
          <p:cNvPr id="13" name="TextBox 12"/>
          <p:cNvSpPr txBox="1"/>
          <p:nvPr/>
        </p:nvSpPr>
        <p:spPr>
          <a:xfrm>
            <a:off x="6492240" y="3648456"/>
            <a:ext cx="5120640" cy="1371600"/>
          </a:xfrm>
          <a:prstGeom prst="rect">
            <a:avLst/>
          </a:prstGeom>
          <a:noFill/>
        </p:spPr>
        <p:txBody>
          <a:bodyPr wrap="square" lIns="0" rIns="0" tIns="0" bIns="0">
            <a:spAutoFit/>
          </a:bodyPr>
          <a:lstStyle/>
          <a:p>
            <a:pPr algn="l">
              <a:spcAft>
                <a:spcPts val="600"/>
              </a:spcAft>
            </a:pPr>
            <a:r>
              <a:rPr sz="1150" b="1">
                <a:solidFill>
                  <a:srgbClr val="141414"/>
                </a:solidFill>
                <a:latin typeface="Arial"/>
              </a:rPr>
              <a:t>What good looks like.  </a:t>
            </a:r>
            <a:r>
              <a:rPr sz="1150" b="0">
                <a:solidFill>
                  <a:srgbClr val="141414"/>
                </a:solidFill>
                <a:latin typeface="Arial"/>
              </a:rPr>
              <a:t>More L10 units, sooner. Not to improve the yield — to make a yield exist. Until L10 is running tens of chassis a week, its coverage cannot be judged, its stability cannot be measured, and its efficiency is not yet a question.</a:t>
            </a:r>
          </a:p>
          <a:p>
            <a:pPr algn="l">
              <a:spcAft>
                <a:spcPts val="600"/>
              </a:spcAft>
            </a:pPr>
            <a:r>
              <a:rPr sz="1050" b="1">
                <a:solidFill>
                  <a:srgbClr val="6B6B6B"/>
                </a:solidFill>
                <a:latin typeface="Arial"/>
              </a:rPr>
              <a:t>Owner.  </a:t>
            </a:r>
            <a:r>
              <a:rPr sz="1050" b="0">
                <a:solidFill>
                  <a:srgbClr val="6B6B6B"/>
                </a:solidFill>
                <a:latin typeface="Arial"/>
              </a:rPr>
              <a:t>Production, with the L10 station owners.</a:t>
            </a:r>
          </a:p>
        </p:txBody>
      </p:sp>
      <p:sp>
        <p:nvSpPr>
          <p:cNvPr id="14" name="Rectangle 13"/>
          <p:cNvSpPr/>
          <p:nvPr/>
        </p:nvSpPr>
        <p:spPr>
          <a:xfrm>
            <a:off x="566928" y="5870448"/>
            <a:ext cx="11057839" cy="1270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6016752"/>
            <a:ext cx="11057839" cy="548640"/>
          </a:xfrm>
          <a:prstGeom prst="rect">
            <a:avLst/>
          </a:prstGeom>
          <a:noFill/>
        </p:spPr>
        <p:txBody>
          <a:bodyPr wrap="square" lIns="0" rIns="0" tIns="0" bIns="0">
            <a:spAutoFit/>
          </a:bodyPr>
          <a:lstStyle/>
          <a:p>
            <a:pPr algn="l">
              <a:spcAft>
                <a:spcPts val="0"/>
              </a:spcAft>
            </a:pPr>
            <a:r>
              <a:rPr sz="1200" b="1">
                <a:solidFill>
                  <a:srgbClr val="141414"/>
                </a:solidFill>
                <a:latin typeface="Arial"/>
              </a:rPr>
              <a:t>The ordering is the point.  </a:t>
            </a:r>
            <a:r>
              <a:rPr sz="1200" b="0">
                <a:solidFill>
                  <a:srgbClr val="141414"/>
                </a:solidFill>
                <a:latin typeface="Arial"/>
              </a:rPr>
              <a:t>Measuring stability before coverage tells you a suite repeats — including repeating what it never tested; measuring efficiency before stability buys stations to fix flakiness. L6 is at the first gate with the volume to prove it; L10 is not yet at a gate at 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85855" cy="731520"/>
          </a:xfrm>
          <a:prstGeom prst="rect">
            <a:avLst/>
          </a:prstGeom>
          <a:noFill/>
        </p:spPr>
        <p:txBody>
          <a:bodyPr wrap="square" lIns="0" rIns="0" tIns="0" bIns="0">
            <a:spAutoFit/>
          </a:bodyPr>
          <a:lstStyle/>
          <a:p>
            <a:pPr algn="l">
              <a:spcAft>
                <a:spcPts val="100"/>
              </a:spcAft>
            </a:pPr>
            <a:r>
              <a:rPr sz="2700" b="1">
                <a:solidFill>
                  <a:srgbClr val="141414"/>
                </a:solidFill>
                <a:latin typeface="Arial"/>
              </a:rPr>
              <a:t>Appendix — where the data comes from</a:t>
            </a:r>
          </a:p>
          <a:p>
            <a:pPr algn="l">
              <a:spcAft>
                <a:spcPts val="100"/>
              </a:spcAft>
            </a:pPr>
            <a:r>
              <a:rPr sz="1250" b="0">
                <a:solidFill>
                  <a:srgbClr val="6B6B6B"/>
                </a:solidFill>
                <a:latin typeface="Arial"/>
              </a:rPr>
              <a:t>every figure on this deck traces to one of these; the first one lists the units behind it</a:t>
            </a:r>
          </a:p>
        </p:txBody>
      </p:sp>
      <p:sp>
        <p:nvSpPr>
          <p:cNvPr id="3" name="Rectangle 2"/>
          <p:cNvSpPr/>
          <p:nvPr/>
        </p:nvSpPr>
        <p:spPr>
          <a:xfrm>
            <a:off x="502920" y="1170432"/>
            <a:ext cx="11185855" cy="1397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5486400" cy="237744"/>
          </a:xfrm>
          <a:prstGeom prst="rect">
            <a:avLst/>
          </a:prstGeom>
          <a:noFill/>
        </p:spPr>
        <p:txBody>
          <a:bodyPr wrap="square" lIns="0" rIns="0" tIns="0" bIns="0">
            <a:spAutoFit/>
          </a:bodyPr>
          <a:lstStyle/>
          <a:p>
            <a:pPr algn="l">
              <a:spcAft>
                <a:spcPts val="0"/>
              </a:spcAft>
            </a:pPr>
            <a:r>
              <a:rPr sz="1200" b="1">
                <a:solidFill>
                  <a:srgbClr val="1C62B8"/>
                </a:solidFill>
                <a:latin typeface="Arial"/>
              </a:rPr>
              <a:t>This week, unit by unit</a:t>
            </a:r>
          </a:p>
        </p:txBody>
      </p:sp>
      <p:sp>
        <p:nvSpPr>
          <p:cNvPr id="5" name="TextBox 4"/>
          <p:cNvSpPr txBox="1"/>
          <p:nvPr/>
        </p:nvSpPr>
        <p:spPr>
          <a:xfrm>
            <a:off x="731520" y="1709928"/>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Source data for 2026-W33 — every DUT serial, software release, verdict and a link to its run</a:t>
            </a:r>
          </a:p>
        </p:txBody>
      </p:sp>
      <p:sp>
        <p:nvSpPr>
          <p:cNvPr id="6" name="TextBox 5"/>
          <p:cNvSpPr txBox="1"/>
          <p:nvPr/>
        </p:nvSpPr>
        <p:spPr>
          <a:xfrm>
            <a:off x="6858000" y="1709928"/>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32x-production.i.etched.com/week.html#week=2026-W33</a:t>
            </a:r>
          </a:p>
        </p:txBody>
      </p:sp>
      <p:sp>
        <p:nvSpPr>
          <p:cNvPr id="7" name="TextBox 6"/>
          <p:cNvSpPr txBox="1"/>
          <p:nvPr/>
        </p:nvSpPr>
        <p:spPr>
          <a:xfrm>
            <a:off x="731520" y="1984248"/>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Every week since collection began, one row each</a:t>
            </a:r>
          </a:p>
        </p:txBody>
      </p:sp>
      <p:sp>
        <p:nvSpPr>
          <p:cNvPr id="8" name="TextBox 7"/>
          <p:cNvSpPr txBox="1"/>
          <p:nvPr/>
        </p:nvSpPr>
        <p:spPr>
          <a:xfrm>
            <a:off x="6858000" y="1984248"/>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32x-production.i.etched.com/weekly.html</a:t>
            </a:r>
          </a:p>
        </p:txBody>
      </p:sp>
      <p:sp>
        <p:nvSpPr>
          <p:cNvPr id="9" name="TextBox 8"/>
          <p:cNvSpPr txBox="1"/>
          <p:nvPr/>
        </p:nvSpPr>
        <p:spPr>
          <a:xfrm>
            <a:off x="566928" y="2386584"/>
            <a:ext cx="5486400" cy="237744"/>
          </a:xfrm>
          <a:prstGeom prst="rect">
            <a:avLst/>
          </a:prstGeom>
          <a:noFill/>
        </p:spPr>
        <p:txBody>
          <a:bodyPr wrap="square" lIns="0" rIns="0" tIns="0" bIns="0">
            <a:spAutoFit/>
          </a:bodyPr>
          <a:lstStyle/>
          <a:p>
            <a:pPr algn="l">
              <a:spcAft>
                <a:spcPts val="0"/>
              </a:spcAft>
            </a:pPr>
            <a:r>
              <a:rPr sz="1200" b="1">
                <a:solidFill>
                  <a:srgbClr val="1C62B8"/>
                </a:solidFill>
                <a:latin typeface="Arial"/>
              </a:rPr>
              <a:t>The rest of the dashboard</a:t>
            </a:r>
          </a:p>
        </p:txBody>
      </p:sp>
      <p:sp>
        <p:nvSpPr>
          <p:cNvPr id="10" name="TextBox 9"/>
          <p:cNvSpPr txBox="1"/>
          <p:nvPr/>
        </p:nvSpPr>
        <p:spPr>
          <a:xfrm>
            <a:off x="731520" y="2679192"/>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Daily tracker — the line's own MLT/HTT tabs, rebuilt from pega3</a:t>
            </a:r>
          </a:p>
        </p:txBody>
      </p:sp>
      <p:sp>
        <p:nvSpPr>
          <p:cNvPr id="11" name="TextBox 10"/>
          <p:cNvSpPr txBox="1"/>
          <p:nvPr/>
        </p:nvSpPr>
        <p:spPr>
          <a:xfrm>
            <a:off x="6858000" y="2679192"/>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32x-production.i.etched.com/dailyexcel.html</a:t>
            </a:r>
          </a:p>
        </p:txBody>
      </p:sp>
      <p:sp>
        <p:nvSpPr>
          <p:cNvPr id="12" name="TextBox 11"/>
          <p:cNvSpPr txBox="1"/>
          <p:nvPr/>
        </p:nvSpPr>
        <p:spPr>
          <a:xfrm>
            <a:off x="731520" y="2953512"/>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L10 daily tracker — FAT, SFT, RIN, 2U from pega4</a:t>
            </a:r>
          </a:p>
        </p:txBody>
      </p:sp>
      <p:sp>
        <p:nvSpPr>
          <p:cNvPr id="13" name="TextBox 12"/>
          <p:cNvSpPr txBox="1"/>
          <p:nvPr/>
        </p:nvSpPr>
        <p:spPr>
          <a:xfrm>
            <a:off x="6858000" y="2953512"/>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32x-production.i.etched.com/l10.html</a:t>
            </a:r>
          </a:p>
        </p:txBody>
      </p:sp>
      <p:sp>
        <p:nvSpPr>
          <p:cNvPr id="14" name="TextBox 13"/>
          <p:cNvSpPr txBox="1"/>
          <p:nvPr/>
        </p:nvSpPr>
        <p:spPr>
          <a:xfrm>
            <a:off x="731520" y="3227832"/>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Station yield, from the controllers</a:t>
            </a:r>
          </a:p>
        </p:txBody>
      </p:sp>
      <p:sp>
        <p:nvSpPr>
          <p:cNvPr id="15" name="TextBox 14"/>
          <p:cNvSpPr txBox="1"/>
          <p:nvPr/>
        </p:nvSpPr>
        <p:spPr>
          <a:xfrm>
            <a:off x="6858000" y="3227832"/>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32x-production.i.etched.com/direct.html</a:t>
            </a:r>
          </a:p>
        </p:txBody>
      </p:sp>
      <p:sp>
        <p:nvSpPr>
          <p:cNvPr id="16" name="TextBox 15"/>
          <p:cNvSpPr txBox="1"/>
          <p:nvPr/>
        </p:nvSpPr>
        <p:spPr>
          <a:xfrm>
            <a:off x="731520" y="3502152"/>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Station yield, from OCP Logs — and the measured gap between them</a:t>
            </a:r>
          </a:p>
        </p:txBody>
      </p:sp>
      <p:sp>
        <p:nvSpPr>
          <p:cNvPr id="17" name="TextBox 16"/>
          <p:cNvSpPr txBox="1"/>
          <p:nvPr/>
        </p:nvSpPr>
        <p:spPr>
          <a:xfrm>
            <a:off x="6858000" y="3502152"/>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32x-production.i.etched.com/index.html</a:t>
            </a:r>
          </a:p>
        </p:txBody>
      </p:sp>
      <p:sp>
        <p:nvSpPr>
          <p:cNvPr id="18" name="TextBox 17"/>
          <p:cNvSpPr txBox="1"/>
          <p:nvPr/>
        </p:nvSpPr>
        <p:spPr>
          <a:xfrm>
            <a:off x="731520" y="3776472"/>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Run drill-down, any serial or test name</a:t>
            </a:r>
          </a:p>
        </p:txBody>
      </p:sp>
      <p:sp>
        <p:nvSpPr>
          <p:cNvPr id="19" name="TextBox 18"/>
          <p:cNvSpPr txBox="1"/>
          <p:nvPr/>
        </p:nvSpPr>
        <p:spPr>
          <a:xfrm>
            <a:off x="6858000" y="3776472"/>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32x-production.i.etched.com/runs.html</a:t>
            </a:r>
          </a:p>
        </p:txBody>
      </p:sp>
      <p:sp>
        <p:nvSpPr>
          <p:cNvPr id="20" name="TextBox 19"/>
          <p:cNvSpPr txBox="1"/>
          <p:nvPr/>
        </p:nvSpPr>
        <p:spPr>
          <a:xfrm>
            <a:off x="731520" y="4050792"/>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Production test flow, with coverage</a:t>
            </a:r>
          </a:p>
        </p:txBody>
      </p:sp>
      <p:sp>
        <p:nvSpPr>
          <p:cNvPr id="21" name="TextBox 20"/>
          <p:cNvSpPr txBox="1"/>
          <p:nvPr/>
        </p:nvSpPr>
        <p:spPr>
          <a:xfrm>
            <a:off x="6858000" y="4050792"/>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32x-production.i.etched.com/flow.html</a:t>
            </a:r>
          </a:p>
        </p:txBody>
      </p:sp>
      <p:sp>
        <p:nvSpPr>
          <p:cNvPr id="22" name="TextBox 21"/>
          <p:cNvSpPr txBox="1"/>
          <p:nvPr/>
        </p:nvSpPr>
        <p:spPr>
          <a:xfrm>
            <a:off x="566928" y="4453128"/>
            <a:ext cx="5486400" cy="237744"/>
          </a:xfrm>
          <a:prstGeom prst="rect">
            <a:avLst/>
          </a:prstGeom>
          <a:noFill/>
        </p:spPr>
        <p:txBody>
          <a:bodyPr wrap="square" lIns="0" rIns="0" tIns="0" bIns="0">
            <a:spAutoFit/>
          </a:bodyPr>
          <a:lstStyle/>
          <a:p>
            <a:pPr algn="l">
              <a:spcAft>
                <a:spcPts val="0"/>
              </a:spcAft>
            </a:pPr>
            <a:r>
              <a:rPr sz="1200" b="1">
                <a:solidFill>
                  <a:srgbClr val="1C62B8"/>
                </a:solidFill>
                <a:latin typeface="Arial"/>
              </a:rPr>
              <a:t>Upstream of the dashboard</a:t>
            </a:r>
          </a:p>
        </p:txBody>
      </p:sp>
      <p:sp>
        <p:nvSpPr>
          <p:cNvPr id="23" name="TextBox 22"/>
          <p:cNvSpPr txBox="1"/>
          <p:nvPr/>
        </p:nvSpPr>
        <p:spPr>
          <a:xfrm>
            <a:off x="731520" y="4745736"/>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The controllers themselves — ESVM login admin / admin</a:t>
            </a:r>
          </a:p>
        </p:txBody>
      </p:sp>
      <p:sp>
        <p:nvSpPr>
          <p:cNvPr id="24" name="TextBox 23"/>
          <p:cNvSpPr txBox="1"/>
          <p:nvPr/>
        </p:nvSpPr>
        <p:spPr>
          <a:xfrm>
            <a:off x="6858000" y="4745736"/>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pega2:3000 · pega3:3000 · pega4:3000 · pega5:3000</a:t>
            </a:r>
          </a:p>
        </p:txBody>
      </p:sp>
      <p:sp>
        <p:nvSpPr>
          <p:cNvPr id="25" name="TextBox 24"/>
          <p:cNvSpPr txBox="1"/>
          <p:nvPr/>
        </p:nvSpPr>
        <p:spPr>
          <a:xfrm>
            <a:off x="731520" y="5020056"/>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OCP Logs / EOS, the other side of the discrepancy</a:t>
            </a:r>
          </a:p>
        </p:txBody>
      </p:sp>
      <p:sp>
        <p:nvSpPr>
          <p:cNvPr id="26" name="TextBox 25"/>
          <p:cNvSpPr txBox="1"/>
          <p:nvPr/>
        </p:nvSpPr>
        <p:spPr>
          <a:xfrm>
            <a:off x="6858000" y="5020056"/>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ocplogs.core.etched.com</a:t>
            </a:r>
          </a:p>
        </p:txBody>
      </p:sp>
      <p:sp>
        <p:nvSpPr>
          <p:cNvPr id="27" name="TextBox 26"/>
          <p:cNvSpPr txBox="1"/>
          <p:nvPr/>
        </p:nvSpPr>
        <p:spPr>
          <a:xfrm>
            <a:off x="731520" y="5294376"/>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WST and FT — Sigurd's STDF and SPLM, asked for weekly in #production-test-eng</a:t>
            </a:r>
          </a:p>
        </p:txBody>
      </p:sp>
      <p:sp>
        <p:nvSpPr>
          <p:cNvPr id="28" name="TextBox 27"/>
          <p:cNvSpPr txBox="1"/>
          <p:nvPr/>
        </p:nvSpPr>
        <p:spPr>
          <a:xfrm>
            <a:off x="6858000" y="5294376"/>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strata6.sv9.i.etched.com:8235 · splm.i.etched.com</a:t>
            </a:r>
          </a:p>
        </p:txBody>
      </p:sp>
      <p:sp>
        <p:nvSpPr>
          <p:cNvPr id="29" name="TextBox 28"/>
          <p:cNvSpPr txBox="1"/>
          <p:nvPr/>
        </p:nvSpPr>
        <p:spPr>
          <a:xfrm>
            <a:off x="731520" y="5568696"/>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This deck, the pipeline that built it, and every archived week</a:t>
            </a:r>
          </a:p>
        </p:txBody>
      </p:sp>
      <p:sp>
        <p:nvSpPr>
          <p:cNvPr id="30" name="TextBox 29"/>
          <p:cNvSpPr txBox="1"/>
          <p:nvPr/>
        </p:nvSpPr>
        <p:spPr>
          <a:xfrm>
            <a:off x="6858000" y="5568696"/>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github.com/etched-ai/factory_data_analysis · weekly/2026-W33/</a:t>
            </a:r>
          </a:p>
        </p:txBody>
      </p:sp>
      <p:sp>
        <p:nvSpPr>
          <p:cNvPr id="31" name="TextBox 30"/>
          <p:cNvSpPr txBox="1"/>
          <p:nvPr/>
        </p:nvSpPr>
        <p:spPr>
          <a:xfrm>
            <a:off x="566928" y="6327648"/>
            <a:ext cx="11057839" cy="365760"/>
          </a:xfrm>
          <a:prstGeom prst="rect">
            <a:avLst/>
          </a:prstGeom>
          <a:noFill/>
        </p:spPr>
        <p:txBody>
          <a:bodyPr wrap="square" lIns="0" rIns="0" tIns="0" bIns="0">
            <a:spAutoFit/>
          </a:bodyPr>
          <a:lstStyle/>
          <a:p>
            <a:pPr algn="l">
              <a:spcAft>
                <a:spcPts val="0"/>
              </a:spcAft>
            </a:pPr>
            <a:r>
              <a:rPr sz="950" b="0">
                <a:solidFill>
                  <a:srgbClr val="6B6B6B"/>
                </a:solidFill>
                <a:latin typeface="Arial"/>
              </a:rPr>
              <a:t>All addresses are on the factory network. The dashboard rebuilds hourly; the archived copy of 2026-W33 under weekly/ does not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