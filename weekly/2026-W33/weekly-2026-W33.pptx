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58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2700" b="1">
                <a:solidFill>
                  <a:srgbClr val="141414"/>
                </a:solidFill>
                <a:latin typeface="Arial"/>
              </a:rPr>
              <a:t>How to read this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three numbers, and why the table on the next pages is broken out by test step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11185855" cy="13970"/>
          </a:xfrm>
          <a:prstGeom prst="rect">
            <a:avLst/>
          </a:prstGeom>
          <a:solidFill>
            <a:srgbClr val="D8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481328"/>
            <a:ext cx="23317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141414"/>
                </a:solidFill>
                <a:latin typeface="Arial"/>
              </a:rPr>
              <a:t>1.  Capacity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How many units a step can put through in a week.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1517904"/>
            <a:ext cx="4206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41414"/>
                </a:solidFill>
                <a:latin typeface="Arial"/>
              </a:rPr>
              <a:t>Counted here as units and runs at each step: 407 step-visits across 573 runs this week. Runs exceed visits because a unit can occupy a station more than once — which is why capacity and retest are the same conversation.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43800" y="1517904"/>
            <a:ext cx="4114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41414"/>
                </a:solidFill>
                <a:latin typeface="Arial"/>
              </a:rPr>
              <a:t>Why it matters.  </a:t>
            </a:r>
            <a:r>
              <a:rPr sz="1200" b="0">
                <a:solidFill>
                  <a:srgbClr val="141414"/>
                </a:solidFill>
                <a:latin typeface="Arial"/>
              </a:rPr>
              <a:t>It sets the schedule. A station cannot ship what it cannot test, and every re-run is a slot a new unit did not get.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26080"/>
            <a:ext cx="23317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141414"/>
                </a:solidFill>
                <a:latin typeface="Arial"/>
              </a:rPr>
              <a:t>2.  Yield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The share of units that pass.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3240" y="2962656"/>
            <a:ext cx="4206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41414"/>
                </a:solidFill>
                <a:latin typeface="Arial"/>
              </a:rPr>
              <a:t>First-pass yield counts units that passed on their first attempt (65.5% at MLT). Yield after retest counts units that passed eventually (74.6%). The gap between them is work done twice.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0" y="2962656"/>
            <a:ext cx="4114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41414"/>
                </a:solidFill>
                <a:latin typeface="Arial"/>
              </a:rPr>
              <a:t>Why it matters.  </a:t>
            </a:r>
            <a:r>
              <a:rPr sz="1200" b="0">
                <a:solidFill>
                  <a:srgbClr val="141414"/>
                </a:solidFill>
                <a:latin typeface="Arial"/>
              </a:rPr>
              <a:t>It sets how many units you must start to ship one. At a rolled 35.6% through MLT and HTT, roughly three modules are started for every one that comes out clean first time.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370832"/>
            <a:ext cx="23317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141414"/>
                </a:solidFill>
                <a:latin typeface="Arial"/>
              </a:rPr>
              <a:t>3.  Retest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The share of units that had to be run again.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63240" y="4407408"/>
            <a:ext cx="4206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41414"/>
                </a:solidFill>
                <a:latin typeface="Arial"/>
              </a:rPr>
              <a:t>19.7% of units at MLT and 27.6% at HTT came back for a second run — 45 and 47 units. Not the same as failures: a unit can be re-run and pass, and most are.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4407408"/>
            <a:ext cx="4114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41414"/>
                </a:solidFill>
                <a:latin typeface="Arial"/>
              </a:rPr>
              <a:t>Why it matters.  </a:t>
            </a:r>
            <a:r>
              <a:rPr sz="1200" b="0">
                <a:solidFill>
                  <a:srgbClr val="141414"/>
                </a:solidFill>
                <a:latin typeface="Arial"/>
              </a:rPr>
              <a:t>It is where yield loss turns into capacity loss. Recovering a unit on the second try protects the shipment and costs the station time it will not get back.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5779008"/>
            <a:ext cx="11057839" cy="12700"/>
          </a:xfrm>
          <a:prstGeom prst="rect">
            <a:avLst/>
          </a:prstGeom>
          <a:solidFill>
            <a:srgbClr val="D8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5943600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41414"/>
                </a:solidFill>
                <a:latin typeface="Arial"/>
              </a:rPr>
              <a:t>Why it is broken out by test step:  </a:t>
            </a:r>
            <a:r>
              <a:rPr sz="1300" b="0">
                <a:solidFill>
                  <a:srgbClr val="141414"/>
                </a:solidFill>
                <a:latin typeface="Arial"/>
              </a:rPr>
              <a:t>a line ships at the rate of its worst step, not its average — so the only useful version of these three numbers is one per step, in the order a unit travels.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58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2700" b="1">
                <a:solidFill>
                  <a:srgbClr val="141414"/>
                </a:solidFill>
                <a:latin typeface="Arial"/>
              </a:rPr>
              <a:t>Production test flow — yield and quantity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2026-W33 · 2026-08-10 to 2026-08-16, week still running · UTC · first-pass yield and units, in the box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11185855" cy="13970"/>
          </a:xfrm>
          <a:prstGeom prst="rect">
            <a:avLst/>
          </a:prstGeom>
          <a:solidFill>
            <a:srgbClr val="D8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188720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@Sigurd   </a:t>
            </a:r>
            <a:r>
              <a:rPr sz="1250" b="1">
                <a:solidFill>
                  <a:srgbClr val="141414"/>
                </a:solidFill>
                <a:latin typeface="Arial"/>
              </a:rPr>
              <a:t>ASIC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212848" y="1133856"/>
            <a:ext cx="0" cy="4672584"/>
          </a:xfrm>
          <a:prstGeom prst="line">
            <a:avLst/>
          </a:prstGeom>
          <a:ln w="11430">
            <a:solidFill>
              <a:srgbClr val="B5B3A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58368" y="1481328"/>
            <a:ext cx="1298448" cy="640080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" y="1545336"/>
            <a:ext cx="113385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ASIC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22576"/>
            <a:ext cx="1298448" cy="640080"/>
          </a:xfrm>
          <a:prstGeom prst="roundRect">
            <a:avLst/>
          </a:prstGeom>
          <a:solidFill>
            <a:srgbClr val="D5E8D4"/>
          </a:solidFill>
          <a:ln w="1270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0664" y="2386584"/>
            <a:ext cx="113385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>
                <a:solidFill>
                  <a:srgbClr val="141414"/>
                </a:solidFill>
                <a:latin typeface="Arial"/>
              </a:rPr>
              <a:t>WST</a:t>
            </a:r>
          </a:p>
          <a:p>
            <a:pPr algn="l">
              <a:spcAft>
                <a:spcPts val="100"/>
              </a:spcAft>
            </a:pPr>
            <a:r>
              <a:rPr sz="1500" b="1">
                <a:solidFill>
                  <a:srgbClr val="B3281E"/>
                </a:solidFill>
                <a:latin typeface="Arial"/>
              </a:rPr>
              <a:t>35.3%</a:t>
            </a:r>
            <a:r>
              <a:rPr sz="800" b="0">
                <a:solidFill>
                  <a:srgbClr val="6B6B6B"/>
                </a:solidFill>
                <a:latin typeface="Arial"/>
              </a:rPr>
              <a:t>  reported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163824"/>
            <a:ext cx="1298448" cy="640080"/>
          </a:xfrm>
          <a:prstGeom prst="roundRect">
            <a:avLst/>
          </a:prstGeom>
          <a:solidFill>
            <a:srgbClr val="D5E8D4"/>
          </a:solidFill>
          <a:ln w="1270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0664" y="3227832"/>
            <a:ext cx="113385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>
                <a:solidFill>
                  <a:srgbClr val="141414"/>
                </a:solidFill>
                <a:latin typeface="Arial"/>
              </a:rPr>
              <a:t>FT</a:t>
            </a:r>
          </a:p>
          <a:p>
            <a:pPr algn="l">
              <a:spcAft>
                <a:spcPts val="100"/>
              </a:spcAft>
            </a:pPr>
            <a:r>
              <a:rPr sz="1500" b="1">
                <a:solidFill>
                  <a:srgbClr val="B56B00"/>
                </a:solidFill>
                <a:latin typeface="Arial"/>
              </a:rPr>
              <a:t>84.3%</a:t>
            </a:r>
            <a:r>
              <a:rPr sz="800" b="0">
                <a:solidFill>
                  <a:srgbClr val="6B6B6B"/>
                </a:solidFill>
                <a:latin typeface="Arial"/>
              </a:rPr>
              <a:t>  reported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4005072"/>
            <a:ext cx="1298448" cy="640080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4069080"/>
            <a:ext cx="113385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>
                <a:solidFill>
                  <a:srgbClr val="141414"/>
                </a:solidFill>
                <a:latin typeface="Arial"/>
              </a:rPr>
              <a:t>SLT</a:t>
            </a:r>
          </a:p>
          <a:p>
            <a:pPr algn="l">
              <a:spcAft>
                <a:spcPts val="10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at Sigurd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40" y="1188720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@Pega   </a:t>
            </a:r>
            <a:r>
              <a:rPr sz="1250" b="1">
                <a:solidFill>
                  <a:srgbClr val="141414"/>
                </a:solidFill>
                <a:latin typeface="Arial"/>
              </a:rPr>
              <a:t>PCBA L6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285232" y="1133856"/>
            <a:ext cx="0" cy="4672584"/>
          </a:xfrm>
          <a:prstGeom prst="line">
            <a:avLst/>
          </a:prstGeom>
          <a:ln w="11430">
            <a:solidFill>
              <a:srgbClr val="B5B3A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1481328"/>
            <a:ext cx="1298448" cy="640080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59736" y="1545336"/>
            <a:ext cx="113385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SMT / ICT</a:t>
            </a:r>
          </a:p>
          <a:p>
            <a:pPr algn="l">
              <a:spcAft>
                <a:spcPts val="10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HPB &amp; VBB &amp; PV1 &amp; PDB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77440" y="4005072"/>
            <a:ext cx="1298448" cy="640080"/>
          </a:xfrm>
          <a:prstGeom prst="roundRect">
            <a:avLst/>
          </a:prstGeom>
          <a:solidFill>
            <a:srgbClr val="E6D0DE"/>
          </a:solidFill>
          <a:ln w="12700">
            <a:solidFill>
              <a:srgbClr val="C29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59736" y="4069080"/>
            <a:ext cx="113385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Flash / BFT</a:t>
            </a:r>
          </a:p>
          <a:p>
            <a:pPr algn="l">
              <a:spcAft>
                <a:spcPts val="10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VBB — not in the yield view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40480" y="1481328"/>
            <a:ext cx="1298448" cy="640080"/>
          </a:xfrm>
          <a:prstGeom prst="roundRect">
            <a:avLst/>
          </a:prstGeom>
          <a:solidFill>
            <a:srgbClr val="D5E8D4"/>
          </a:solidFill>
          <a:ln w="1270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22776" y="1545336"/>
            <a:ext cx="113385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>
                <a:solidFill>
                  <a:srgbClr val="141414"/>
                </a:solidFill>
                <a:latin typeface="Arial"/>
              </a:rPr>
              <a:t>HTT</a:t>
            </a:r>
          </a:p>
          <a:p>
            <a:pPr algn="l">
              <a:spcAft>
                <a:spcPts val="100"/>
              </a:spcAft>
            </a:pPr>
            <a:r>
              <a:rPr sz="1600" b="1">
                <a:solidFill>
                  <a:srgbClr val="B3281E"/>
                </a:solidFill>
                <a:latin typeface="Arial"/>
              </a:rPr>
              <a:t>54.3%</a:t>
            </a:r>
            <a:r>
              <a:rPr sz="900" b="0">
                <a:solidFill>
                  <a:srgbClr val="6B6B6B"/>
                </a:solidFill>
                <a:latin typeface="Arial"/>
              </a:rPr>
              <a:t>  170u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40480" y="2322576"/>
            <a:ext cx="1298448" cy="640080"/>
          </a:xfrm>
          <a:prstGeom prst="roundRect">
            <a:avLst/>
          </a:prstGeom>
          <a:solidFill>
            <a:srgbClr val="D5E8D4"/>
          </a:solidFill>
          <a:ln w="1270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22776" y="2386584"/>
            <a:ext cx="113385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>
                <a:solidFill>
                  <a:srgbClr val="141414"/>
                </a:solidFill>
                <a:latin typeface="Arial"/>
              </a:rPr>
              <a:t>MLT</a:t>
            </a:r>
          </a:p>
          <a:p>
            <a:pPr algn="l">
              <a:spcAft>
                <a:spcPts val="100"/>
              </a:spcAft>
            </a:pPr>
            <a:r>
              <a:rPr sz="1600" b="1">
                <a:solidFill>
                  <a:srgbClr val="B56B00"/>
                </a:solidFill>
                <a:latin typeface="Arial"/>
              </a:rPr>
              <a:t>65.5%</a:t>
            </a:r>
            <a:r>
              <a:rPr sz="900" b="0">
                <a:solidFill>
                  <a:srgbClr val="6B6B6B"/>
                </a:solidFill>
                <a:latin typeface="Arial"/>
              </a:rPr>
              <a:t>  228u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840480" y="3163824"/>
            <a:ext cx="1298448" cy="640080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22776" y="3227832"/>
            <a:ext cx="113385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ASSY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58384" y="1188720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/>
            </a:r>
            <a:r>
              <a:rPr sz="1250" b="1">
                <a:solidFill>
                  <a:srgbClr val="141414"/>
                </a:solidFill>
                <a:latin typeface="Arial"/>
              </a:rPr>
              <a:t>FATP L10 2U/4U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59168" y="1133856"/>
            <a:ext cx="0" cy="4672584"/>
          </a:xfrm>
          <a:prstGeom prst="line">
            <a:avLst/>
          </a:prstGeom>
          <a:ln w="11430">
            <a:solidFill>
              <a:srgbClr val="B5B3A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5358384" y="1481328"/>
            <a:ext cx="1078992" cy="640080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40680" y="1545336"/>
            <a:ext cx="91440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ASSY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92240" y="1517904"/>
            <a:ext cx="384048" cy="228600"/>
          </a:xfrm>
          <a:prstGeom prst="rect">
            <a:avLst/>
          </a:prstGeom>
          <a:solidFill>
            <a:srgbClr val="CFE2F3"/>
          </a:solidFill>
          <a:ln w="7620">
            <a:solidFill>
              <a:srgbClr val="8A88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0" y="1545336"/>
            <a:ext cx="38404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41414"/>
                </a:solidFill>
                <a:latin typeface="Arial"/>
              </a:rPr>
              <a:t>4U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92240" y="1801368"/>
            <a:ext cx="384048" cy="228600"/>
          </a:xfrm>
          <a:prstGeom prst="rect">
            <a:avLst/>
          </a:prstGeom>
          <a:solidFill>
            <a:srgbClr val="FFF2CC"/>
          </a:solidFill>
          <a:ln w="7620">
            <a:solidFill>
              <a:srgbClr val="8A88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2240" y="1828800"/>
            <a:ext cx="38404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41414"/>
                </a:solidFill>
                <a:latin typeface="Arial"/>
              </a:rPr>
              <a:t>2U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42048" y="1188720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/>
            </a:r>
            <a:r>
              <a:rPr sz="1250" b="1">
                <a:solidFill>
                  <a:srgbClr val="141414"/>
                </a:solidFill>
                <a:latin typeface="Arial"/>
              </a:rPr>
              <a:t>FATP L10 6U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0204704" y="1133856"/>
            <a:ext cx="0" cy="4672584"/>
          </a:xfrm>
          <a:prstGeom prst="line">
            <a:avLst/>
          </a:prstGeom>
          <a:ln w="11430">
            <a:solidFill>
              <a:srgbClr val="B5B3A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7242048" y="2322576"/>
            <a:ext cx="1389888" cy="640080"/>
          </a:xfrm>
          <a:prstGeom prst="roundRect">
            <a:avLst/>
          </a:prstGeom>
          <a:solidFill>
            <a:srgbClr val="F2ECD9"/>
          </a:solidFill>
          <a:ln w="12700">
            <a:solidFill>
              <a:srgbClr val="C9B4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24344" y="2386584"/>
            <a:ext cx="122529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>
                <a:solidFill>
                  <a:srgbClr val="141414"/>
                </a:solidFill>
                <a:latin typeface="Arial"/>
              </a:rPr>
              <a:t>FAT / SFT</a:t>
            </a:r>
          </a:p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Arial"/>
              </a:rPr>
              <a:t>FAT 2u · SFT 1u</a:t>
            </a:r>
          </a:p>
          <a:p>
            <a:pPr algn="l">
              <a:spcAft>
                <a:spcPts val="100"/>
              </a:spcAft>
            </a:pPr>
            <a:r>
              <a:rPr sz="800" b="0">
                <a:solidFill>
                  <a:srgbClr val="6B6B6B"/>
                </a:solidFill>
                <a:latin typeface="Arial"/>
              </a:rPr>
              <a:t>quantity only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242048" y="3163824"/>
            <a:ext cx="1389888" cy="640080"/>
          </a:xfrm>
          <a:prstGeom prst="roundRect">
            <a:avLst/>
          </a:prstGeom>
          <a:solidFill>
            <a:srgbClr val="F2ECD9"/>
          </a:solidFill>
          <a:ln w="12700">
            <a:solidFill>
              <a:srgbClr val="C9B4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24344" y="3227832"/>
            <a:ext cx="122529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>
                <a:solidFill>
                  <a:srgbClr val="141414"/>
                </a:solidFill>
                <a:latin typeface="Arial"/>
              </a:rPr>
              <a:t>2U</a:t>
            </a:r>
          </a:p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Arial"/>
              </a:rPr>
              <a:t>3 units</a:t>
            </a:r>
          </a:p>
          <a:p>
            <a:pPr algn="l">
              <a:spcAft>
                <a:spcPts val="100"/>
              </a:spcAft>
            </a:pPr>
            <a:r>
              <a:rPr sz="800" b="0">
                <a:solidFill>
                  <a:srgbClr val="6B6B6B"/>
                </a:solidFill>
                <a:latin typeface="Arial"/>
              </a:rPr>
              <a:t>quantity only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242048" y="4005072"/>
            <a:ext cx="1389888" cy="640080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24344" y="4069080"/>
            <a:ext cx="122529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ASSY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741664" y="2322576"/>
            <a:ext cx="1298448" cy="640080"/>
          </a:xfrm>
          <a:prstGeom prst="roundRect">
            <a:avLst/>
          </a:prstGeom>
          <a:solidFill>
            <a:srgbClr val="F2ECD9"/>
          </a:solidFill>
          <a:ln w="12700">
            <a:solidFill>
              <a:srgbClr val="C9B4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823960" y="2386584"/>
            <a:ext cx="113385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>
                <a:solidFill>
                  <a:srgbClr val="141414"/>
                </a:solidFill>
                <a:latin typeface="Arial"/>
              </a:rPr>
              <a:t>Runin</a:t>
            </a:r>
          </a:p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Arial"/>
              </a:rPr>
              <a:t>1 unit</a:t>
            </a:r>
          </a:p>
          <a:p>
            <a:pPr algn="l">
              <a:spcAft>
                <a:spcPts val="100"/>
              </a:spcAft>
            </a:pPr>
            <a:r>
              <a:rPr sz="800" b="0">
                <a:solidFill>
                  <a:srgbClr val="6B6B6B"/>
                </a:solidFill>
                <a:latin typeface="Arial"/>
              </a:rPr>
              <a:t>quantity only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369296" y="1188720"/>
            <a:ext cx="1655064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/>
            </a:r>
            <a:r>
              <a:rPr sz="1250" b="1">
                <a:solidFill>
                  <a:srgbClr val="141414"/>
                </a:solidFill>
                <a:latin typeface="Arial"/>
              </a:rPr>
              <a:t>Rack L11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369296" y="2322576"/>
            <a:ext cx="1389888" cy="640080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451592" y="2386584"/>
            <a:ext cx="122529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ASSY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369296" y="3163824"/>
            <a:ext cx="1389888" cy="640080"/>
          </a:xfrm>
          <a:prstGeom prst="roundRect">
            <a:avLst/>
          </a:prstGeom>
          <a:solidFill>
            <a:srgbClr val="F2ECD9"/>
          </a:solidFill>
          <a:ln w="12700">
            <a:solidFill>
              <a:srgbClr val="C9B4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451592" y="3227832"/>
            <a:ext cx="122529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>
                <a:solidFill>
                  <a:srgbClr val="141414"/>
                </a:solidFill>
                <a:latin typeface="Arial"/>
              </a:rPr>
              <a:t>FAT / SFT</a:t>
            </a:r>
          </a:p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Arial"/>
              </a:rPr>
              <a:t>2 units</a:t>
            </a:r>
          </a:p>
          <a:p>
            <a:pPr algn="l">
              <a:spcAft>
                <a:spcPts val="100"/>
              </a:spcAft>
            </a:pPr>
            <a:r>
              <a:rPr sz="800" b="0">
                <a:solidFill>
                  <a:srgbClr val="6B6B6B"/>
                </a:solidFill>
                <a:latin typeface="Arial"/>
              </a:rPr>
              <a:t>quantity only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369296" y="4005072"/>
            <a:ext cx="1389888" cy="640080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451592" y="4069080"/>
            <a:ext cx="122529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>
                <a:solidFill>
                  <a:srgbClr val="141414"/>
                </a:solidFill>
                <a:latin typeface="Arial"/>
              </a:rPr>
              <a:t>Runin</a:t>
            </a:r>
          </a:p>
          <a:p>
            <a:pPr algn="l">
              <a:spcAft>
                <a:spcPts val="10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counted with FAT / SFT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369296" y="4846320"/>
            <a:ext cx="1389888" cy="640080"/>
          </a:xfrm>
          <a:prstGeom prst="roundRect">
            <a:avLst/>
          </a:prstGeom>
          <a:solidFill>
            <a:srgbClr val="DAE8FC"/>
          </a:solidFill>
          <a:ln w="12700">
            <a:solidFill>
              <a:srgbClr val="7EA6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451592" y="4910328"/>
            <a:ext cx="122529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Pack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1307592" y="2121408"/>
            <a:ext cx="0" cy="201168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307592" y="2962656"/>
            <a:ext cx="0" cy="201168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307592" y="3803904"/>
            <a:ext cx="0" cy="201168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956815" y="3483864"/>
            <a:ext cx="1069849" cy="0"/>
          </a:xfrm>
          <a:prstGeom prst="line">
            <a:avLst/>
          </a:prstGeom>
          <a:ln w="13970">
            <a:solidFill>
              <a:srgbClr val="8A88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3026664" y="2121408"/>
            <a:ext cx="0" cy="1362456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3026664" y="2121408"/>
            <a:ext cx="0" cy="1883664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3072384" y="3822192"/>
            <a:ext cx="8229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VBB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3675887" y="4325112"/>
            <a:ext cx="813817" cy="0"/>
          </a:xfrm>
          <a:prstGeom prst="line">
            <a:avLst/>
          </a:prstGeom>
          <a:ln w="13970">
            <a:solidFill>
              <a:srgbClr val="8A88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4489704" y="3803904"/>
            <a:ext cx="0" cy="521208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4489704" y="2962656"/>
            <a:ext cx="0" cy="201168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4489704" y="2121408"/>
            <a:ext cx="0" cy="201168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5138928" y="1801368"/>
            <a:ext cx="219456" cy="0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6437376" y="1801368"/>
            <a:ext cx="1499616" cy="0"/>
          </a:xfrm>
          <a:prstGeom prst="line">
            <a:avLst/>
          </a:prstGeom>
          <a:ln w="13970">
            <a:solidFill>
              <a:srgbClr val="8A88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7936992" y="1801368"/>
            <a:ext cx="0" cy="521208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5897880" y="2121408"/>
            <a:ext cx="0" cy="2203704"/>
          </a:xfrm>
          <a:prstGeom prst="line">
            <a:avLst/>
          </a:prstGeom>
          <a:ln w="13970">
            <a:solidFill>
              <a:srgbClr val="8A88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5897880" y="4325112"/>
            <a:ext cx="1344168" cy="0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7936992" y="3803904"/>
            <a:ext cx="0" cy="201168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7936992" y="2962656"/>
            <a:ext cx="0" cy="201168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8631936" y="2642616"/>
            <a:ext cx="109728" cy="0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10040112" y="2642616"/>
            <a:ext cx="329184" cy="0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11064240" y="2962656"/>
            <a:ext cx="0" cy="201168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1064240" y="3803904"/>
            <a:ext cx="0" cy="201168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11064240" y="4645152"/>
            <a:ext cx="0" cy="201168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658368" y="598932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>
                <a:solidFill>
                  <a:srgbClr val="6B6B6B"/>
                </a:solidFill>
                <a:latin typeface="Arial"/>
              </a:rPr>
              <a:t>Green</a:t>
            </a:r>
            <a:r>
              <a:rPr sz="950" b="0">
                <a:solidFill>
                  <a:srgbClr val="6B6B6B"/>
                </a:solidFill>
                <a:latin typeface="Arial"/>
              </a:rPr>
              <a:t> = yields, and we measure it.   </a:t>
            </a:r>
            <a:r>
              <a:rPr sz="950" b="1">
                <a:solidFill>
                  <a:srgbClr val="6B6B6B"/>
                </a:solidFill>
                <a:latin typeface="Arial"/>
              </a:rPr>
              <a:t>Amber</a:t>
            </a:r>
            <a:r>
              <a:rPr sz="950" b="0">
                <a:solidFill>
                  <a:srgbClr val="6B6B6B"/>
                </a:solidFill>
                <a:latin typeface="Arial"/>
              </a:rPr>
              <a:t> = quantity only, no yield reported.   </a:t>
            </a:r>
            <a:r>
              <a:rPr sz="950" b="1">
                <a:solidFill>
                  <a:srgbClr val="6B6B6B"/>
                </a:solidFill>
                <a:latin typeface="Arial"/>
              </a:rPr>
              <a:t>Grey</a:t>
            </a:r>
            <a:r>
              <a:rPr sz="950" b="0">
                <a:solidFill>
                  <a:srgbClr val="6B6B6B"/>
                </a:solidFill>
                <a:latin typeface="Arial"/>
              </a:rPr>
              <a:t> = builds, moves, or measured elsewhere.</a:t>
            </a:r>
          </a:p>
          <a:p>
            <a:pPr algn="l">
              <a:spcAft>
                <a:spcPts val="10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Quantity only: L10 FAT, L10 SFT, L10 RIN, L10 2U, L11 Test. L10 and L11 are chassis and rack level and in bring-up — a percentage over three chassis swings 33 points on one unit, so the counts are published and the yields are not.</a:t>
            </a:r>
          </a:p>
          <a:p>
            <a:pPr algn="l">
              <a:spcAft>
                <a:spcPts val="10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Source: pega2 – pega5 (ESVM), one row per unit. WST and FT reported by Sigurd. VBB provisioning drawn for the flow but left out of the yield view.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58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2700" b="1">
                <a:solidFill>
                  <a:srgbClr val="141414"/>
                </a:solidFill>
                <a:latin typeface="Arial"/>
              </a:rPr>
              <a:t>Every step, with the retest rate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2026-W33 · retest rate is the share of units that had to be run again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11185855" cy="13970"/>
          </a:xfrm>
          <a:prstGeom prst="rect">
            <a:avLst/>
          </a:prstGeom>
          <a:solidFill>
            <a:srgbClr val="D8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6B6B6B"/>
                </a:solidFill>
                <a:latin typeface="Arial"/>
              </a:rPr>
              <a:t>Test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1417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6B6B6B"/>
                </a:solidFill>
                <a:latin typeface="Arial"/>
              </a:rPr>
              <a:t>Units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94760" y="141732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6B6B6B"/>
                </a:solidFill>
                <a:latin typeface="Arial"/>
              </a:rPr>
              <a:t>Runs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92040" y="14173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6B6B6B"/>
                </a:solidFill>
                <a:latin typeface="Arial"/>
              </a:rPr>
              <a:t>First pass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4173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6B6B6B"/>
                </a:solidFill>
                <a:latin typeface="Arial"/>
              </a:rPr>
              <a:t>After retest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0" y="1417320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6B6B6B"/>
                </a:solidFill>
                <a:latin typeface="Arial"/>
              </a:rPr>
              <a:t>Retest 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0" y="141732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6B6B6B"/>
                </a:solidFill>
                <a:latin typeface="Arial"/>
              </a:rPr>
              <a:t>Top failure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7830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41414"/>
                </a:solidFill>
                <a:latin typeface="Arial"/>
              </a:rPr>
              <a:t>WST</a:t>
            </a:r>
            <a:r>
              <a:rPr sz="900" b="0">
                <a:solidFill>
                  <a:srgbClr val="6B6B6B"/>
                </a:solidFill>
                <a:latin typeface="Arial"/>
              </a:rPr>
              <a:t>  reported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17830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B3281E"/>
                </a:solidFill>
                <a:latin typeface="Arial"/>
              </a:rPr>
              <a:t>35.3%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0" y="178308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6B6B"/>
                </a:solidFill>
                <a:latin typeface="Arial"/>
              </a:rPr>
              <a:t>Sigurd, as of 2026-08-14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2402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41414"/>
                </a:solidFill>
                <a:latin typeface="Arial"/>
              </a:rPr>
              <a:t>FT</a:t>
            </a:r>
            <a:r>
              <a:rPr sz="900" b="0">
                <a:solidFill>
                  <a:srgbClr val="6B6B6B"/>
                </a:solidFill>
                <a:latin typeface="Arial"/>
              </a:rPr>
              <a:t>  reported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2040" y="22402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B56B00"/>
                </a:solidFill>
                <a:latin typeface="Arial"/>
              </a:rPr>
              <a:t>84.3%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224028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6B6B"/>
                </a:solidFill>
                <a:latin typeface="Arial"/>
              </a:rPr>
              <a:t>Sigurd, as of 2026-08-14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6974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41414"/>
                </a:solidFill>
                <a:latin typeface="Arial"/>
              </a:rPr>
              <a:t>MLT</a:t>
            </a:r>
            <a:r>
              <a:rPr sz="900" b="0">
                <a:solidFill>
                  <a:srgbClr val="6B6B6B"/>
                </a:solidFill>
                <a:latin typeface="Arial"/>
              </a:rPr>
              <a:t>  pega3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8920" y="26974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228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60" y="26974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279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2040" y="26974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B56B00"/>
                </a:solidFill>
                <a:latin typeface="Arial"/>
              </a:rPr>
              <a:t>65.5%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6974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74.6%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01000" y="2697480"/>
            <a:ext cx="16916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41414"/>
                </a:solidFill>
                <a:latin typeface="Arial"/>
              </a:rPr>
              <a:t>19.7%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45 of 228 units re-run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0" y="2697480"/>
            <a:ext cx="19202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6B6B"/>
                </a:solidFill>
                <a:latin typeface="Courier New"/>
              </a:rPr>
              <a:t>SohuPowerVirusTestCase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31546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41414"/>
                </a:solidFill>
                <a:latin typeface="Arial"/>
              </a:rPr>
              <a:t>HTT</a:t>
            </a:r>
            <a:r>
              <a:rPr sz="900" b="0">
                <a:solidFill>
                  <a:srgbClr val="6B6B6B"/>
                </a:solidFill>
                <a:latin typeface="Arial"/>
              </a:rPr>
              <a:t>  pega3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31546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170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94760" y="31546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234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92040" y="31546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B3281E"/>
                </a:solidFill>
                <a:latin typeface="Arial"/>
              </a:rPr>
              <a:t>54.3%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31546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68.8%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0" y="3154680"/>
            <a:ext cx="16916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3281E"/>
                </a:solidFill>
                <a:latin typeface="Arial"/>
              </a:rPr>
              <a:t>27.6%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47 of 170 units re-run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84080" y="3154680"/>
            <a:ext cx="19202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6B6B"/>
                </a:solidFill>
                <a:latin typeface="Courier New"/>
              </a:rPr>
              <a:t>SohuRdqsSweepTrainingTestCase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36118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B6B6B"/>
                </a:solidFill>
                <a:latin typeface="Arial"/>
              </a:rPr>
              <a:t>L10 FAT</a:t>
            </a:r>
            <a:r>
              <a:rPr sz="900" b="0">
                <a:solidFill>
                  <a:srgbClr val="6B6B6B"/>
                </a:solidFill>
                <a:latin typeface="Arial"/>
              </a:rPr>
              <a:t>  pega4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88920" y="36118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94760" y="36118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15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92040" y="36118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quantity only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6118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01000" y="3611880"/>
            <a:ext cx="16916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41414"/>
                </a:solidFill>
                <a:latin typeface="Arial"/>
              </a:rPr>
              <a:t>—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chassis and rack level, in bring-up — quantity only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84080" y="3611880"/>
            <a:ext cx="19202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6B6B"/>
                </a:solidFill>
                <a:latin typeface="Courier New"/>
              </a:rPr>
              <a:t>SohuHostRebootTestCase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40690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B6B6B"/>
                </a:solidFill>
                <a:latin typeface="Arial"/>
              </a:rPr>
              <a:t>L10 SFT</a:t>
            </a:r>
            <a:r>
              <a:rPr sz="900" b="0">
                <a:solidFill>
                  <a:srgbClr val="6B6B6B"/>
                </a:solidFill>
                <a:latin typeface="Arial"/>
              </a:rPr>
              <a:t>  pega4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88920" y="4069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794760" y="40690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92040" y="40690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quantity only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0690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01000" y="4069080"/>
            <a:ext cx="16916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41414"/>
                </a:solidFill>
                <a:latin typeface="Arial"/>
              </a:rPr>
              <a:t>—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chassis and rack level, in bring-up — quantity only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84080" y="4069080"/>
            <a:ext cx="19202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6B6B"/>
                </a:solidFill>
                <a:latin typeface="Courier New"/>
              </a:rPr>
              <a:t>SohuLlama70bHp8ForwardIteratedTestCase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45262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B6B6B"/>
                </a:solidFill>
                <a:latin typeface="Arial"/>
              </a:rPr>
              <a:t>L10 RIN</a:t>
            </a:r>
            <a:r>
              <a:rPr sz="900" b="0">
                <a:solidFill>
                  <a:srgbClr val="6B6B6B"/>
                </a:solidFill>
                <a:latin typeface="Arial"/>
              </a:rPr>
              <a:t>  pega4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788920" y="45262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794760" y="45262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92040" y="45262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quantity only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0" y="45262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1000" y="4526280"/>
            <a:ext cx="16916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41414"/>
                </a:solidFill>
                <a:latin typeface="Arial"/>
              </a:rPr>
              <a:t>—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chassis and rack level, in bring-up — quantity only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84080" y="4526280"/>
            <a:ext cx="19202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6B6B"/>
                </a:solidFill>
                <a:latin typeface="Courier New"/>
              </a:rPr>
              <a:t>RunInStress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" y="49834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B6B6B"/>
                </a:solidFill>
                <a:latin typeface="Arial"/>
              </a:rPr>
              <a:t>L10 2U</a:t>
            </a:r>
            <a:r>
              <a:rPr sz="900" b="0">
                <a:solidFill>
                  <a:srgbClr val="6B6B6B"/>
                </a:solidFill>
                <a:latin typeface="Arial"/>
              </a:rPr>
              <a:t>  pega4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88920" y="49834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794760" y="49834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19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92040" y="49834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quantity only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0" y="49834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01000" y="4983480"/>
            <a:ext cx="16916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41414"/>
                </a:solidFill>
                <a:latin typeface="Arial"/>
              </a:rPr>
              <a:t>—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chassis and rack level, in bring-up — quantity only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784080" y="4983480"/>
            <a:ext cx="19202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6B6B"/>
                </a:solidFill>
                <a:latin typeface="Courier New"/>
              </a:rPr>
              <a:t>BmcCheck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" y="54406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B6B6B"/>
                </a:solidFill>
                <a:latin typeface="Arial"/>
              </a:rPr>
              <a:t>L11 Test</a:t>
            </a:r>
            <a:r>
              <a:rPr sz="900" b="0">
                <a:solidFill>
                  <a:srgbClr val="6B6B6B"/>
                </a:solidFill>
                <a:latin typeface="Arial"/>
              </a:rPr>
              <a:t>  pega5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788920" y="54406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794760" y="54406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16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92040" y="54406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quantity only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00800" y="54406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001000" y="5440680"/>
            <a:ext cx="16916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41414"/>
                </a:solidFill>
                <a:latin typeface="Arial"/>
              </a:rPr>
              <a:t>—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chassis and rack level, in bring-up — quantity only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784080" y="5440680"/>
            <a:ext cx="19202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6B6B"/>
                </a:solidFill>
                <a:latin typeface="Courier New"/>
              </a:rPr>
              <a:t>CheckSohuServerNoErrorLogTestCase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2920" y="5943600"/>
            <a:ext cx="111858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41414"/>
                </a:solidFill>
                <a:latin typeface="Arial"/>
              </a:rPr>
              <a:t>Rolled first-pass across MLT × HTT: </a:t>
            </a:r>
            <a:r>
              <a:rPr sz="1400" b="1">
                <a:solidFill>
                  <a:srgbClr val="1C62B8"/>
                </a:solidFill>
                <a:latin typeface="Arial"/>
              </a:rPr>
              <a:t>35.6%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6B6B6B"/>
                </a:solidFill>
                <a:latin typeface="Arial"/>
              </a:rPr>
              <a:t>Steps under 20 first-time units report counts only. Full unit-level source data, every serial and release with a link to its run: 32x-production.i.etched.com/week.html#week=2026-W33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58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2700" b="1">
                <a:solidFill>
                  <a:srgbClr val="141414"/>
                </a:solidFill>
                <a:latin typeface="Arial"/>
              </a:rPr>
              <a:t>Appendix — where the data comes from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every figure on this deck traces to one of these; the first one lists the units behind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11185855" cy="13970"/>
          </a:xfrm>
          <a:prstGeom prst="rect">
            <a:avLst/>
          </a:prstGeom>
          <a:solidFill>
            <a:srgbClr val="D8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C62B8"/>
                </a:solidFill>
                <a:latin typeface="Arial"/>
              </a:rPr>
              <a:t>This week, unit by unit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09928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Source data for 2026-W33 — every DUT serial, software release, verdict and a link to its run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709928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32x-production.i.etched.com/week.html#week=2026-W33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84248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Every week since collection began, one row each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984248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32x-production.i.etched.com/weekly.html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386584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C62B8"/>
                </a:solidFill>
                <a:latin typeface="Arial"/>
              </a:rPr>
              <a:t>The rest of the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79192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Daily tracker — the line's own MLT/HTT tabs, rebuilt from pega3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2679192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32x-production.i.etched.com/dailyexcel.html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53512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L10 daily tracker — FAT, SFT, RIN, 2U from pega4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953512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32x-production.i.etched.com/l10.html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227832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Station yield, from the controllers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3227832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32x-production.i.etched.com/direct.html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02152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Station yield, from OCP Logs — and the measured gap between them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3502152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32x-production.i.etched.com/index.html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776472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Run drill-down, any serial or test name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3776472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32x-production.i.etched.com/runs.html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050792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Production test flow, with coverage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4050792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32x-production.i.etched.com/flow.html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453128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C62B8"/>
                </a:solidFill>
                <a:latin typeface="Arial"/>
              </a:rPr>
              <a:t>Upstream of the dashboard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745736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The controllers themselves — ESVM login admin / admin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4745736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pega2:3000 · pega3:3000 · pega4:3000 · pega5:3000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020056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OCP Logs / EOS, the other side of the discrepancy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5020056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ocplogs.core.etched.com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294376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WST and FT — Sigurd's STDF and SPLM, asked for weekly in #production-test-eng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5294376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strata6.sv9.i.etched.com:8235 · splm.i.etched.com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568696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This deck, the pipeline that built it, and every archived week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0" y="5568696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github.com/etched-ai/factory_data_analysis · weekly/2026-W33/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327648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Arial"/>
              </a:rPr>
              <a:t>All addresses are on the factory network. The dashboard rebuilds hourly; the archived copy of 2026-W33 under weekly/ does not change.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