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>
                <a:solidFill>
                  <a:srgbClr val="141414"/>
                </a:solidFill>
                <a:latin typeface="Arial"/>
              </a:rPr>
              <a:t>Production test flow — yield and quantity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2026-W33 · 2026-08-10 to 2026-08-16, week still running · UTC · first-pass yield and units, in the box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185855" cy="1397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18872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@Sigurd   </a:t>
            </a:r>
            <a:r>
              <a:rPr sz="1250" b="1">
                <a:solidFill>
                  <a:srgbClr val="141414"/>
                </a:solidFill>
                <a:latin typeface="Arial"/>
              </a:rPr>
              <a:t>ASIC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212848" y="1133856"/>
            <a:ext cx="0" cy="4672584"/>
          </a:xfrm>
          <a:prstGeom prst="line">
            <a:avLst/>
          </a:prstGeom>
          <a:ln w="11430">
            <a:solidFill>
              <a:srgbClr val="B5B3A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58368" y="1481328"/>
            <a:ext cx="1298448" cy="640080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" y="1545336"/>
            <a:ext cx="113385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ASIC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22576"/>
            <a:ext cx="1298448" cy="640080"/>
          </a:xfrm>
          <a:prstGeom prst="roundRect">
            <a:avLst/>
          </a:prstGeom>
          <a:solidFill>
            <a:srgbClr val="D5E8D4"/>
          </a:solidFill>
          <a:ln w="1270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" y="2386584"/>
            <a:ext cx="113385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WST</a:t>
            </a:r>
          </a:p>
          <a:p>
            <a:pPr algn="l">
              <a:spcAft>
                <a:spcPts val="100"/>
              </a:spcAft>
            </a:pPr>
            <a:r>
              <a:rPr sz="1500" b="1">
                <a:solidFill>
                  <a:srgbClr val="B3281E"/>
                </a:solidFill>
                <a:latin typeface="Arial"/>
              </a:rPr>
              <a:t>35.3%</a:t>
            </a:r>
            <a:r>
              <a:rPr sz="800" b="0">
                <a:solidFill>
                  <a:srgbClr val="6B6B6B"/>
                </a:solidFill>
                <a:latin typeface="Arial"/>
              </a:rPr>
              <a:t>  reported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163824"/>
            <a:ext cx="1298448" cy="640080"/>
          </a:xfrm>
          <a:prstGeom prst="roundRect">
            <a:avLst/>
          </a:prstGeom>
          <a:solidFill>
            <a:srgbClr val="D5E8D4"/>
          </a:solidFill>
          <a:ln w="1270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" y="3227832"/>
            <a:ext cx="113385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FT</a:t>
            </a:r>
          </a:p>
          <a:p>
            <a:pPr algn="l">
              <a:spcAft>
                <a:spcPts val="100"/>
              </a:spcAft>
            </a:pPr>
            <a:r>
              <a:rPr sz="1500" b="1">
                <a:solidFill>
                  <a:srgbClr val="B56B00"/>
                </a:solidFill>
                <a:latin typeface="Arial"/>
              </a:rPr>
              <a:t>84.3%</a:t>
            </a:r>
            <a:r>
              <a:rPr sz="800" b="0">
                <a:solidFill>
                  <a:srgbClr val="6B6B6B"/>
                </a:solidFill>
                <a:latin typeface="Arial"/>
              </a:rPr>
              <a:t>  reported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005072"/>
            <a:ext cx="1298448" cy="640080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4069080"/>
            <a:ext cx="113385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SLT</a:t>
            </a:r>
          </a:p>
          <a:p>
            <a:pPr algn="l">
              <a:spcAft>
                <a:spcPts val="10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at Sigurd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118872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@Pega   </a:t>
            </a:r>
            <a:r>
              <a:rPr sz="1250" b="1">
                <a:solidFill>
                  <a:srgbClr val="141414"/>
                </a:solidFill>
                <a:latin typeface="Arial"/>
              </a:rPr>
              <a:t>PCBA L6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285232" y="1133856"/>
            <a:ext cx="0" cy="4672584"/>
          </a:xfrm>
          <a:prstGeom prst="line">
            <a:avLst/>
          </a:prstGeom>
          <a:ln w="11430">
            <a:solidFill>
              <a:srgbClr val="B5B3A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1481328"/>
            <a:ext cx="1298448" cy="640080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59736" y="1545336"/>
            <a:ext cx="113385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SMT / ICT</a:t>
            </a:r>
          </a:p>
          <a:p>
            <a:pPr algn="l">
              <a:spcAft>
                <a:spcPts val="10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HPB &amp; VBB &amp; PV1 &amp; PDB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77440" y="4005072"/>
            <a:ext cx="1298448" cy="640080"/>
          </a:xfrm>
          <a:prstGeom prst="roundRect">
            <a:avLst/>
          </a:prstGeom>
          <a:solidFill>
            <a:srgbClr val="E6D0DE"/>
          </a:solidFill>
          <a:ln w="12700">
            <a:solidFill>
              <a:srgbClr val="C29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59736" y="4069080"/>
            <a:ext cx="113385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Flash / BFT</a:t>
            </a:r>
          </a:p>
          <a:p>
            <a:pPr algn="l">
              <a:spcAft>
                <a:spcPts val="10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VBB — not in the yield view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40480" y="1481328"/>
            <a:ext cx="1298448" cy="640080"/>
          </a:xfrm>
          <a:prstGeom prst="roundRect">
            <a:avLst/>
          </a:prstGeom>
          <a:solidFill>
            <a:srgbClr val="D5E8D4"/>
          </a:solidFill>
          <a:ln w="1270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22776" y="1545336"/>
            <a:ext cx="113385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HTT</a:t>
            </a:r>
          </a:p>
          <a:p>
            <a:pPr algn="l">
              <a:spcAft>
                <a:spcPts val="100"/>
              </a:spcAft>
            </a:pPr>
            <a:r>
              <a:rPr sz="1600" b="1">
                <a:solidFill>
                  <a:srgbClr val="B3281E"/>
                </a:solidFill>
                <a:latin typeface="Arial"/>
              </a:rPr>
              <a:t>54.3%</a:t>
            </a:r>
            <a:r>
              <a:rPr sz="900" b="0">
                <a:solidFill>
                  <a:srgbClr val="6B6B6B"/>
                </a:solidFill>
                <a:latin typeface="Arial"/>
              </a:rPr>
              <a:t>  170u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0480" y="2322576"/>
            <a:ext cx="1298448" cy="640080"/>
          </a:xfrm>
          <a:prstGeom prst="roundRect">
            <a:avLst/>
          </a:prstGeom>
          <a:solidFill>
            <a:srgbClr val="D5E8D4"/>
          </a:solidFill>
          <a:ln w="1270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22776" y="2386584"/>
            <a:ext cx="113385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MLT</a:t>
            </a:r>
          </a:p>
          <a:p>
            <a:pPr algn="l">
              <a:spcAft>
                <a:spcPts val="100"/>
              </a:spcAft>
            </a:pPr>
            <a:r>
              <a:rPr sz="1600" b="1">
                <a:solidFill>
                  <a:srgbClr val="B56B00"/>
                </a:solidFill>
                <a:latin typeface="Arial"/>
              </a:rPr>
              <a:t>65.5%</a:t>
            </a:r>
            <a:r>
              <a:rPr sz="900" b="0">
                <a:solidFill>
                  <a:srgbClr val="6B6B6B"/>
                </a:solidFill>
                <a:latin typeface="Arial"/>
              </a:rPr>
              <a:t>  228u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40480" y="3163824"/>
            <a:ext cx="1298448" cy="640080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22776" y="3227832"/>
            <a:ext cx="113385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ASSY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58384" y="118872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/>
            </a:r>
            <a:r>
              <a:rPr sz="1250" b="1">
                <a:solidFill>
                  <a:srgbClr val="141414"/>
                </a:solidFill>
                <a:latin typeface="Arial"/>
              </a:rPr>
              <a:t>FATP L10 2U/4U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1133856"/>
            <a:ext cx="0" cy="4672584"/>
          </a:xfrm>
          <a:prstGeom prst="line">
            <a:avLst/>
          </a:prstGeom>
          <a:ln w="11430">
            <a:solidFill>
              <a:srgbClr val="B5B3A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358384" y="1481328"/>
            <a:ext cx="1078992" cy="640080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40680" y="1545336"/>
            <a:ext cx="91440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ASSY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92240" y="1517904"/>
            <a:ext cx="384048" cy="228600"/>
          </a:xfrm>
          <a:prstGeom prst="rect">
            <a:avLst/>
          </a:prstGeom>
          <a:solidFill>
            <a:srgbClr val="CFE2F3"/>
          </a:solidFill>
          <a:ln w="7620">
            <a:solidFill>
              <a:srgbClr val="8A88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1545336"/>
            <a:ext cx="38404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41414"/>
                </a:solidFill>
                <a:latin typeface="Arial"/>
              </a:rPr>
              <a:t>4U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92240" y="1801368"/>
            <a:ext cx="384048" cy="228600"/>
          </a:xfrm>
          <a:prstGeom prst="rect">
            <a:avLst/>
          </a:prstGeom>
          <a:solidFill>
            <a:srgbClr val="FFF2CC"/>
          </a:solidFill>
          <a:ln w="7620">
            <a:solidFill>
              <a:srgbClr val="8A88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0" y="1828800"/>
            <a:ext cx="38404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41414"/>
                </a:solidFill>
                <a:latin typeface="Arial"/>
              </a:rPr>
              <a:t>2U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42048" y="118872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/>
            </a:r>
            <a:r>
              <a:rPr sz="1250" b="1">
                <a:solidFill>
                  <a:srgbClr val="141414"/>
                </a:solidFill>
                <a:latin typeface="Arial"/>
              </a:rPr>
              <a:t>FATP L10 6U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0204704" y="1133856"/>
            <a:ext cx="0" cy="4672584"/>
          </a:xfrm>
          <a:prstGeom prst="line">
            <a:avLst/>
          </a:prstGeom>
          <a:ln w="11430">
            <a:solidFill>
              <a:srgbClr val="B5B3A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242048" y="2322576"/>
            <a:ext cx="1389888" cy="640080"/>
          </a:xfrm>
          <a:prstGeom prst="roundRect">
            <a:avLst/>
          </a:prstGeom>
          <a:solidFill>
            <a:srgbClr val="F2ECD9"/>
          </a:solidFill>
          <a:ln w="12700">
            <a:solidFill>
              <a:srgbClr val="C9B4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24344" y="2386584"/>
            <a:ext cx="122529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FAT / SFT</a:t>
            </a:r>
          </a:p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Arial"/>
              </a:rPr>
              <a:t>FAT 2u · SFT 1u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6B6B6B"/>
                </a:solidFill>
                <a:latin typeface="Arial"/>
              </a:rPr>
              <a:t>quantity only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242048" y="3163824"/>
            <a:ext cx="1389888" cy="640080"/>
          </a:xfrm>
          <a:prstGeom prst="roundRect">
            <a:avLst/>
          </a:prstGeom>
          <a:solidFill>
            <a:srgbClr val="F2ECD9"/>
          </a:solidFill>
          <a:ln w="12700">
            <a:solidFill>
              <a:srgbClr val="C9B4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24344" y="3227832"/>
            <a:ext cx="122529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2U</a:t>
            </a:r>
          </a:p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3 units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6B6B6B"/>
                </a:solidFill>
                <a:latin typeface="Arial"/>
              </a:rPr>
              <a:t>quantity only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242048" y="4005072"/>
            <a:ext cx="1389888" cy="640080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24344" y="4069080"/>
            <a:ext cx="122529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ASSY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741664" y="2322576"/>
            <a:ext cx="1298448" cy="640080"/>
          </a:xfrm>
          <a:prstGeom prst="roundRect">
            <a:avLst/>
          </a:prstGeom>
          <a:solidFill>
            <a:srgbClr val="F2ECD9"/>
          </a:solidFill>
          <a:ln w="12700">
            <a:solidFill>
              <a:srgbClr val="C9B4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823960" y="2386584"/>
            <a:ext cx="113385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Runin</a:t>
            </a:r>
          </a:p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1 unit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6B6B6B"/>
                </a:solidFill>
                <a:latin typeface="Arial"/>
              </a:rPr>
              <a:t>quantity only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69296" y="1188720"/>
            <a:ext cx="165506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/>
            </a:r>
            <a:r>
              <a:rPr sz="1250" b="1">
                <a:solidFill>
                  <a:srgbClr val="141414"/>
                </a:solidFill>
                <a:latin typeface="Arial"/>
              </a:rPr>
              <a:t>Rack L11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369296" y="2322576"/>
            <a:ext cx="1389888" cy="640080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51592" y="2386584"/>
            <a:ext cx="122529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ASSY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369296" y="3163824"/>
            <a:ext cx="1389888" cy="640080"/>
          </a:xfrm>
          <a:prstGeom prst="roundRect">
            <a:avLst/>
          </a:prstGeom>
          <a:solidFill>
            <a:srgbClr val="F2ECD9"/>
          </a:solidFill>
          <a:ln w="12700">
            <a:solidFill>
              <a:srgbClr val="C9B4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451592" y="3227832"/>
            <a:ext cx="122529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FAT / SFT</a:t>
            </a:r>
          </a:p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2 units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6B6B6B"/>
                </a:solidFill>
                <a:latin typeface="Arial"/>
              </a:rPr>
              <a:t>quantity only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369296" y="4005072"/>
            <a:ext cx="1389888" cy="640080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451592" y="4069080"/>
            <a:ext cx="122529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Runin</a:t>
            </a:r>
          </a:p>
          <a:p>
            <a:pPr algn="l">
              <a:spcAft>
                <a:spcPts val="10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counted with FAT / SFT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369296" y="4846320"/>
            <a:ext cx="1389888" cy="640080"/>
          </a:xfrm>
          <a:prstGeom prst="roundRect">
            <a:avLst/>
          </a:prstGeom>
          <a:solidFill>
            <a:srgbClr val="DAE8FC"/>
          </a:solidFill>
          <a:ln w="12700">
            <a:solidFill>
              <a:srgbClr val="7EA6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451592" y="4910328"/>
            <a:ext cx="122529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Pack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1307592" y="2121408"/>
            <a:ext cx="0" cy="20116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307592" y="2962656"/>
            <a:ext cx="0" cy="20116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307592" y="3803904"/>
            <a:ext cx="0" cy="20116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956815" y="3483864"/>
            <a:ext cx="1069849" cy="0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3026664" y="2121408"/>
            <a:ext cx="0" cy="1362456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026664" y="2121408"/>
            <a:ext cx="0" cy="188366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3072384" y="3822192"/>
            <a:ext cx="8229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VBB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3675887" y="4325112"/>
            <a:ext cx="813817" cy="0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4489704" y="3803904"/>
            <a:ext cx="0" cy="52120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4489704" y="2962656"/>
            <a:ext cx="0" cy="20116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4489704" y="2121408"/>
            <a:ext cx="0" cy="20116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5138928" y="1801368"/>
            <a:ext cx="219456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6437376" y="1801368"/>
            <a:ext cx="1499616" cy="0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7936992" y="1801368"/>
            <a:ext cx="0" cy="52120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5897880" y="2121408"/>
            <a:ext cx="0" cy="2203704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5897880" y="4325112"/>
            <a:ext cx="1344168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7936992" y="3803904"/>
            <a:ext cx="0" cy="20116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7936992" y="2962656"/>
            <a:ext cx="0" cy="20116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8631936" y="2642616"/>
            <a:ext cx="109728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0040112" y="2642616"/>
            <a:ext cx="329184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1064240" y="2962656"/>
            <a:ext cx="0" cy="20116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1064240" y="3803904"/>
            <a:ext cx="0" cy="20116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1064240" y="4645152"/>
            <a:ext cx="0" cy="20116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658368" y="598932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>
                <a:solidFill>
                  <a:srgbClr val="6B6B6B"/>
                </a:solidFill>
                <a:latin typeface="Arial"/>
              </a:rPr>
              <a:t>Green</a:t>
            </a:r>
            <a:r>
              <a:rPr sz="950" b="0">
                <a:solidFill>
                  <a:srgbClr val="6B6B6B"/>
                </a:solidFill>
                <a:latin typeface="Arial"/>
              </a:rPr>
              <a:t> = yields, and we measure it.   </a:t>
            </a:r>
            <a:r>
              <a:rPr sz="950" b="1">
                <a:solidFill>
                  <a:srgbClr val="6B6B6B"/>
                </a:solidFill>
                <a:latin typeface="Arial"/>
              </a:rPr>
              <a:t>Amber</a:t>
            </a:r>
            <a:r>
              <a:rPr sz="950" b="0">
                <a:solidFill>
                  <a:srgbClr val="6B6B6B"/>
                </a:solidFill>
                <a:latin typeface="Arial"/>
              </a:rPr>
              <a:t> = quantity only, no yield reported.   </a:t>
            </a:r>
            <a:r>
              <a:rPr sz="950" b="1">
                <a:solidFill>
                  <a:srgbClr val="6B6B6B"/>
                </a:solidFill>
                <a:latin typeface="Arial"/>
              </a:rPr>
              <a:t>Grey</a:t>
            </a:r>
            <a:r>
              <a:rPr sz="950" b="0">
                <a:solidFill>
                  <a:srgbClr val="6B6B6B"/>
                </a:solidFill>
                <a:latin typeface="Arial"/>
              </a:rPr>
              <a:t> = builds, moves, or measured elsewhere.</a:t>
            </a:r>
          </a:p>
          <a:p>
            <a:pPr algn="l">
              <a:spcAft>
                <a:spcPts val="10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Quantity only: L10 FAT, L10 SFT, L10 RIN, L10 2U, L11 Test. L10 and L11 are chassis and rack level and in bring-up — a percentage over three chassis swings 33 points on one unit, so the counts are published and the yields are not.</a:t>
            </a:r>
          </a:p>
          <a:p>
            <a:pPr algn="l">
              <a:spcAft>
                <a:spcPts val="10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Source: pega2 – pega5 (ESVM), one row per unit. WST and FT reported by Sigurd. VBB provisioning drawn for the flow but left out of the yield view.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>
                <a:solidFill>
                  <a:srgbClr val="141414"/>
                </a:solidFill>
                <a:latin typeface="Arial"/>
              </a:rPr>
              <a:t>Every step, with the retest rate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2026-W33 · retest rate is the share of units that had to be run again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185855" cy="1397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Test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1417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Units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94760" y="141732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Runs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92040" y="14173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First pass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173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After retest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141732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Retest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0" y="141732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Top failure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7830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WST</a:t>
            </a:r>
            <a:r>
              <a:rPr sz="900" b="0">
                <a:solidFill>
                  <a:srgbClr val="6B6B6B"/>
                </a:solidFill>
                <a:latin typeface="Arial"/>
              </a:rPr>
              <a:t>  reported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B3281E"/>
                </a:solidFill>
                <a:latin typeface="Arial"/>
              </a:rPr>
              <a:t>35.3%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178308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Sigurd, as of 2026-08-14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2402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FT</a:t>
            </a:r>
            <a:r>
              <a:rPr sz="900" b="0">
                <a:solidFill>
                  <a:srgbClr val="6B6B6B"/>
                </a:solidFill>
                <a:latin typeface="Arial"/>
              </a:rPr>
              <a:t>  reported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22402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B56B00"/>
                </a:solidFill>
                <a:latin typeface="Arial"/>
              </a:rPr>
              <a:t>84.3%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224028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Sigurd, as of 2026-08-14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6974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MLT</a:t>
            </a:r>
            <a:r>
              <a:rPr sz="900" b="0">
                <a:solidFill>
                  <a:srgbClr val="6B6B6B"/>
                </a:solidFill>
                <a:latin typeface="Arial"/>
              </a:rPr>
              <a:t>  pega3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2697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228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26974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279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26974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B56B00"/>
                </a:solidFill>
                <a:latin typeface="Arial"/>
              </a:rPr>
              <a:t>65.5%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6974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74.6%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26974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19.7%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45 of 228 units re-run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26974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SohuPowerVirusTestCase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1546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HTT</a:t>
            </a:r>
            <a:r>
              <a:rPr sz="900" b="0">
                <a:solidFill>
                  <a:srgbClr val="6B6B6B"/>
                </a:solidFill>
                <a:latin typeface="Arial"/>
              </a:rPr>
              <a:t>  pega3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31546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170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31546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234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92040" y="31546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B3281E"/>
                </a:solidFill>
                <a:latin typeface="Arial"/>
              </a:rPr>
              <a:t>54.3%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1546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68.8%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31546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3281E"/>
                </a:solidFill>
                <a:latin typeface="Arial"/>
              </a:rPr>
              <a:t>27.6%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47 of 170 units re-run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31546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SohuRdqsSweepTrainingTestCase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36118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B6B6B"/>
                </a:solidFill>
                <a:latin typeface="Arial"/>
              </a:rPr>
              <a:t>L10 FAT</a:t>
            </a:r>
            <a:r>
              <a:rPr sz="900" b="0">
                <a:solidFill>
                  <a:srgbClr val="6B6B6B"/>
                </a:solidFill>
                <a:latin typeface="Arial"/>
              </a:rPr>
              <a:t>  pega4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88920" y="36118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94760" y="36118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36118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quantity only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6118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0" y="36118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—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chassis and rack level, in bring-up — quantity only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4080" y="36118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SohuHostRebootTestCase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0690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B6B6B"/>
                </a:solidFill>
                <a:latin typeface="Arial"/>
              </a:rPr>
              <a:t>L10 SFT</a:t>
            </a:r>
            <a:r>
              <a:rPr sz="900" b="0">
                <a:solidFill>
                  <a:srgbClr val="6B6B6B"/>
                </a:solidFill>
                <a:latin typeface="Arial"/>
              </a:rPr>
              <a:t>  pega4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88920" y="4069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94760" y="40690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92040" y="4069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quantity only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0690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01000" y="40690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—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chassis and rack level, in bring-up — quantity only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84080" y="40690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SohuLlama70bHp8ForwardIteratedTestCase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45262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B6B6B"/>
                </a:solidFill>
                <a:latin typeface="Arial"/>
              </a:rPr>
              <a:t>L10 RIN</a:t>
            </a:r>
            <a:r>
              <a:rPr sz="900" b="0">
                <a:solidFill>
                  <a:srgbClr val="6B6B6B"/>
                </a:solidFill>
                <a:latin typeface="Arial"/>
              </a:rPr>
              <a:t>  pega4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88920" y="45262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94760" y="45262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2040" y="45262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quantity only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0" y="45262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1000" y="45262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—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chassis and rack level, in bring-up — quantity only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84080" y="45262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RunInStress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49834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B6B6B"/>
                </a:solidFill>
                <a:latin typeface="Arial"/>
              </a:rPr>
              <a:t>L10 2U</a:t>
            </a:r>
            <a:r>
              <a:rPr sz="900" b="0">
                <a:solidFill>
                  <a:srgbClr val="6B6B6B"/>
                </a:solidFill>
                <a:latin typeface="Arial"/>
              </a:rPr>
              <a:t>  pega4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4983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94760" y="49834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19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92040" y="49834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quantity only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0" y="49834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01000" y="49834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—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chassis and rack level, in bring-up — quantity only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784080" y="49834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BmcCheck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54406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B6B6B"/>
                </a:solidFill>
                <a:latin typeface="Arial"/>
              </a:rPr>
              <a:t>L11 Test</a:t>
            </a:r>
            <a:r>
              <a:rPr sz="900" b="0">
                <a:solidFill>
                  <a:srgbClr val="6B6B6B"/>
                </a:solidFill>
                <a:latin typeface="Arial"/>
              </a:rPr>
              <a:t>  pega5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788920" y="54406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794760" y="54406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16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92040" y="54406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quantity only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00800" y="54406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001000" y="54406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—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chassis and rack level, in bring-up — quantity only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784080" y="54406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CheckSohuServerNoErrorLogTestCase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2920" y="594360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414"/>
                </a:solidFill>
                <a:latin typeface="Arial"/>
              </a:rPr>
              <a:t>Rolled first-pass across MLT × HTT: </a:t>
            </a:r>
            <a:r>
              <a:rPr sz="1400" b="1">
                <a:solidFill>
                  <a:srgbClr val="1C62B8"/>
                </a:solidFill>
                <a:latin typeface="Arial"/>
              </a:rPr>
              <a:t>35.6%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6B6B6B"/>
                </a:solidFill>
                <a:latin typeface="Arial"/>
              </a:rPr>
              <a:t>Steps under 20 first-time units report counts only. Full unit-level source data, every serial and release with a link to its run: 32x-production.i.etched.com/week.html#week=2026-W33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