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Basic Level of Production Metrics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2026-W33 · the three numbers this deck reports, and what each one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1. 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5727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many units we are producing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5910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407 units through 7 steps this week, across 573 runs.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sets the schedule: a station cannot ship what it cannot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443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2.  Yield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9443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many percentage we can ship vs total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9626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First pass 65.5% at MLT and 54.3% at HTT — 35.6% rolled across the two.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sets how many units must be started to ship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159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3.  Retest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315968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1414"/>
                </a:solidFill>
                <a:latin typeface="Arial"/>
              </a:rPr>
              <a:t>How stable is the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334256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19.7% of MLT units and 27.6% of HTT units had to be run again — 45 and 47 units.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It is where yield loss turns into lost capacity.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806440"/>
            <a:ext cx="10820095" cy="1270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Why it is broken out by test step:  </a:t>
            </a:r>
            <a:r>
              <a:rPr sz="1250" b="0">
                <a:solidFill>
                  <a:srgbClr val="141414"/>
                </a:solidFill>
                <a:latin typeface="Arial"/>
              </a:rPr>
              <a:t>a line ships at the rate of its worst step, not its average — so the only useful version of these three numbers is one per step, in the order a unit travels.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Production test flow — yield and quantity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2026-W33 · 2026-08-10 to 2026-08-16, week still running · UTC · first-pass yield and units, under each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duction-tes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9580924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459" y="3661774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3281E"/>
                </a:solidFill>
                <a:latin typeface="Arial"/>
              </a:rPr>
              <a:t>35.3%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459" y="4393890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56B00"/>
                </a:solidFill>
                <a:latin typeface="Arial"/>
              </a:rPr>
              <a:t>84.3%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165" y="5120242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at Sigurd — not collected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9337" y="4111420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56B00"/>
                </a:solidFill>
                <a:latin typeface="Arial"/>
              </a:rPr>
              <a:t>65.5%</a:t>
            </a:r>
            <a:r>
              <a:rPr sz="850" b="0">
                <a:solidFill>
                  <a:srgbClr val="6B6B6B"/>
                </a:solidFill>
                <a:latin typeface="Arial"/>
              </a:rPr>
              <a:t>  228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9337" y="3385069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3281E"/>
                </a:solidFill>
                <a:latin typeface="Arial"/>
              </a:rPr>
              <a:t>54.3%</a:t>
            </a:r>
            <a:r>
              <a:rPr sz="850" b="0">
                <a:solidFill>
                  <a:srgbClr val="6B6B6B"/>
                </a:solidFill>
                <a:latin typeface="Arial"/>
              </a:rPr>
              <a:t>  170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868" y="5391183"/>
            <a:ext cx="973836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VBB — outside the yield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5566" y="3667539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FAT 2u · SFT 1u</a:t>
            </a:r>
            <a:r>
              <a:rPr sz="800" b="0">
                <a:solidFill>
                  <a:srgbClr val="6B6B6B"/>
                </a:solidFill>
                <a:latin typeface="Arial"/>
              </a:rPr>
              <a:t>  quantity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5566" y="4468831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3 units</a:t>
            </a:r>
            <a:r>
              <a:rPr sz="800" b="0">
                <a:solidFill>
                  <a:srgbClr val="6B6B6B"/>
                </a:solidFill>
                <a:latin typeface="Arial"/>
              </a:rPr>
              <a:t>  quantity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6270" y="3667539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1 unit</a:t>
            </a:r>
            <a:r>
              <a:rPr sz="800" b="0">
                <a:solidFill>
                  <a:srgbClr val="6B6B6B"/>
                </a:solidFill>
                <a:latin typeface="Arial"/>
              </a:rPr>
              <a:t>  quantity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3092" y="4520714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Arial"/>
              </a:rPr>
              <a:t>2 units</a:t>
            </a:r>
            <a:r>
              <a:rPr sz="800" b="0">
                <a:solidFill>
                  <a:srgbClr val="6B6B6B"/>
                </a:solidFill>
                <a:latin typeface="Arial"/>
              </a:rPr>
              <a:t>  quantity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3092" y="5379653"/>
            <a:ext cx="1141012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C8C6C0"/>
            </a:solidFill>
          </a:ln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counted with FAT / SFT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548" y="1298448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Rolled first-pass</a:t>
            </a:r>
          </a:p>
          <a:p>
            <a:pPr algn="l">
              <a:spcAft>
                <a:spcPts val="100"/>
              </a:spcAft>
            </a:pPr>
            <a:r>
              <a:rPr sz="2600" b="1">
                <a:solidFill>
                  <a:srgbClr val="1C62B8"/>
                </a:solidFill>
                <a:latin typeface="Arial"/>
              </a:rPr>
              <a:t>35.6%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MLT × HTT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548" y="2487168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Through the line</a:t>
            </a:r>
          </a:p>
          <a:p>
            <a:pPr algn="l">
              <a:spcAft>
                <a:spcPts val="10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407 units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573 runs across 7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548" y="3520440"/>
            <a:ext cx="20116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6B6B6B"/>
                </a:solidFill>
                <a:latin typeface="Arial"/>
              </a:rPr>
              <a:t>Reading the numbers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A percentage is a first-pass yield: units that passed at their first attempt that week.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A count means no yield is reported. L10 FAT, L10 SFT, L10 RIN, L10 2U, L11 Test are chassis and rack level and in bring-up — a percentage over three units swings 33 points on one of them.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141414"/>
                </a:solidFill>
                <a:latin typeface="Arial"/>
              </a:rPr>
              <a:t>WST and FT are reported by Sigurd. VBB is drawn for the flow and left out of the yield view.</a:t>
            </a:r>
          </a:p>
          <a:p>
            <a:pPr algn="l">
              <a:spcAft>
                <a:spcPts val="5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Source: pega2 – pega5 (ESVM), one row per unit.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Every step, with the retest rate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2026-W33 · retest rate is the share of units that had to be run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Test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417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4173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417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First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After retest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17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Retest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417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Arial"/>
              </a:rPr>
              <a:t>Top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WST</a:t>
            </a:r>
            <a:r>
              <a:rPr sz="9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35.3%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7830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Sigurd, as of 2026-08-14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FT</a:t>
            </a:r>
            <a:r>
              <a:rPr sz="9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56B00"/>
                </a:solidFill>
                <a:latin typeface="Arial"/>
              </a:rPr>
              <a:t>84.3%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Sigurd, as of 2026-08-14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MLT</a:t>
            </a:r>
            <a:r>
              <a:rPr sz="900" b="0">
                <a:solidFill>
                  <a:srgbClr val="6B6B6B"/>
                </a:solidFill>
                <a:latin typeface="Arial"/>
              </a:rPr>
              <a:t>  pega3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697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56B00"/>
                </a:solidFill>
                <a:latin typeface="Arial"/>
              </a:rPr>
              <a:t>65.5%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74.6%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6974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19.7%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45 of 228 units re-run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6974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SohuPowerVirusTestCase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HTT</a:t>
            </a:r>
            <a:r>
              <a:rPr sz="900" b="0">
                <a:solidFill>
                  <a:srgbClr val="6B6B6B"/>
                </a:solidFill>
                <a:latin typeface="Arial"/>
              </a:rPr>
              <a:t>  pega3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154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170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1546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234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154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54.3%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68.8%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1546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3281E"/>
                </a:solidFill>
                <a:latin typeface="Arial"/>
              </a:rPr>
              <a:t>27.6%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47 of 170 units re-run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31546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SohuRdqsSweepTrainingTestCase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611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FAT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611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36118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611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6118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6118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SohuHostRebootTestCase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069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SFT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4069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0690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069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0690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0690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SohuLlama70bHp8ForwardIteratedTestCase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526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RIN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8920" y="4526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5262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4526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5262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45262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5262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RunInStress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983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L10 2U</a:t>
            </a:r>
            <a:r>
              <a:rPr sz="900" b="0">
                <a:solidFill>
                  <a:srgbClr val="6B6B6B"/>
                </a:solidFill>
                <a:latin typeface="Arial"/>
              </a:rPr>
              <a:t>  pega4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88920" y="4983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49834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4983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983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49834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9834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BmcCheck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4406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Arial"/>
              </a:rPr>
              <a:t>L11 Test</a:t>
            </a:r>
            <a:r>
              <a:rPr sz="900" b="0">
                <a:solidFill>
                  <a:srgbClr val="6B6B6B"/>
                </a:solidFill>
                <a:latin typeface="Arial"/>
              </a:rPr>
              <a:t>  pega5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5440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60" y="54406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92040" y="5440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440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5440680"/>
            <a:ext cx="1691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—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chassis and rack level, in bring-up — quantity 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440680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6B6B6B"/>
                </a:solidFill>
                <a:latin typeface="Courier New"/>
              </a:rPr>
              <a:t>CheckSohuServerNoErrorLogTestCase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594360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Rolled first-pass across MLT × HTT: </a:t>
            </a:r>
            <a:r>
              <a:rPr sz="1400" b="1">
                <a:solidFill>
                  <a:srgbClr val="1C62B8"/>
                </a:solidFill>
                <a:latin typeface="Arial"/>
              </a:rPr>
              <a:t>35.6%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Steps under 20 first-time units report counts only. Full unit-level source data, every serial and release with a link to its run: 32x-production.i.etched.com/week.html#week=2026-W33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What's next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two actions, each against a target and where 2026-W33 finished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517904"/>
            <a:ext cx="347472" cy="347472"/>
          </a:xfrm>
          <a:prstGeom prst="ellipse">
            <a:avLst/>
          </a:prstGeom>
          <a:solidFill>
            <a:srgbClr val="1C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517904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414"/>
                </a:solidFill>
                <a:latin typeface="Arial"/>
              </a:rPr>
              <a:t>Improve the yield / stability of L6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494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Yield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24942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24942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65.5% at MLT, 54.3% at HTT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59689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9689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&lt; 10% retest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968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19.7% at MLT, 27.6% at HTT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5544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L6 is the only level with the volume to be measured against a target at all, and it is where the line loses most of its units.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639312"/>
            <a:ext cx="347472" cy="347472"/>
          </a:xfrm>
          <a:prstGeom prst="ellipse">
            <a:avLst/>
          </a:prstGeom>
          <a:solidFill>
            <a:srgbClr val="1C6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94176"/>
            <a:ext cx="347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639312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414"/>
                </a:solidFill>
                <a:latin typeface="Arial"/>
              </a:rPr>
              <a:t>Speed up development of multiple L10 test units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Gate: </a:t>
            </a:r>
            <a:r>
              <a:rPr sz="1100" b="1">
                <a:solidFill>
                  <a:srgbClr val="B3281E"/>
                </a:solidFill>
                <a:latin typeface="Arial"/>
              </a:rPr>
              <a:t>only 1–2 units onsite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37083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37083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3 to 10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3708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assembled for test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71830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71830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7F3B"/>
                </a:solidFill>
                <a:latin typeface="Arial"/>
              </a:rPr>
              <a:t>full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7183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today 7 units across four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675888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Not to improve the L10 yield — to make one exist. On single digits there is nothing to read, which is why every L10 box on this deck says quantity only.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870448"/>
            <a:ext cx="10874959" cy="1270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016752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Arial"/>
              </a:rPr>
              <a:t>The ordering is the point.  </a:t>
            </a:r>
            <a:r>
              <a:rPr sz="1200" b="0">
                <a:solidFill>
                  <a:srgbClr val="141414"/>
                </a:solidFill>
                <a:latin typeface="Arial"/>
              </a:rPr>
              <a:t>Coverage, then stability, then efficiency — a station clears one gate before the next is worth measuring. L6 is at the first gate with the volume to prove it; L10 is not yet at a gate at 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Appendix — where the data comes from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every figure on this deck traces to one of these; the first one lists the units behind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This week, unit by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Source data for 2026-W33 — every DUT serial, software release, verdict and a link to its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0992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32x-production.i.etched.com/week.html#week=2026-W33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84248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Every week since collection began, one row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8424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32x-production.i.etched.com/weekly.html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8658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The rest of the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Daily tracker — the line's own MLT/HTT tabs, rebuilt from pega3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7919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32x-production.i.etched.com/dailyexcel.html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L10 daily tracker — FAT, SFT, RIN, 2U from pega4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5351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32x-production.i.etched.com/l10.html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2783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Station yield, from the controllers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2783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32x-production.i.etched.com/direct.html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Station yield, from OCP Logs — and the measured gap between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0215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32x-production.i.etched.com/index.html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Run drill-down, any serial or test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7647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32x-production.i.etched.com/runs.html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5079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Production test flow, with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5079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32x-production.i.etched.com/flow.html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5312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C62B8"/>
                </a:solidFill>
                <a:latin typeface="Arial"/>
              </a:rPr>
              <a:t>Upstream of the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4573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The controllers themselves — ESVM login admin /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74573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pega2:3000 · pega3:3000 · pega4:3000 · pega5:3000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005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OCP Logs / EOS, the other side of the discrepancy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02005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ocplogs.core.etched.com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9437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WST and FT — Sigurd's STDF and SPLM, asked for weekly in #production-test-eng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29437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strata6.sv9.i.etched.com:8235 · splm.i.etched.com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68696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Arial"/>
              </a:rPr>
              <a:t>This deck, the pipeline that built it, and every archived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56869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ourier New"/>
              </a:rPr>
              <a:t>github.com/etched-ai/factory_data_analysis · weekly/2026-W33/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2764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Arial"/>
              </a:rPr>
              <a:t>All addresses are on the factory network. The dashboard rebuilds hourly; the archived copy of 2026-W33 under weekly/ does not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